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axion-mark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PRAXION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9D3C5"/>
                </a:solidFill>
                <a:latin typeface="JetBrains Mono"/>
              </a:rPr>
              <a:t>BRAND IDENTITY · VERSION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Inter"/>
              </a:rPr>
              <a:t>The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0" b="1" i="0">
                <a:solidFill>
                  <a:srgbClr val="19D3C5"/>
                </a:solidFill>
                <a:latin typeface="Inter"/>
              </a:rPr>
              <a:t>for modern HR.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FD7EA"/>
                </a:solidFill>
                <a:latin typeface="DM Sans"/>
              </a:rPr>
              <a:t>How Praxion looks, sounds, and shows up in the world.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Egybell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852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6080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Mohamed Sabry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852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UPDATED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080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10 April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5852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GO-LIVE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6080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14 March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What's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9D3C5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Brand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Why Praxion exists and what it stands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9D3C5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Logo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Primary, inverse, monochrome, and mark 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9D3C5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776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Clear Space &amp; Misuse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348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How to protect the 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9D3C5"/>
                </a:solidFill>
                <a:latin typeface="In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Color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864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Primary and support palette with usage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9D3C5"/>
                </a:solidFill>
                <a:latin typeface="Inter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745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Typography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3317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Inter, DM Sans, JetBrains Mono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803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9D3C5"/>
                </a:solidFill>
                <a:latin typeface="Inter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260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Voice &amp; 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3832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How Praxion writes and speaks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9D3C5"/>
                </a:solidFill>
                <a:latin typeface="Inter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9776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4348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Brand in the wild — cards, screens, 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9834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9D3C5"/>
                </a:solidFill>
                <a:latin typeface="Inter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0292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Asset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4864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What to download and where to find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01 — BRAND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Execution. Intelligence.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E2A5E"/>
                </a:solidFill>
                <a:latin typeface="DM Sans"/>
              </a:rPr>
              <a:t>Praxion is built on a single idea: HR should stop drowning in spreadsheets and start executing. The name derives from praxis — the act of doing, not just planning.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46120"/>
            <a:ext cx="3749039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91440" cy="29260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437"/>
                </a:solidFill>
                <a:latin typeface="Inter"/>
              </a:rPr>
              <a:t>Execution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251960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301751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5E"/>
                </a:solidFill>
                <a:latin typeface="DM Sans"/>
              </a:rPr>
              <a:t>Every screen, document, and workflow is designed to move work forward. We favor verbs over nouns.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3246120"/>
            <a:ext cx="3749039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3246120"/>
            <a:ext cx="91440" cy="29260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5661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437"/>
                </a:solidFill>
                <a:latin typeface="Inter"/>
              </a:rPr>
              <a:t>Intelligence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4251960"/>
            <a:ext cx="164592" cy="164592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480560"/>
            <a:ext cx="301751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5E"/>
                </a:solidFill>
                <a:latin typeface="DM Sans"/>
              </a:rPr>
              <a:t>Data is not decoration. Praxion surfaces the signal that lets humans make better decisions, faster.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246120"/>
            <a:ext cx="3749039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246120"/>
            <a:ext cx="91440" cy="29260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5661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437"/>
                </a:solidFill>
                <a:latin typeface="Inter"/>
              </a:rPr>
              <a:t>Flow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4251960"/>
            <a:ext cx="164592" cy="164592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480560"/>
            <a:ext cx="301751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5E"/>
                </a:solidFill>
                <a:latin typeface="DM Sans"/>
              </a:rPr>
              <a:t>Work moves between people and systems without friction. The brand feels calm, structured, purposeful.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02 — LOGO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The 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  <a:latin typeface="DM Sans"/>
              </a:rPr>
              <a:t>A hexagonal network of six nodes orchestrated by a central hub — representing the six user communities Praxion serves, united by a single operating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7498079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xion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200400"/>
            <a:ext cx="6583680" cy="15564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806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PRIMARY 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A5E"/>
                </a:solidFill>
                <a:latin typeface="JetBrains Mono"/>
              </a:rPr>
              <a:t>praxion-logo-primary.svg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651760"/>
            <a:ext cx="338328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axion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3017520"/>
            <a:ext cx="210312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0" y="5806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MARK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989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A5E"/>
                </a:solidFill>
                <a:latin typeface="JetBrains Mono"/>
              </a:rPr>
              <a:t>praxion-mark.svg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02 — LOGO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5778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xion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286000"/>
            <a:ext cx="4114800" cy="9728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566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F6BFF"/>
                </a:solidFill>
                <a:latin typeface="JetBrains Mono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5661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DM Sans"/>
              </a:rPr>
              <a:t>On light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577840" cy="2194560"/>
          </a:xfrm>
          <a:prstGeom prst="rect">
            <a:avLst/>
          </a:prstGeom>
          <a:solidFill>
            <a:srgbClr val="0B1437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axion-logo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86000"/>
            <a:ext cx="4114800" cy="9728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0" y="3566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9D3C5"/>
                </a:solidFill>
                <a:latin typeface="JetBrains Mono"/>
              </a:rPr>
              <a:t>INVERSE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661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D7EA"/>
                </a:solidFill>
                <a:latin typeface="DM Sans"/>
              </a:rPr>
              <a:t>On navy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55778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axion-logo-m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663440"/>
            <a:ext cx="4114800" cy="9728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" y="5943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F6BFF"/>
                </a:solidFill>
                <a:latin typeface="JetBrains Mono"/>
              </a:rPr>
              <a:t>MONOCHROME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943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DM Sans"/>
              </a:rPr>
              <a:t>One-color print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5577840" cy="2194560"/>
          </a:xfrm>
          <a:prstGeom prst="rect">
            <a:avLst/>
          </a:prstGeom>
          <a:solidFill>
            <a:srgbClr val="E8ECF3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raxion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4526280"/>
            <a:ext cx="1554480" cy="1554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0" y="5943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F6BFF"/>
                </a:solidFill>
                <a:latin typeface="JetBrains Mono"/>
              </a:rPr>
              <a:t>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943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DM Sans"/>
              </a:rPr>
              <a:t>Compact lockup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03 — LOGO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Clear space &amp; misuse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5778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560320"/>
            <a:ext cx="4480560" cy="1645920"/>
          </a:xfrm>
          <a:prstGeom prst="rect">
            <a:avLst/>
          </a:prstGeom>
          <a:noFill/>
          <a:ln w="12700">
            <a:solidFill>
              <a:srgbClr val="2F6B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xion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880360"/>
            <a:ext cx="3749039" cy="8863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CLEAR SPACE =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A5E"/>
                </a:solidFill>
                <a:latin typeface="DM Sans"/>
              </a:rPr>
              <a:t>Leave a margin equal to the width of the letter 'X' in the wordmark on all sides. Never display the primary logo smaller than 120px wide on screen.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256032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96596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385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pic>
        <p:nvPicPr>
          <p:cNvPr id="14" name="Picture 13" descr="praxion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14600"/>
            <a:ext cx="1920240" cy="4539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0" y="3291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Inter"/>
              </a:rPr>
              <a:t>Don't recolor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20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DM Sans"/>
              </a:rPr>
              <a:t>Approved palette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828800"/>
            <a:ext cx="256032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196596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9385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pic>
        <p:nvPicPr>
          <p:cNvPr id="20" name="Picture 19" descr="praxion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514600"/>
            <a:ext cx="1920240" cy="4539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81160" y="3291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Inter"/>
              </a:rPr>
              <a:t>Don't distort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520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DM Sans"/>
              </a:rPr>
              <a:t>Never skew or stretch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23360"/>
            <a:ext cx="256032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37960" y="416052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1330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pic>
        <p:nvPicPr>
          <p:cNvPr id="26" name="Picture 25" descr="praxion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709160"/>
            <a:ext cx="1920240" cy="4539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0" y="5486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Inter"/>
              </a:rPr>
              <a:t>Don't rotate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715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DM Sans"/>
              </a:rPr>
              <a:t>Keep horizontal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4023360"/>
            <a:ext cx="256032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416052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1330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pic>
        <p:nvPicPr>
          <p:cNvPr id="32" name="Picture 31" descr="praxion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4709160"/>
            <a:ext cx="1920240" cy="45397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81160" y="5486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Inter"/>
              </a:rPr>
              <a:t>Don't shrink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5715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DM Sans"/>
              </a:rPr>
              <a:t>Respect minimum 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04 — COLOR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A palette built for clarity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  <a:latin typeface="DM Sans"/>
              </a:rPr>
              <a:t>Navy carries most of the weight. Signal Blue is the interactive accent. Ion Teal is the spark — used sparingly.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2231136" cy="21945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etBrains Mono"/>
              </a:rPr>
              <a:t>PRAXION NAVY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Praxion Navy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2231136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JetBrains Mono"/>
              </a:rPr>
              <a:t>#0B1437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RGB  11 · 20 · 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E2A5E"/>
                </a:solidFill>
                <a:latin typeface="DM Sans"/>
              </a:rPr>
              <a:t>Primary surface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514600"/>
            <a:ext cx="2231136" cy="21945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9816" y="2743200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etBrains Mono"/>
              </a:rPr>
              <a:t>SIGNAL 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406908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Signal Blue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71216" y="4709160"/>
            <a:ext cx="2231136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480060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JetBrains Mono"/>
              </a:rPr>
              <a:t>#2F6BFF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507492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RGB  47 · 107 · 255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539496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E2A5E"/>
                </a:solidFill>
                <a:latin typeface="DM Sans"/>
              </a:rPr>
              <a:t>Interactive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93792" y="2514600"/>
            <a:ext cx="2231136" cy="21945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2392" y="2743200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437"/>
                </a:solidFill>
                <a:latin typeface="JetBrains Mono"/>
              </a:rPr>
              <a:t>ION TEAL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406908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Ion Teal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93792" y="4709160"/>
            <a:ext cx="2231136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76672" y="480060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JetBrains Mono"/>
              </a:rPr>
              <a:t>#19D3C5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507492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RGB  25 · 211 · 197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539496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E2A5E"/>
                </a:solidFill>
                <a:latin typeface="DM Sans"/>
              </a:rPr>
              <a:t>Spark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2514600"/>
            <a:ext cx="2231136" cy="219456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4968" y="2743200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etBrains Mono"/>
              </a:rPr>
              <a:t>DEEP INDIGO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8" y="406908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Deep Indigo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6368" y="4709160"/>
            <a:ext cx="2231136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480060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JetBrains Mono"/>
              </a:rPr>
              <a:t>#1E2A5E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507492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RGB  30 · 42 · 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539496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E2A5E"/>
                </a:solidFill>
                <a:latin typeface="DM Sans"/>
              </a:rPr>
              <a:t>Secondary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38944" y="2514600"/>
            <a:ext cx="2231136" cy="2194560"/>
          </a:xfrm>
          <a:prstGeom prst="rect">
            <a:avLst/>
          </a:prstGeom>
          <a:solidFill>
            <a:srgbClr val="F5F7FA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67544" y="2743200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437"/>
                </a:solidFill>
                <a:latin typeface="JetBrains Mono"/>
              </a:rPr>
              <a:t>CLOUD WHITE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67544" y="406908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Cloud White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38944" y="4709160"/>
            <a:ext cx="2231136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1824" y="480060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JetBrains Mono"/>
              </a:rPr>
              <a:t>#F5F7FA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1824" y="507492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RGB  245 · 247 · 250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1824" y="539496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E2A5E"/>
                </a:solidFill>
                <a:latin typeface="DM Sans"/>
              </a:rPr>
              <a:t>Background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04 — COLOR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Usage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USAGE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Dominance by weight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3401568" cy="6400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50208" y="2834640"/>
            <a:ext cx="1133856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4064" y="2834640"/>
            <a:ext cx="737006" cy="6400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21070" y="2834640"/>
            <a:ext cx="396849" cy="6400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Navy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JetBrains Mono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9260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437"/>
                </a:solidFill>
                <a:latin typeface="Inter"/>
              </a:rPr>
              <a:t>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1546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437"/>
                </a:solidFill>
                <a:latin typeface="JetBrains Mono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7A99"/>
                </a:solidFill>
                <a:latin typeface="JetBrains Mono"/>
              </a:rPr>
              <a:t>Signal 13%    ·    Ion 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A5E"/>
                </a:solidFill>
                <a:latin typeface="DM Sans"/>
              </a:rPr>
              <a:t>Navy dominates every layout; Cloud is the surface on which content rests. Signal is reserved for interactive states and emphasis; Ion is the spark — headlines, charts, moments of intelligence. Never let Ion exceed ~10% of any layout.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SUPPORT PALETTE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Utility colors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834640"/>
            <a:ext cx="932688" cy="274320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75488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437"/>
                </a:solidFill>
                <a:latin typeface="Inter"/>
              </a:rPr>
              <a:t>Mist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2920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B1437"/>
                </a:solidFill>
                <a:latin typeface="JetBrains Mono"/>
              </a:rPr>
              <a:t>#E8ECF3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90688" y="2834640"/>
            <a:ext cx="932688" cy="274320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475488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Muted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502920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JetBrains Mono"/>
              </a:rPr>
              <a:t>#6B7A99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14816" y="2834640"/>
            <a:ext cx="932688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06256" y="475488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Success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502920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JetBrains Mono"/>
              </a:rPr>
              <a:t>#22C55E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38944" y="2834640"/>
            <a:ext cx="932688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475488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502920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JetBrains Mono"/>
              </a:rPr>
              <a:t>#F59E0B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63072" y="2834640"/>
            <a:ext cx="932688" cy="2743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54512" y="475488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4512" y="502920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JetBrains Mono"/>
              </a:rPr>
              <a:t>#EF4444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05 —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Three families, one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7132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INTER · HEADLINES &amp;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583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 i="0">
                <a:solidFill>
                  <a:srgbClr val="0B1437"/>
                </a:solidFill>
                <a:latin typeface="Inter"/>
              </a:rPr>
              <a:t>Run HR.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E2A5E"/>
                </a:solidFill>
                <a:latin typeface="Inter"/>
              </a:rPr>
              <a:t>A confident, geometric sans that carries the brand.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WEIGHTS IN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437"/>
                </a:solidFill>
                <a:latin typeface="Inter"/>
              </a:rPr>
              <a:t>400 Regular  ·  500 Medium  ·  600 Semibold  ·  700 Bold  ·  800 Extra Bold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Inter"/>
              </a:rPr>
              <a:t>ABCDEFGHIJKLMNOPQRSTUVWXYZ  abcdefghijklmnopqrstuvwxyz  0123456789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737360"/>
            <a:ext cx="3749039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DM SANS ·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4884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437"/>
                </a:solidFill>
                <a:latin typeface="DM Sans"/>
              </a:rPr>
              <a:t>Praxion ships with 13 modules, supports 14 user roles, and enforces Egyptian compliance by design. Bilingual at its 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4023360"/>
            <a:ext cx="3749039" cy="21945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114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9D3C5"/>
                </a:solidFill>
                <a:latin typeface="JetBrains Mono"/>
              </a:rPr>
              <a:t>JETBRAINS MONO ·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34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JetBrains Mono"/>
              </a:rPr>
              <a:t>US-M1-001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754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D7EA"/>
                </a:solidFill>
                <a:latin typeface="JetBrains Mono"/>
              </a:rPr>
              <a:t>payroll.run.lock()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074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9D3C5"/>
                </a:solidFill>
                <a:latin typeface="JetBrains Mono"/>
              </a:rPr>
              <a:t>SLA 99.9%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394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D7EA"/>
                </a:solidFill>
                <a:latin typeface="JetBrains Mono"/>
              </a:rPr>
              <a:t>195 stories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715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D7EA"/>
                </a:solidFill>
                <a:latin typeface="JetBrains Mono"/>
              </a:rPr>
              <a:t>14 mar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05 —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Type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0B1437"/>
                </a:solidFill>
                <a:latin typeface="Inter"/>
              </a:rPr>
              <a:t>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848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INTER 800 · 68pt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0B1437"/>
                </a:solidFill>
                <a:latin typeface="Inter"/>
              </a:rPr>
              <a:t>Section 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8620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INTER 800 · 42pt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E2A5E"/>
                </a:solidFill>
                <a:latin typeface="Inter"/>
              </a:rPr>
              <a:t>Heading 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63931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INTER 700 · 22pt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Label /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4165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INTER 600 · 13pt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B1437"/>
                </a:solidFill>
                <a:latin typeface="DM Sans"/>
              </a:rPr>
              <a:t>Body copy — DM Sans, the reading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1937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DM SANS 400 · 15pt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15000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5E"/>
                </a:solidFill>
                <a:latin typeface="JetBrains Mono"/>
              </a:rPr>
              <a:t>US-M1-001  ·  data cell  ·  $41,250.00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9710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JETBRAINS MONO 500 · 12pt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06 — VOICE &amp; 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How Praxion sounds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A99"/>
                </a:solidFill>
                <a:latin typeface="DM Sans"/>
              </a:rPr>
              <a:t>Direct, never breathless. Technical, never cold. We write the way a senior operator talks to a peer.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749039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3152" cy="33832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Precise, not marketing-speak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Say what the feature does.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160520"/>
            <a:ext cx="3108959" cy="777240"/>
          </a:xfrm>
          <a:prstGeom prst="rect">
            <a:avLst/>
          </a:prstGeom>
          <a:solidFill>
            <a:srgbClr val="E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8A7F"/>
                </a:solidFill>
                <a:latin typeface="JetBrains Mono"/>
              </a:rPr>
              <a:t>✓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437"/>
                </a:solidFill>
                <a:latin typeface="DM Sans"/>
              </a:rPr>
              <a:t>Run payroll in under 12 minutes.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074920"/>
            <a:ext cx="3108959" cy="77724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53030"/>
                </a:solidFill>
                <a:latin typeface="JetBrains Mono"/>
              </a:rPr>
              <a:t>✗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A99"/>
                </a:solidFill>
                <a:latin typeface="DM Sans"/>
              </a:rPr>
              <a:t>Revolutionary payroll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743200"/>
            <a:ext cx="3749039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743200"/>
            <a:ext cx="73152" cy="33832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01752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Active, not passive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661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Verbs first. Who does what.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160520"/>
            <a:ext cx="3108959" cy="777240"/>
          </a:xfrm>
          <a:prstGeom prst="rect">
            <a:avLst/>
          </a:prstGeom>
          <a:solidFill>
            <a:srgbClr val="E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8A7F"/>
                </a:solidFill>
                <a:latin typeface="JetBrains Mono"/>
              </a:rPr>
              <a:t>✓ 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4805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437"/>
                </a:solidFill>
                <a:latin typeface="DM Sans"/>
              </a:rPr>
              <a:t>Approve leave from your phone.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5074920"/>
            <a:ext cx="3108959" cy="77724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5120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53030"/>
                </a:solidFill>
                <a:latin typeface="JetBrains Mono"/>
              </a:rPr>
              <a:t>✗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3949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A99"/>
                </a:solidFill>
                <a:latin typeface="DM Sans"/>
              </a:rPr>
              <a:t>Leave can be approved.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743200"/>
            <a:ext cx="3749039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2743200"/>
            <a:ext cx="73152" cy="33832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301752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Bilingual, always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5661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DM Sans"/>
              </a:rPr>
              <a:t>Arabic and English are peers.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160520"/>
            <a:ext cx="3108959" cy="777240"/>
          </a:xfrm>
          <a:prstGeom prst="rect">
            <a:avLst/>
          </a:prstGeom>
          <a:solidFill>
            <a:srgbClr val="E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8A7F"/>
                </a:solidFill>
                <a:latin typeface="JetBrains Mono"/>
              </a:rPr>
              <a:t>✓ 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4805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437"/>
                </a:solidFill>
                <a:latin typeface="DM Sans"/>
              </a:rPr>
              <a:t>Write payslips in both.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5074920"/>
            <a:ext cx="3108959" cy="77724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5120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53030"/>
                </a:solidFill>
                <a:latin typeface="JetBrains Mono"/>
              </a:rPr>
              <a:t>✗ 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3949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A99"/>
                </a:solidFill>
                <a:latin typeface="DM Sans"/>
              </a:rPr>
              <a:t>Translate later.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07 —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Brand in the wild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30175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xion-mark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740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PRAXION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Mohamed Sabry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D7EA"/>
                </a:solidFill>
                <a:latin typeface="DM Sans"/>
              </a:rPr>
              <a:t>Project Director · Praxion HROS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4572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AB9D6"/>
                </a:solidFill>
                <a:latin typeface="JetBrains Mono"/>
              </a:rPr>
              <a:t>mohamed.sabry@praxionhr.com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AB9D6"/>
                </a:solidFill>
                <a:latin typeface="JetBrains Mono"/>
              </a:rPr>
              <a:t>praxionhr.com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AB9D6"/>
                </a:solidFill>
                <a:latin typeface="JetBrains Mono"/>
              </a:rPr>
              <a:t>Cairo · Egypt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BUSINESS CARD  ·  55 × 85 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48640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5486400" cy="32004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0" y="1892807"/>
            <a:ext cx="137160" cy="137160"/>
          </a:xfrm>
          <a:prstGeom prst="ellipse">
            <a:avLst/>
          </a:prstGeom>
          <a:solidFill>
            <a:srgbClr val="C8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1892807"/>
            <a:ext cx="137160" cy="137160"/>
          </a:xfrm>
          <a:prstGeom prst="ellipse">
            <a:avLst/>
          </a:prstGeom>
          <a:solidFill>
            <a:srgbClr val="C8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0" y="1892807"/>
            <a:ext cx="137160" cy="137160"/>
          </a:xfrm>
          <a:prstGeom prst="ellipse">
            <a:avLst/>
          </a:prstGeom>
          <a:solidFill>
            <a:srgbClr val="C8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1874519"/>
            <a:ext cx="457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90195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99"/>
                </a:solidFill>
                <a:latin typeface="JetBrains Mono"/>
              </a:rPr>
              <a:t>app.praxionhr.com/dashboard</a:t>
            </a:r>
          </a:p>
        </p:txBody>
      </p:sp>
      <p:pic>
        <p:nvPicPr>
          <p:cNvPr id="23" name="Picture 22" descr="praxion-logo-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0"/>
            <a:ext cx="1463040" cy="34588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11247120" y="2423160"/>
            <a:ext cx="320040" cy="32004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54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437"/>
                </a:solidFill>
                <a:latin typeface="Inter"/>
              </a:rPr>
              <a:t>Good morning, Sabry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794760"/>
            <a:ext cx="169164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93192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A99"/>
                </a:solidFill>
                <a:latin typeface="JetBrains Mono"/>
              </a:rPr>
              <a:t>HEADCOUNT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2062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437"/>
                </a:solidFill>
                <a:latin typeface="Inter"/>
              </a:rPr>
              <a:t>2,147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8006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8A7F"/>
                </a:solidFill>
                <a:latin typeface="JetBrains Mono"/>
              </a:rPr>
              <a:t>▲ 28 MTD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3794760"/>
            <a:ext cx="169164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93192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A99"/>
                </a:solidFill>
                <a:latin typeface="JetBrains Mono"/>
              </a:rPr>
              <a:t>ATTRITION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2062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437"/>
                </a:solidFill>
                <a:latin typeface="Inter"/>
              </a:rPr>
              <a:t>8.4%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006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8A7F"/>
                </a:solidFill>
                <a:latin typeface="JetBrains Mono"/>
              </a:rPr>
              <a:t>▼ 0.6 pts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3794760"/>
            <a:ext cx="169164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393192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A99"/>
                </a:solidFill>
                <a:latin typeface="JetBrains Mono"/>
              </a:rPr>
              <a:t>PAY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2062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437"/>
                </a:solidFill>
                <a:latin typeface="Inter"/>
              </a:rPr>
              <a:t>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48006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8A7F"/>
                </a:solidFill>
                <a:latin typeface="JetBrains Mono"/>
              </a:rPr>
              <a:t>12 min 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DASHBOARD UI  ·  1440 × 900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6BFF"/>
                </a:solidFill>
                <a:latin typeface="JetBrains Mono"/>
              </a:rPr>
              <a:t>08 — ASSET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Download &amp;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  <a:latin typeface="DM Sans"/>
              </a:rPr>
              <a:t>All assets live in the Praxion-HROS / Brand folder. Prefer SVG for screen use — it scales crisply and stays small.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7432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xion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00400"/>
            <a:ext cx="2103120" cy="4972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846320"/>
            <a:ext cx="274320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Primary logo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A5E"/>
                </a:solidFill>
                <a:latin typeface="JetBrains Mono"/>
              </a:rPr>
              <a:t>praxion-logo-primary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SVG · PNG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6432" y="2560320"/>
            <a:ext cx="2743200" cy="3383280"/>
          </a:xfrm>
          <a:prstGeom prst="rect">
            <a:avLst/>
          </a:prstGeom>
          <a:solidFill>
            <a:srgbClr val="0B1437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axion-logo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3200400"/>
            <a:ext cx="2103120" cy="49721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56432" y="4846320"/>
            <a:ext cx="274320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Inverse logo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5303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A5E"/>
                </a:solidFill>
                <a:latin typeface="JetBrains Mono"/>
              </a:rPr>
              <a:t>praxion-logo-inverse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5577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SVG · PNG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2560320"/>
            <a:ext cx="27432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axion-logo-m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3200400"/>
            <a:ext cx="2103120" cy="49721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364224" y="4846320"/>
            <a:ext cx="274320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Monochrome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5303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A5E"/>
                </a:solidFill>
                <a:latin typeface="JetBrains Mono"/>
              </a:rPr>
              <a:t>praxion-logo-mono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577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SVG · 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2016" y="2560320"/>
            <a:ext cx="27432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raxion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3108960"/>
            <a:ext cx="1280160" cy="128016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272016" y="4846320"/>
            <a:ext cx="274320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E8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Mark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5303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A5E"/>
                </a:solidFill>
                <a:latin typeface="JetBrains Mono"/>
              </a:rPr>
              <a:t>praxion-mark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5577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A99"/>
                </a:solidFill>
                <a:latin typeface="JetBrains Mono"/>
              </a:rPr>
              <a:t>SVG · PNG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JetBrains Mono"/>
              </a:rPr>
              <a:t>Praxion · Brand Identity 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A99"/>
                </a:solidFill>
                <a:latin typeface="JetBrains Mono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4572000"/>
            <a:ext cx="5486400" cy="5486400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828800"/>
            <a:ext cx="5486400" cy="5486400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axion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PRAXION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9D3C5"/>
                </a:solidFill>
                <a:latin typeface="JetBrains Mono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Inter"/>
              </a:rPr>
              <a:t>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Inter"/>
              </a:rPr>
              <a:t>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19D3C5"/>
                </a:solidFill>
                <a:latin typeface="Inter"/>
              </a:rPr>
              <a:t>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AB9D6"/>
                </a:solidFill>
                <a:latin typeface="JetBrains Mono"/>
              </a:rPr>
              <a:t>praxionhr.com  ·  mohamed.sabry@praxionhr.com  ·  Version 1.0 · 10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