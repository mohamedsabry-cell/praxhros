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50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4617720"/>
            <a:ext cx="4291462" cy="914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2982" y="4617720"/>
            <a:ext cx="4291462" cy="91440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14444" y="4617720"/>
            <a:ext cx="2145731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axi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447" y="1097280"/>
            <a:ext cx="4114800" cy="10060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743200"/>
            <a:ext cx="1036289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Inter"/>
              </a:rPr>
              <a:t>Brand Guidelines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19D3C5"/>
                </a:solidFill>
                <a:latin typeface="Inter"/>
              </a:rPr>
              <a:t>Version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The HR Operating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06440"/>
            <a:ext cx="10362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  <a:latin typeface="Calibri"/>
              </a:rPr>
              <a:t>Identity · Color · Typography · Voice ·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55080"/>
            <a:ext cx="103628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Published April 2026 · PraxionHR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B1437"/>
                </a:solidFill>
                <a:latin typeface="Inter"/>
              </a:rPr>
              <a:t>What's in this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64592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1554480"/>
            <a:ext cx="164592" cy="54864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0704" y="1554480"/>
            <a:ext cx="82296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11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Brand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41448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8716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Logo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16936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6265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Color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92424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Inter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3814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Typography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67912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Inter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91363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Iconography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Inter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3891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Imagery &amp; Photography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18888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Inter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86460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Illustration Style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6596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Inter"/>
              </a:rPr>
              <a:t>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0116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Voice &amp; Tone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441448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Inter"/>
              </a:rPr>
              <a:t>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48716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UI Components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916936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Inter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96265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Applications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392424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Inter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43814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Do's &amp; Don'ts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867912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Inter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91363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Accessibility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34340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Inter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3891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Downloads &amp; Contacts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Confidential. © PraxionHR 2026. Version 2.0.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18872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59E0B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Inter"/>
              </a:rPr>
              <a:t>Brand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9D3C5"/>
                </a:solidFill>
                <a:latin typeface="Inter"/>
              </a:rPr>
              <a:t>Why Praxion exists, what we promise, and how that shapes every surface.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27432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6309360"/>
            <a:ext cx="274320" cy="73152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6309360"/>
            <a:ext cx="1371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01  ·  Brand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An operating system for HR.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E293B"/>
                </a:solidFill>
                <a:latin typeface="Calibri"/>
              </a:rPr>
              <a:t>Praxion replaces the tangle of HR point-solutions with a single, modular platform where people data, policy, and workflows live together. Thirteen integrated modules share one data model, one identity layer, and one design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3949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109728" cy="118872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Integrated by 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One identity, one data model, one design language — across 13 modules.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657600"/>
            <a:ext cx="53949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3657600"/>
            <a:ext cx="109728" cy="1188720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38404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Enterprise-grade calm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2062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Quiet surfaces. Purposeful motion. Density earned, not assumed.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53949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029200"/>
            <a:ext cx="109728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Human in the middle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778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Every workflow ends with a person. We surface the facts they need.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5029200"/>
            <a:ext cx="53949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5029200"/>
            <a:ext cx="109728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79" y="5212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Auditable by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557784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If it changed, there is a record. If it's automated, there is a reason.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01  ·  Brand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THE 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Clarity over chaos.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194560"/>
            <a:ext cx="94183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194560"/>
            <a:ext cx="94183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 i="1">
                <a:solidFill>
                  <a:srgbClr val="0B1437"/>
                </a:solidFill>
                <a:latin typeface="Inter"/>
              </a:rPr>
              <a:t>“Calm, precise, and confident — the voice of an HR platform that has seen every edge case and isn’t rattled by yours.”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77639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— Praxion voice, in a sentence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PAIN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Tool-fatigue. Scattered data. Audit anxiety.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6634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PROMISE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9377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One trustworthy surface. Next step is obvious.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01  ·  Brand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WHAT'S NEW IN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From flat hex to dimensional cube.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03120"/>
            <a:ext cx="11155680" cy="4572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1945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v1.0 (legacy)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v2.0 (current)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560320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670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437"/>
                </a:solidFill>
                <a:latin typeface="Inter"/>
              </a:rPr>
              <a:t>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2670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Flat hexagon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6700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3D cube — layered rhombus faces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017520"/>
            <a:ext cx="11155680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1272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437"/>
                </a:solidFill>
                <a:latin typeface="Inter"/>
              </a:rPr>
              <a:t>Accent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1272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Ion teal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1272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Ion teal + amber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74720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5844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437"/>
                </a:solidFill>
                <a:latin typeface="Inter"/>
              </a:rPr>
              <a:t>Wordmark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5844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Inter ExtraBold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5844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Inter ExtraBold (unchanged)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931920"/>
            <a:ext cx="11155680" cy="4572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0416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437"/>
                </a:solidFill>
                <a:latin typeface="Inter"/>
              </a:rPr>
              <a:t>Base palette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0416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Navy / Signal / 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0416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Navy / Signal / Ion (unchanged)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389120"/>
            <a:ext cx="11155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4988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437"/>
                </a:solidFill>
                <a:latin typeface="Inter"/>
              </a:rPr>
              <a:t>Dimensionality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4988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Flat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4988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Faces + ground shadow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8521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Legacy v1.0 documents stay archived for reference. All new work uses v2.0. Never mix v1 and v2 marks on the same surface.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18872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59E0B"/>
                </a:solidFill>
                <a:latin typeface="Inter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Inter"/>
              </a:rPr>
              <a:t>Logo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9D3C5"/>
                </a:solidFill>
                <a:latin typeface="Inter"/>
              </a:rPr>
              <a:t>Eight variants, strict geometry, and the clear-space rule that makes the mark travel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27432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6309360"/>
            <a:ext cx="274320" cy="73152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6309360"/>
            <a:ext cx="1371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02  ·  Logo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PRIMARY LOCKUP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Our mark, wordmark, and accent.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20240"/>
            <a:ext cx="1074420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axi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2651760"/>
            <a:ext cx="7315200" cy="17885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5349240"/>
            <a:ext cx="10744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praxion-full · use on cloud (#F8FAFC) or white 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744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  <a:latin typeface="Calibri"/>
              </a:rPr>
              <a:t>The full-color horizontal lockup is the default everywhere except on dark, busy, or photographic backgrounds.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02  ·  Logo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EIGHT VARIANTS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Pick by background and tone.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6596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axi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194560"/>
            <a:ext cx="2194560" cy="5365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33832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1437"/>
                </a:solidFill>
                <a:latin typeface="Inter"/>
              </a:rPr>
              <a:t>praxion-full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118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Color · light bg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196596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raxion-inve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340" y="2194560"/>
            <a:ext cx="2194560" cy="53656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49040" y="33832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praxion-inverse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6118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9D3C5"/>
                </a:solidFill>
                <a:latin typeface="Calibri"/>
              </a:rPr>
              <a:t>Color · dark bg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96596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raxion-mono-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2194560"/>
            <a:ext cx="2194560" cy="5365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29400" y="33832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1437"/>
                </a:solidFill>
                <a:latin typeface="Inter"/>
              </a:rPr>
              <a:t>praxion-mono-black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6118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Single-color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196596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raxion-mon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060" y="2194560"/>
            <a:ext cx="2194560" cy="53656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09760" y="33832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praxion-mono-white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6118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9D3C5"/>
                </a:solidFill>
                <a:latin typeface="Calibri"/>
              </a:rPr>
              <a:t>Single-color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06908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raxion-icon-fu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3060" y="4297680"/>
            <a:ext cx="914400" cy="914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8680" y="548640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1437"/>
                </a:solidFill>
                <a:latin typeface="Inter"/>
              </a:rPr>
              <a:t>praxion-icon-full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71500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Avatars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406908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raxion-icon-inver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3420" y="4297680"/>
            <a:ext cx="914400" cy="914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749040" y="548640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praxion-icon-inverse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571500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9D3C5"/>
                </a:solidFill>
                <a:latin typeface="Calibri"/>
              </a:rPr>
              <a:t>Dark avatars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406908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praxion-icon-mono-bla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3780" y="4297680"/>
            <a:ext cx="914400" cy="914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629400" y="548640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1437"/>
                </a:solidFill>
                <a:latin typeface="Inter"/>
              </a:rPr>
              <a:t>praxion-icon-mono-black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571500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Mono icon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72600" y="4069080"/>
            <a:ext cx="2697480" cy="192024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raxion-icon-mono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4140" y="4297680"/>
            <a:ext cx="914400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509760" y="548640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Inter"/>
              </a:rPr>
              <a:t>praxion-icon-mono-white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571500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9D3C5"/>
                </a:solidFill>
                <a:latin typeface="Calibri"/>
              </a:rPr>
              <a:t>Mono icon dark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02  ·  Logo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CONSTRUCTION &amp; CLEAR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Protect the mark.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1168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2011680"/>
            <a:ext cx="6350" cy="3840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37360" y="2011680"/>
            <a:ext cx="6350" cy="3840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40280" y="2011680"/>
            <a:ext cx="6350" cy="3840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2011680"/>
            <a:ext cx="6350" cy="3840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2011680"/>
            <a:ext cx="6350" cy="3840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40" y="2011680"/>
            <a:ext cx="6350" cy="3840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2011680"/>
            <a:ext cx="6350" cy="3840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2011680"/>
            <a:ext cx="6350" cy="3840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57800" y="2011680"/>
            <a:ext cx="6350" cy="38404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2560320"/>
            <a:ext cx="50292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108960"/>
            <a:ext cx="50292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657600"/>
            <a:ext cx="50292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206240"/>
            <a:ext cx="50292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754880"/>
            <a:ext cx="50292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303520"/>
            <a:ext cx="5029200" cy="6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2834640"/>
            <a:ext cx="2194560" cy="21945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31520" y="58978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Cube mark on a construction grid.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2011680"/>
            <a:ext cx="54406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75120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93992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93992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12864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12864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31736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31736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50608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50608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69480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69480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88352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88352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07224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507224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26096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626096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44968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44968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63840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863840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82712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82712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01584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01584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20456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20456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39328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39328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458200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58200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577072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77072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695944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695944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14816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814816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933688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933688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052560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052560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171432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71432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290304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290304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409176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409176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528048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528048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646920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646920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765792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765792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884664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884664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003536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03536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122408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122408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241280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241280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360152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360152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479024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479024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597896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97896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716768" y="30175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716768" y="4846320"/>
            <a:ext cx="73152" cy="95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675120" y="3017520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835640" y="3017520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675120" y="3136392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835640" y="3136392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675120" y="3255264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835640" y="3255264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675120" y="3374136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835640" y="3374136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675120" y="3493008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835640" y="3493008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675120" y="3611880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835640" y="3611880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675120" y="3730752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835640" y="3730752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675120" y="3849624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835640" y="3849624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675120" y="3968496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835640" y="3968496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675120" y="4087368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835640" y="4087368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675120" y="4206240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835640" y="4206240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675120" y="4325112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835640" y="4325112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675120" y="4443984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835640" y="4443984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675120" y="4562856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835640" y="4562856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675120" y="4681728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835640" y="4681728"/>
            <a:ext cx="952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675120" y="4800600"/>
            <a:ext cx="952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835640" y="4800600"/>
            <a:ext cx="9525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3" name="Picture 132" descr="praxion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490369"/>
            <a:ext cx="3611880" cy="883100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6217920" y="27432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Inter"/>
              </a:rPr>
              <a:t>X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217920" y="3017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cube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17920" y="3200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height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035040" y="5897880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Clear space = cube-mark height on all sides.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02  ·  Logo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MISUSE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What not to do with the mark.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Inter"/>
              </a:rPr>
              <a:t>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539496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514600"/>
            <a:ext cx="109728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6974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Use the color lockup on cloud or white backgrounds.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39496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109728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404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Switch to -inverse on dark / photographic surfaces.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00600"/>
            <a:ext cx="539496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800600"/>
            <a:ext cx="109728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9834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Keep cube-height clear space on all sides.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0116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Inter"/>
              </a:rPr>
              <a:t>DON'T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2514600"/>
            <a:ext cx="539496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2514600"/>
            <a:ext cx="109728" cy="9601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26974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Recolor any part of the mark — the amber dot is fixed.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657600"/>
            <a:ext cx="539496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3657600"/>
            <a:ext cx="109728" cy="9601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79" y="38404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Add drop shadows, glows, or filters.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4800600"/>
            <a:ext cx="539496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4800600"/>
            <a:ext cx="109728" cy="9601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79" y="49834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Skew, rotate, or re-proportion the lockup.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18872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59E0B"/>
                </a:solidFill>
                <a:latin typeface="Inter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Inter"/>
              </a:rPr>
              <a:t>Color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9D3C5"/>
                </a:solidFill>
                <a:latin typeface="Inter"/>
              </a:rPr>
              <a:t>A considered palette where every color has a job.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27432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6309360"/>
            <a:ext cx="274320" cy="73152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6309360"/>
            <a:ext cx="1371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03  ·  Color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CORE PALETTE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Five colors, ninety percent of the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03120"/>
            <a:ext cx="2148840" cy="21031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2148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34340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437"/>
                </a:solidFill>
                <a:latin typeface="Inter"/>
              </a:rPr>
              <a:t>Navy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#0B1437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074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Wordmark · anchor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2103120"/>
            <a:ext cx="2148840" cy="210312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71800" y="4206240"/>
            <a:ext cx="2148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34340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437"/>
                </a:solidFill>
                <a:latin typeface="Inter"/>
              </a:rPr>
              <a:t>Signal Blue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#2F6BFF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074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Primary action · top dot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103120"/>
            <a:ext cx="2148840" cy="2103120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12080" y="4206240"/>
            <a:ext cx="2148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434340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437"/>
                </a:solidFill>
                <a:latin typeface="Inter"/>
              </a:rPr>
              <a:t>Ion Teal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#19D3C5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5074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Secondary accent · right face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2103120"/>
            <a:ext cx="2148840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52360" y="4206240"/>
            <a:ext cx="2148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434340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437"/>
                </a:solidFill>
                <a:latin typeface="Inter"/>
              </a:rPr>
              <a:t>Amber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#F59E0B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5074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Warm highlight · bottom dot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2103120"/>
            <a:ext cx="214884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92640" y="4206240"/>
            <a:ext cx="2148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434340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1437"/>
                </a:solidFill>
                <a:latin typeface="Inter"/>
              </a:rPr>
              <a:t>White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4754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onsolas"/>
              </a:rPr>
              <a:t>#FFFFFF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5074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Breathing room · highlights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0B1437"/>
                </a:solidFill>
                <a:latin typeface="Inter"/>
              </a:rPr>
              <a:t>Navy anchors. Signal leads actions. Ion accents. Amber highlights. White breathes.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03  ·  Color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NEUTRALS &amp; SEMANTIC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Supporting colors with specific jobs.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NEUTRALS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31720"/>
            <a:ext cx="2606040" cy="914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576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#F8FAFC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319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Page background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331720"/>
            <a:ext cx="2606040" cy="914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33375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Mist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6576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#E2E8F0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9319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Dividers, borders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331720"/>
            <a:ext cx="2606040" cy="9144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3375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Slate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6576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#64748B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9319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Secondary 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2331720"/>
            <a:ext cx="2606040" cy="9144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33375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6576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#1E293B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9319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Body copy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805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SEMANTIC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846320"/>
            <a:ext cx="260604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4864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437"/>
                </a:solidFill>
                <a:latin typeface="Inter"/>
              </a:rPr>
              <a:t>Success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760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#10B981 · Approved, complete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4846320"/>
            <a:ext cx="260604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80" y="54864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437"/>
                </a:solidFill>
                <a:latin typeface="Inter"/>
              </a:rPr>
              <a:t>Warning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5760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#F59E0B · Pending attention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846320"/>
            <a:ext cx="2606040" cy="5486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4864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437"/>
                </a:solidFill>
                <a:latin typeface="Inter"/>
              </a:rPr>
              <a:t>Danger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760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#EF4444 · Errors, destructive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4846320"/>
            <a:ext cx="2606040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54864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437"/>
                </a:solidFill>
                <a:latin typeface="Inter"/>
              </a:rPr>
              <a:t>Info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5760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#3B82F6 · Neutral callout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03  ·  Color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COLOR ON COLOR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Tested combinations. Use these; skip the rest.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011680"/>
            <a:ext cx="3566160" cy="1554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1945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B1437"/>
                </a:solidFill>
                <a:latin typeface="Inter"/>
              </a:rPr>
              <a:t>Aa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26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437"/>
                </a:solidFill>
                <a:latin typeface="Inter"/>
              </a:rPr>
              <a:t>Navy on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B1437"/>
                </a:solidFill>
                <a:latin typeface="Calibri"/>
              </a:rPr>
              <a:t>15.9:1 · passes AA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2272" y="2011680"/>
            <a:ext cx="3566160" cy="155448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21945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nter"/>
              </a:rPr>
              <a:t>Aa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926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White on Navy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3200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15.9:1 · passes AA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201168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21945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F6BFF"/>
                </a:solidFill>
                <a:latin typeface="Inter"/>
              </a:rPr>
              <a:t>Aa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926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F6BFF"/>
                </a:solidFill>
                <a:latin typeface="Inter"/>
              </a:rPr>
              <a:t>Signal on White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200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F6BFF"/>
                </a:solidFill>
                <a:latin typeface="Calibri"/>
              </a:rPr>
              <a:t>4.8:1 · passes AA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730752"/>
            <a:ext cx="3566160" cy="155448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91363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Inter"/>
              </a:rPr>
              <a:t>Aa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6451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White on Signal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91947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4.6:1 · passes AA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2272" y="3730752"/>
            <a:ext cx="3566160" cy="155448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391363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9D3C5"/>
                </a:solidFill>
                <a:latin typeface="Inter"/>
              </a:rPr>
              <a:t>Aa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46451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9D3C5"/>
                </a:solidFill>
                <a:latin typeface="Inter"/>
              </a:rPr>
              <a:t>Ion on Navy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491947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9D3C5"/>
                </a:solidFill>
                <a:latin typeface="Calibri"/>
              </a:rPr>
              <a:t>6.7:1 · passes AA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93024" y="3730752"/>
            <a:ext cx="3566160" cy="155448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1624" y="391363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59E0B"/>
                </a:solidFill>
                <a:latin typeface="Inter"/>
              </a:rPr>
              <a:t>Aa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1624" y="46451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Inter"/>
              </a:rPr>
              <a:t>Amber on Navy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491947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6.9:1 · passes AA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Dominance over equality: one brand color leads a surface, others support. Never balance signal / ion / amber equally.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18872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59E0B"/>
                </a:solidFill>
                <a:latin typeface="Inter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Inter"/>
              </a:rPr>
              <a:t>Typography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9D3C5"/>
                </a:solidFill>
                <a:latin typeface="Inter"/>
              </a:rPr>
              <a:t>Three typefaces, a sensible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27432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6309360"/>
            <a:ext cx="274320" cy="73152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6309360"/>
            <a:ext cx="1371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04  ·  Typography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TYPEFACES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Inter. DM Sans. JetBrains Mono.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11680"/>
            <a:ext cx="36118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011680"/>
            <a:ext cx="3611880" cy="10972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3774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437"/>
                </a:solidFill>
                <a:latin typeface="Inter"/>
              </a:rPr>
              <a:t>Inter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803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Headlines, UI, wordmark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3063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437"/>
                </a:solidFill>
                <a:latin typeface="Inter"/>
              </a:rPr>
              <a:t>Headlines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ExtraBold 800 · Bold 700 · SemiBold 600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2011680"/>
            <a:ext cx="36118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2011680"/>
            <a:ext cx="3611880" cy="109728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23774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437"/>
                </a:solidFill>
                <a:latin typeface="Inter"/>
              </a:rPr>
              <a:t>DM Sans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8803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Body, long-form reading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566160"/>
            <a:ext cx="3063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437"/>
                </a:solidFill>
                <a:latin typeface="Calibri"/>
              </a:rPr>
              <a:t>The quick brown fox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53035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Bold 700 · Medium 500 · Regular 400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011680"/>
            <a:ext cx="361188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2011680"/>
            <a:ext cx="361188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23774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437"/>
                </a:solidFill>
                <a:latin typeface="Inter"/>
              </a:rPr>
              <a:t>JetBrains Mono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88036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Code, data cells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566160"/>
            <a:ext cx="3063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1437"/>
                </a:solidFill>
                <a:latin typeface="Consolas"/>
              </a:rPr>
              <a:t>const ver = '2.0'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3035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Bold 700 · Regular 400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04  ·  Typography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TYPE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Anchored at 16 px. Skip sizes, don't tweak pairs.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965960"/>
            <a:ext cx="107442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367915"/>
            <a:ext cx="10744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0756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display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0756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48 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96596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1437"/>
                </a:solidFill>
                <a:latin typeface="Inter"/>
              </a:rPr>
              <a:t>Praxion / 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0756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Hero headlines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377440"/>
            <a:ext cx="107442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779395"/>
            <a:ext cx="10744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4871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h1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4871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34 px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37744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1437"/>
                </a:solidFill>
                <a:latin typeface="Inter"/>
              </a:rPr>
              <a:t>Praxion / h1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4871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Page titles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788920"/>
            <a:ext cx="107442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190875"/>
            <a:ext cx="10744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28986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h2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289864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28 px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27889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1437"/>
                </a:solidFill>
                <a:latin typeface="Inter"/>
              </a:rPr>
              <a:t>Praxion / h2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898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Section titles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200400"/>
            <a:ext cx="107442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3602355"/>
            <a:ext cx="10744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3101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h3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33101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22 px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2004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1437"/>
                </a:solidFill>
                <a:latin typeface="Inter"/>
              </a:rPr>
              <a:t>Praxion / h3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3101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Subsection titles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611880"/>
            <a:ext cx="107442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4013835"/>
            <a:ext cx="10744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37216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h4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37216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18 px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61188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B1437"/>
                </a:solidFill>
                <a:latin typeface="Inter"/>
              </a:rPr>
              <a:t>Praxion / h4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7216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Card titles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023360"/>
            <a:ext cx="107442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" y="4425315"/>
            <a:ext cx="10744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1330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body-lg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4133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16 px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02336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0B1437"/>
                </a:solidFill>
                <a:latin typeface="Inter"/>
              </a:rPr>
              <a:t>Praxion / body-lg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41330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Lead paragraphs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4434840"/>
            <a:ext cx="107442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" y="4836795"/>
            <a:ext cx="10744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45445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body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45445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14 px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443484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0B1437"/>
                </a:solidFill>
                <a:latin typeface="Inter"/>
              </a:rPr>
              <a:t>Praxion / body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5445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Default body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4846320"/>
            <a:ext cx="107442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1520" y="5248275"/>
            <a:ext cx="10744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49560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body-sm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000" y="495604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12 px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80" y="48463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B1437"/>
                </a:solidFill>
                <a:latin typeface="Inter"/>
              </a:rPr>
              <a:t>Praxion / body-sm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956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Table rows, small body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257800"/>
            <a:ext cx="1074420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31520" y="5659755"/>
            <a:ext cx="10744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5367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caption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86000" y="5367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onsolas"/>
              </a:rPr>
              <a:t>10 px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0" y="52578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0B1437"/>
                </a:solidFill>
                <a:latin typeface="Inter"/>
              </a:rPr>
              <a:t>Praxion / caption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5367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Captions, metadata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18872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59E0B"/>
                </a:solidFill>
                <a:latin typeface="Inter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Inter"/>
              </a:rPr>
              <a:t>Iconography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9D3C5"/>
                </a:solidFill>
                <a:latin typeface="Inter"/>
              </a:rPr>
              <a:t>One stroke, one grid, one voice.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27432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6309360"/>
            <a:ext cx="274320" cy="73152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6309360"/>
            <a:ext cx="1371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05  ·  Iconography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ICONOGRAPHY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One stroke, one grid, one voice.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  <a:latin typeface="Calibri"/>
              </a:rPr>
              <a:t>Praxion uses Lucide by default. 24 × 24 grid, 2 px stroke, rounded caps and joins. Icons inherit text color — never hard-code.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2148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77924" y="3794760"/>
            <a:ext cx="256032" cy="256032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437"/>
                </a:solidFill>
                <a:latin typeface="Inter"/>
              </a:rPr>
              <a:t>icon-xs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onsolas"/>
              </a:rPr>
              <a:t>14 px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Inline body-sm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3291840"/>
            <a:ext cx="2148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9916" y="3794760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44805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437"/>
                </a:solidFill>
                <a:latin typeface="Inter"/>
              </a:rPr>
              <a:t>icon-sm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7548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onsolas"/>
              </a:rPr>
              <a:t>16 px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50292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Body, tables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3291840"/>
            <a:ext cx="2148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03620" y="3794760"/>
            <a:ext cx="365760" cy="365760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44805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437"/>
                </a:solidFill>
                <a:latin typeface="Inter"/>
              </a:rPr>
              <a:t>icon-md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7548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onsolas"/>
              </a:rPr>
              <a:t>20 px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0292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Buttons, tabs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3291840"/>
            <a:ext cx="2148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07324" y="3794760"/>
            <a:ext cx="438912" cy="438912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2360" y="44805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437"/>
                </a:solidFill>
                <a:latin typeface="Inter"/>
              </a:rPr>
              <a:t>icon-lg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47548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onsolas"/>
              </a:rPr>
              <a:t>24 px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50292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Toolbar, nav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3291840"/>
            <a:ext cx="21488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74452" y="3794760"/>
            <a:ext cx="585216" cy="585216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44805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B1437"/>
                </a:solidFill>
                <a:latin typeface="Inter"/>
              </a:rPr>
              <a:t>icon-xl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75488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onsolas"/>
              </a:rPr>
              <a:t>32 px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502920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Feature blocks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Status icons pair with semantic color. All other icons inherit from surrounding text (Slate or Navy).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18872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59E0B"/>
                </a:solidFill>
                <a:latin typeface="Inte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Inter"/>
              </a:rPr>
              <a:t>Imagery &amp;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9D3C5"/>
                </a:solidFill>
                <a:latin typeface="Inter"/>
              </a:rPr>
              <a:t>Calm, candid, human.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27432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6309360"/>
            <a:ext cx="274320" cy="73152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6309360"/>
            <a:ext cx="1371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06  ·  Imagery &amp; Photography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IMAGERY &amp; PHOTOGRAPHY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Real work, real light.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Praxion imagery is documentary, not staged. People at work. Natural light. Uncluttered surfaces. Faces mid-thought, not mid-smile. All hero images receive a navy overlay at 20–35% opacity with an optional ion-teal glow upper-right.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Inter"/>
              </a:rPr>
              <a:t>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34924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9144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HR professionals at their desks, in conversation.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534924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754880"/>
            <a:ext cx="9144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64608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Modern uncluttered offices — glass, matte surfaces, plants.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94960"/>
            <a:ext cx="534924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394960"/>
            <a:ext cx="9144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04688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Diverse teams — age, ethnicity, role diversity.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576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Inter"/>
              </a:rPr>
              <a:t>DON'T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114800"/>
            <a:ext cx="534924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114800"/>
            <a:ext cx="91440" cy="5029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224528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Stock-photo people laughing at a laptop.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754880"/>
            <a:ext cx="534924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754880"/>
            <a:ext cx="91440" cy="5029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864608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Saturated grading, vignettes, filter stacks.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394960"/>
            <a:ext cx="534924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5394960"/>
            <a:ext cx="91440" cy="5029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504688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AI-generated people presented as real.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18872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59E0B"/>
                </a:solidFill>
                <a:latin typeface="Inter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Inter"/>
              </a:rPr>
              <a:t>Illustration 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9D3C5"/>
                </a:solidFill>
                <a:latin typeface="Inter"/>
              </a:rPr>
              <a:t>Drawings that feel like the product.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27432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6309360"/>
            <a:ext cx="274320" cy="73152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6309360"/>
            <a:ext cx="1371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07  ·  Illustration Style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ILLUSTRATION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Built from the same geometry as the mark.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57400"/>
            <a:ext cx="544068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057400"/>
            <a:ext cx="5440680" cy="914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2402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Palette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5176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Navy outlines + Cloud surfaces. Accents from Signal / Ion / Amber only — never semantic.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57400"/>
            <a:ext cx="544068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057400"/>
            <a:ext cx="5440680" cy="91440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2402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Geometry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5176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Isometric or 30° projections. 4 px rounded corners. No 3D shading beyond flat face tints.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544068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544068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11480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Composition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52628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One focal element. Supporting geometry gives context. Keep the whitespace generous.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31920"/>
            <a:ext cx="544068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931920"/>
            <a:ext cx="54406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11480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B1437"/>
                </a:solidFill>
                <a:latin typeface="Inter"/>
              </a:rPr>
              <a:t>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52628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1.5 px stroke for large illustrations. 1 px for small spots. Pair with the 24-px icon grid.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18872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59E0B"/>
                </a:solidFill>
                <a:latin typeface="Inter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Inter"/>
              </a:rPr>
              <a:t>Voice &amp; 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9D3C5"/>
                </a:solidFill>
                <a:latin typeface="Inter"/>
              </a:rPr>
              <a:t>How Praxion talks.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27432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6309360"/>
            <a:ext cx="274320" cy="73152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6309360"/>
            <a:ext cx="1371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08  ·  Voice &amp; 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Calm, precise, confident — and on the user's 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57400"/>
            <a:ext cx="21488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2331720"/>
            <a:ext cx="502920" cy="502920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437"/>
                </a:solidFill>
                <a:latin typeface="Inter"/>
              </a:rPr>
              <a:t>Calm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832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We don't shout.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2057400"/>
            <a:ext cx="21488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46120" y="2331720"/>
            <a:ext cx="502920" cy="502920"/>
          </a:xfrm>
          <a:prstGeom prst="ellipse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297180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437"/>
                </a:solidFill>
                <a:latin typeface="Inter"/>
              </a:rPr>
              <a:t>Precise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3832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Say exactly what you mean.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2057400"/>
            <a:ext cx="21488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0" y="233172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297180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437"/>
                </a:solidFill>
                <a:latin typeface="Inter"/>
              </a:rPr>
              <a:t>Confident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3832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We know HR.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057400"/>
            <a:ext cx="21488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26680" y="23317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80" y="297180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437"/>
                </a:solidFill>
                <a:latin typeface="Inter"/>
              </a:rPr>
              <a:t>Human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80" y="33832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Never a form letter.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2057400"/>
            <a:ext cx="214884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66960" y="23317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297180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1437"/>
                </a:solidFill>
                <a:latin typeface="Inter"/>
              </a:rPr>
              <a:t>Respectful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3832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Never patronize.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389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VOICE IN CONTEXT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75488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754880"/>
            <a:ext cx="361188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9377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25780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We couldn't save this change — someone else edited it a moment ago. Refresh to see the latest.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34840" y="475488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4754880"/>
            <a:ext cx="361188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49377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SUCCESS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525780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Saved. Changes go live at midnight.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75488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4754880"/>
            <a:ext cx="361188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6760" y="493776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EMPTY 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525780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No policies yet. Add one to start tracking acknowledgements.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18872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59E0B"/>
                </a:solidFill>
                <a:latin typeface="Inter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Inter"/>
              </a:rPr>
              <a:t>UI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9D3C5"/>
                </a:solidFill>
                <a:latin typeface="Inter"/>
              </a:rPr>
              <a:t>The brand in motion.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27432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6309360"/>
            <a:ext cx="274320" cy="73152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6309360"/>
            <a:ext cx="1371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09  ·  UI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UI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The brand in motion — tokens made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BUTTONS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31720"/>
            <a:ext cx="1463040" cy="548640"/>
          </a:xfrm>
          <a:prstGeom prst="roundRect">
            <a:avLst>
              <a:gd name="adj" fmla="val 18000"/>
            </a:avLst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317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2331720"/>
            <a:ext cx="1645920" cy="548640"/>
          </a:xfrm>
          <a:prstGeom prst="roundRect">
            <a:avLst>
              <a:gd name="adj" fmla="val 18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33172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Secondary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331720"/>
            <a:ext cx="128016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solidFill>
              <a:srgbClr val="0B1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233172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B1437"/>
                </a:solidFill>
                <a:latin typeface="Inter"/>
              </a:rPr>
              <a:t>Ghost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2331720"/>
            <a:ext cx="1005840" cy="548640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233172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B1437"/>
                </a:solidFill>
                <a:latin typeface="Inter"/>
              </a:rPr>
              <a:t>CTA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00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CARDS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2044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70332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Active employees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233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B1437"/>
                </a:solidFill>
                <a:latin typeface="Inter"/>
              </a:rPr>
              <a:t>1,284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66344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▲ 4.2% vs last month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52044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370332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Open headcount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0233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B1437"/>
                </a:solidFill>
                <a:latin typeface="Inter"/>
              </a:rPr>
              <a:t>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66344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7 in final-round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52044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70332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Policies acknowledged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0233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0B1437"/>
                </a:solidFill>
                <a:latin typeface="Inter"/>
              </a:rPr>
              <a:t>92%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66344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  <a:latin typeface="Calibri"/>
              </a:rPr>
              <a:t>3 outstanding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212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BADGES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" y="566928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6418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Active</a:t>
            </a:r>
          </a:p>
        </p:txBody>
      </p:sp>
      <p:sp>
        <p:nvSpPr>
          <p:cNvPr id="37" name="Oval 36"/>
          <p:cNvSpPr/>
          <p:nvPr/>
        </p:nvSpPr>
        <p:spPr>
          <a:xfrm>
            <a:off x="2468880" y="566928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56418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Pending</a:t>
            </a:r>
          </a:p>
        </p:txBody>
      </p:sp>
      <p:sp>
        <p:nvSpPr>
          <p:cNvPr id="39" name="Oval 38"/>
          <p:cNvSpPr/>
          <p:nvPr/>
        </p:nvSpPr>
        <p:spPr>
          <a:xfrm>
            <a:off x="4206240" y="5669280"/>
            <a:ext cx="201168" cy="20116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56418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Blocked</a:t>
            </a:r>
          </a:p>
        </p:txBody>
      </p:sp>
      <p:sp>
        <p:nvSpPr>
          <p:cNvPr id="41" name="Oval 40"/>
          <p:cNvSpPr/>
          <p:nvPr/>
        </p:nvSpPr>
        <p:spPr>
          <a:xfrm>
            <a:off x="5943600" y="566928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6418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Review</a:t>
            </a:r>
          </a:p>
        </p:txBody>
      </p:sp>
      <p:sp>
        <p:nvSpPr>
          <p:cNvPr id="43" name="Oval 42"/>
          <p:cNvSpPr/>
          <p:nvPr/>
        </p:nvSpPr>
        <p:spPr>
          <a:xfrm>
            <a:off x="7680960" y="5669280"/>
            <a:ext cx="201168" cy="20116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0" y="564184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Archived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18872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59E0B"/>
                </a:solidFill>
                <a:latin typeface="Inter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Inter"/>
              </a:rPr>
              <a:t>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9D3C5"/>
                </a:solidFill>
                <a:latin typeface="Inter"/>
              </a:rPr>
              <a:t>From business card to social avatar.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27432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6309360"/>
            <a:ext cx="274320" cy="73152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6309360"/>
            <a:ext cx="1371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10  · 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The mark applied to real-world surfaces.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116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solidFill>
              <a:srgbClr val="0B14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axi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2588713"/>
            <a:ext cx="2011680" cy="49185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05840" y="3566160"/>
            <a:ext cx="1097280" cy="45720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1437"/>
                </a:solidFill>
                <a:latin typeface="Inter"/>
              </a:rPr>
              <a:t>Business card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1168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raxion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286000"/>
            <a:ext cx="1280160" cy="31299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583680" y="2834640"/>
            <a:ext cx="489204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2999232"/>
            <a:ext cx="489204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3163824"/>
            <a:ext cx="489204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3328416"/>
            <a:ext cx="489204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3703320"/>
            <a:ext cx="4892040" cy="19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886200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1437"/>
                </a:solidFill>
                <a:latin typeface="Inter"/>
              </a:rPr>
              <a:t>Letterhead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434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617720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Mohamed Sabry  ·  Founder &amp; Product 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98348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Praxion — the HR Operating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30352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F6BFF"/>
                </a:solidFill>
                <a:latin typeface="Calibri"/>
              </a:rPr>
              <a:t>mohamed.sabry@praxionhr.com  ·  praxionhr.com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1437"/>
                </a:solidFill>
                <a:latin typeface="Inter"/>
              </a:rPr>
              <a:t>Email signature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3434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raxion-icon-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4572000"/>
            <a:ext cx="1371600" cy="1371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09360" y="6217920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B1437"/>
                </a:solidFill>
                <a:latin typeface="Inter"/>
              </a:rPr>
              <a:t>Social avatar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18872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59E0B"/>
                </a:solidFill>
                <a:latin typeface="Inter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Inter"/>
              </a:rPr>
              <a:t>Do's &amp; Don'ts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9D3C5"/>
                </a:solidFill>
                <a:latin typeface="Inter"/>
              </a:rPr>
              <a:t>The three-minute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27432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6309360"/>
            <a:ext cx="274320" cy="73152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6309360"/>
            <a:ext cx="1371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11  ·  Do's &amp; Don'ts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DO'S &amp; DON'TS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The three-minute 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1168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0116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13055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Inter"/>
              </a:rPr>
              <a:t>DO  ·  LOGO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37744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Use v2 color lockup as default.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1168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011680"/>
            <a:ext cx="91440" cy="914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13055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Inter"/>
              </a:rPr>
              <a:t>DON'T  ·  LOGO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37744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Use v1 hex mark — it is archived.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0896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10896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22783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Inter"/>
              </a:rPr>
              <a:t>DO  ·  COLOR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47472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Let one brand color lead; others support.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10896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108960"/>
            <a:ext cx="91440" cy="914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22783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Inter"/>
              </a:rPr>
              <a:t>DON'T  ·  COLOR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47472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Balance signal / ion / amber equally.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0624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20624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3251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Inter"/>
              </a:rPr>
              <a:t>DO  ·  TYPOGRAPHY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57200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Pick sizes from the scale.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20624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206240"/>
            <a:ext cx="91440" cy="914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3251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Inter"/>
              </a:rPr>
              <a:t>DON'T  ·  TYPOGRAPHY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57200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Tweak font sizes off-scale to "make it fit".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30352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530352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42239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Inter"/>
              </a:rPr>
              <a:t>DO  ·  MOTION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66928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Respect prefers-reduced-motion.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5303520"/>
            <a:ext cx="5440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5303520"/>
            <a:ext cx="91440" cy="914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542239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Inter"/>
              </a:rPr>
              <a:t>DON'T  ·  MOTION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5669280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Animate for decoration alone.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18872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59E0B"/>
                </a:solidFill>
                <a:latin typeface="Inter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Inter"/>
              </a:rPr>
              <a:t>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9D3C5"/>
                </a:solidFill>
                <a:latin typeface="Inter"/>
              </a:rPr>
              <a:t>WCAG AA is the floor.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27432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6309360"/>
            <a:ext cx="274320" cy="73152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6309360"/>
            <a:ext cx="1371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12  · 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ACCESSIBILITY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WCAG 2.1 AA is the floor.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  <a:latin typeface="Calibri"/>
              </a:rPr>
              <a:t>Every Praxion surface meets WCAG 2.1 AA: 4.5:1 body contrast, 3:1 for large text, visible focus indicators, and information that doesn't depend on color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4420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Navy on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onsolas"/>
              </a:rPr>
              <a:t>15.9:1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090672"/>
            <a:ext cx="3017520" cy="256032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9067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PASSES WCAG AA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1074420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661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White on Navy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5661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onsolas"/>
              </a:rPr>
              <a:t>15.9:1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547872"/>
            <a:ext cx="3017520" cy="256032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54787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PASSES WCAG AA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1074420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0233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Signal on White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0233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onsolas"/>
              </a:rPr>
              <a:t>4.8:1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005072"/>
            <a:ext cx="3017520" cy="256032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00507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PASSES WCAG AA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389120"/>
            <a:ext cx="1074420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805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Ion on Navy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480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onsolas"/>
              </a:rPr>
              <a:t>6.7:1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462272"/>
            <a:ext cx="3017520" cy="256032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46227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PASSES WCAG AA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846320"/>
            <a:ext cx="1074420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9377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Amber on Navy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937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onsolas"/>
              </a:rPr>
              <a:t>6.9:1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919472"/>
            <a:ext cx="3017520" cy="256032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91947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PASSES WCAG AA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303520"/>
            <a:ext cx="1074420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949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1437"/>
                </a:solidFill>
                <a:latin typeface="Inter"/>
              </a:rPr>
              <a:t>Amber on White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5394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onsolas"/>
              </a:rPr>
              <a:t>2.1:1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5376672"/>
            <a:ext cx="3017520" cy="256032"/>
          </a:xfrm>
          <a:prstGeom prst="roundRect">
            <a:avLst>
              <a:gd name="adj" fmla="val 4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537667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FAILS — never use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Focus state: 3 px Signal halo at 35% opacity. Minimum touch target: 44 × 44 px. Never suppress :focus-visible.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188720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F59E0B"/>
                </a:solidFill>
                <a:latin typeface="Inter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Inter"/>
              </a:rPr>
              <a:t>Downloads &amp;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9D3C5"/>
                </a:solidFill>
                <a:latin typeface="Inter"/>
              </a:rPr>
              <a:t>Where files live; who owns the brand.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274320" cy="7315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6309360"/>
            <a:ext cx="274320" cy="73152"/>
          </a:xfrm>
          <a:prstGeom prst="rect">
            <a:avLst/>
          </a:prstGeom>
          <a:solidFill>
            <a:srgbClr val="1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0160" y="6309360"/>
            <a:ext cx="13716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SECTION 13  ·  Downloads &amp; Contacts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91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E2E8F0"/>
                </a:solidFill>
                <a:latin typeface="Calibri"/>
              </a:rPr>
              <a:t>Praxion Brand Guidelines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DOWNLOADS &amp; CONTACTS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437"/>
                </a:solidFill>
                <a:latin typeface="Inter"/>
              </a:rPr>
              <a:t>Where everything lives.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© 2026 PraxionHR · Brand Guidelines v2.0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011680"/>
            <a:ext cx="10744200" cy="41148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Asset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0312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Inter"/>
              </a:rPr>
              <a:t>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23160"/>
            <a:ext cx="10744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514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437"/>
                </a:solidFill>
                <a:latin typeface="Inter"/>
              </a:rPr>
              <a:t>Logo v2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514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/Brand/logos/v2-production/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34640"/>
            <a:ext cx="10744200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926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437"/>
                </a:solidFill>
                <a:latin typeface="Inter"/>
              </a:rPr>
              <a:t>Source SVGs (v2)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926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/Brand/logos/praxion-*-v2.svg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10744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337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437"/>
                </a:solidFill>
                <a:latin typeface="Inter"/>
              </a:rPr>
              <a:t>Brand guidelines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3375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/Brand/Praxion-Brand-Guidelines-v2.0.*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657600"/>
            <a:ext cx="10744200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49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437"/>
                </a:solidFill>
                <a:latin typeface="Inter"/>
              </a:rPr>
              <a:t>Design system (live)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7490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/Brand/praxion-design-system.html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069080"/>
            <a:ext cx="107442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160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B1437"/>
                </a:solidFill>
                <a:latin typeface="Inter"/>
              </a:rPr>
              <a:t>Legacy v1.0 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16052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onsolas"/>
              </a:rPr>
              <a:t>/Brand/Praxion-Design-System-v1.0.docx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29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BRAND 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349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B1437"/>
                </a:solidFill>
                <a:latin typeface="Inter"/>
              </a:rPr>
              <a:t>Mohamed Sabry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06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2F6BFF"/>
                </a:solidFill>
                <a:latin typeface="Calibri"/>
              </a:rPr>
              <a:t>mohamed.sabry@praxionhr.com  ·  praxionhr.com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118872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Inter"/>
              </a:rPr>
              <a:t>Build with 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9D3C5"/>
                </a:solidFill>
                <a:latin typeface="Inter"/>
              </a:rPr>
              <a:t>The HTML microsite is the live source of truth — check it before shipping.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Consolas"/>
              </a:rPr>
              <a:t>Praxion-Brand-Guidelines-v2.0.html</a:t>
            </a:r>
          </a:p>
        </p:txBody>
      </p:sp>
      <p:pic>
        <p:nvPicPr>
          <p:cNvPr id="7" name="Picture 6" descr="praxi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855" y="5500484"/>
            <a:ext cx="2560320" cy="6259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Confidential. © PraxionHR 2026. Version 2.0.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