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4" r:id="rId15"/>
    <p:sldId id="265" r:id="rId16"/>
    <p:sldId id="266" r:id="rId17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Inter"/>
              </a:defRPr>
            </a:pPr>
            <a:r>
              <a:t>PRAXION HROS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19D3C5"/>
                </a:solidFill>
                <a:latin typeface="Inter"/>
              </a:defRPr>
            </a:pPr>
            <a:r>
              <a:t>Discovery Phase Sign-Off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00400"/>
            <a:ext cx="137160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Inter"/>
              </a:defRPr>
            </a:pPr>
            <a:r>
              <a:t>Phase Gate Review &amp; Formal 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Inter"/>
              </a:defRPr>
            </a:pPr>
            <a:r>
              <a:t>April 22, 2026</a:t>
            </a:r>
          </a:p>
        </p:txBody>
      </p:sp>
      <p:pic>
        <p:nvPicPr>
          <p:cNvPr id="10" name="Picture 9" descr="praxion-icon-in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437"/>
                </a:solidFill>
                <a:latin typeface="Inter"/>
              </a:defRPr>
            </a:pPr>
            <a:r>
              <a:t>DISCOVERY PHASE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600" b="1">
                <a:solidFill>
                  <a:srgbClr val="0B1437"/>
                </a:solidFill>
                <a:latin typeface="Inter"/>
              </a:defRPr>
            </a:pPr>
            <a:r>
              <a:t>Phase Duration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0F172A"/>
                </a:solidFill>
                <a:latin typeface="Inter"/>
              </a:defRPr>
            </a:pPr>
            <a:r>
              <a:t>January 2026 — April 2026 (16 weeks)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800" b="0">
                <a:solidFill>
                  <a:srgbClr val="0F172A"/>
                </a:solidFill>
                <a:latin typeface="Inter"/>
              </a:defRPr>
            </a:pP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1">
                <a:solidFill>
                  <a:srgbClr val="0B1437"/>
                </a:solidFill>
                <a:latin typeface="Inter"/>
              </a:defRPr>
            </a:pPr>
            <a:r>
              <a:t>Objective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0F172A"/>
                </a:solidFill>
                <a:latin typeface="Inter"/>
              </a:defRPr>
            </a:pPr>
            <a:r>
              <a:t>Define complete requirements, system architecture, workflows, and implementation roadmap for the Praxion HROS platform — a comprehensive HR Operating System for Egybell and its clients.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800" b="0">
                <a:solidFill>
                  <a:srgbClr val="0F172A"/>
                </a:solidFill>
                <a:latin typeface="Inter"/>
              </a:defRPr>
            </a:pP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1">
                <a:solidFill>
                  <a:srgbClr val="0B1437"/>
                </a:solidFill>
                <a:latin typeface="Inter"/>
              </a:defRPr>
            </a:pPr>
            <a:r>
              <a:t>Key Activities Completed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0F172A"/>
                </a:solidFill>
                <a:latin typeface="Inter"/>
              </a:defRPr>
            </a:pPr>
            <a:r>
              <a:t>Stakeholder interviews with 6 core departments (HR Operations, Payroll, Recruitment, IT/Security, Legal/Compliance, Finance); structured questionnaires across 11 functional areas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0F172A"/>
                </a:solidFill>
                <a:latin typeface="Inter"/>
              </a:defRPr>
            </a:pPr>
            <a:r>
              <a:t>• Requirements analysis and documentation for 13 platform modules (M1–M13)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0F172A"/>
                </a:solidFill>
                <a:latin typeface="Inter"/>
              </a:defRPr>
            </a:pPr>
            <a:r>
              <a:t>• System architecture design: multi-tenant, cloud-native, API-first with Row-Level Security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0F172A"/>
                </a:solidFill>
                <a:latin typeface="Inter"/>
              </a:defRPr>
            </a:pPr>
            <a:r>
              <a:t>• Workflow mapping: 85+ end-to-end business processes with approval chains and exception handling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0F172A"/>
                </a:solidFill>
                <a:latin typeface="Inter"/>
              </a:defRPr>
            </a:pPr>
            <a:r>
              <a:t>• User story creation: 200+ stories across 11 user personas with acceptance criteria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0F172A"/>
                </a:solidFill>
                <a:latin typeface="Inter"/>
              </a:defRPr>
            </a:pPr>
            <a:r>
              <a:t>• Feature breakdown: 350+ features categorized by module, phase, and priority (MoSCoW)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0F172A"/>
                </a:solidFill>
                <a:latin typeface="Inter"/>
              </a:defRPr>
            </a:pPr>
            <a:r>
              <a:t>• Competitive benchmarking against Deel, Rippling, and BambooHR for feature parity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0F172A"/>
                </a:solidFill>
                <a:latin typeface="Inter"/>
              </a:defRPr>
            </a:pPr>
            <a:r>
              <a:t>• Brand identity and design system: visual identity, component library, accessibility standards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0F172A"/>
                </a:solidFill>
                <a:latin typeface="Inter"/>
              </a:defRPr>
            </a:pPr>
            <a:r>
              <a:t>• Technology stack selection and infrastructure planning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0F172A"/>
                </a:solidFill>
                <a:latin typeface="Inter"/>
              </a:defRPr>
            </a:pPr>
            <a:r>
              <a:t>• 5-phase implementation roadmap (Q3 2026 – Q3 2027)</a:t>
            </a:r>
          </a:p>
        </p:txBody>
      </p:sp>
      <p:pic>
        <p:nvPicPr>
          <p:cNvPr id="6" name="Picture 5" descr="praxion-icon-in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437"/>
                </a:solidFill>
                <a:latin typeface="Inter"/>
              </a:defRPr>
            </a:pPr>
            <a:r>
              <a:t>DELIVERABLES CHECKLIST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298448"/>
            <a:ext cx="41148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1673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26187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437"/>
                </a:solidFill>
                <a:latin typeface="Inter"/>
              </a:defRPr>
            </a:pPr>
            <a:r>
              <a:t>Business Requirements Documents (13)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5544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Complete BRDs for all 13 modules covering functional requirements, business rules, data models, integration points, and acceptance criteria. Each BRD reviewed by respective department stakeholders.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75688"/>
            <a:ext cx="10698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075688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185416"/>
            <a:ext cx="41148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0370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1488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437"/>
                </a:solidFill>
                <a:latin typeface="Inter"/>
              </a:defRPr>
            </a:pPr>
            <a:r>
              <a:t>System Architecture Document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44144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Full technical architecture specification: multi-tenant design with RLS, API specifications, database schema (PostgreSQL), caching strategy (Redis), infrastructure topology (Vercel + AWS), and security model.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962656"/>
            <a:ext cx="10698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962656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3072384"/>
            <a:ext cx="41148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0906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03580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437"/>
                </a:solidFill>
                <a:latin typeface="Inter"/>
              </a:defRPr>
            </a:pPr>
            <a:r>
              <a:t>User Access 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32841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Comprehensive security policy defining authentication methods (SSO with Google/Microsoft/Apple, MFA), session management, password policies, and data classification levels.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849624"/>
            <a:ext cx="10698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849624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3959352"/>
            <a:ext cx="41148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7763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92277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437"/>
                </a:solidFill>
                <a:latin typeface="Inter"/>
              </a:defRPr>
            </a:pPr>
            <a:r>
              <a:t>User Access Matrix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215384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Detailed role-permission mapping for 11 user types across all 13 modules. Defines read/write/admin access per feature per role with tenant-level overrides.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736592"/>
            <a:ext cx="10698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736592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4846320"/>
            <a:ext cx="41148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864607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809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437"/>
                </a:solidFill>
                <a:latin typeface="Inter"/>
              </a:defRPr>
            </a:pPr>
            <a:r>
              <a:t>Brand Guidelines &amp; Design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10235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Complete visual identity: color palette (Navy, Signal Blue, Ion Teal), typography (Inter), logo usage rules, spacing system (4px base), plus component library with accessibility standards (WCAG 2.1 AA).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623559"/>
            <a:ext cx="10698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5623559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0" y="5733288"/>
            <a:ext cx="41148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751575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569671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437"/>
                </a:solidFill>
                <a:latin typeface="Inter"/>
              </a:defRPr>
            </a:pPr>
            <a:r>
              <a:t>Discovery Questionnaires (11)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59893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Structured interview questionnaires for 11 departments/functions. Responses collected, analyzed, and findings incorporated into BRDs and workflow documentation.</a:t>
            </a:r>
          </a:p>
        </p:txBody>
      </p:sp>
      <p:pic>
        <p:nvPicPr>
          <p:cNvPr id="40" name="Picture 39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437"/>
                </a:solidFill>
                <a:latin typeface="Inter"/>
              </a:defRPr>
            </a:pPr>
            <a:r>
              <a:t>DELIVERABLES CHECKLIST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298448"/>
            <a:ext cx="41148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1673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26187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437"/>
                </a:solidFill>
                <a:latin typeface="Inter"/>
              </a:defRPr>
            </a:pPr>
            <a:r>
              <a:t>Workflows Reference (85+ Flows)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5544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End-to-end process maps for every module with visual flowcharts. Includes approval chains, decision points, exception handling, SLA requirements, and system touchpoints. Covers employee lifecycle, payroll, recruitment, and all operational processes.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75688"/>
            <a:ext cx="10698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075688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185416"/>
            <a:ext cx="41148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0370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1488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437"/>
                </a:solidFill>
                <a:latin typeface="Inter"/>
              </a:defRPr>
            </a:pPr>
            <a:r>
              <a:t>User Journey Maps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44144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Complete user journeys for all 11 personas across key scenarios — from employee self-service to admin workflows. Maps touchpoints, pain points, emotions, and opportunities for each journey.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962656"/>
            <a:ext cx="10698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962656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3072384"/>
            <a:ext cx="41148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0906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03580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437"/>
                </a:solidFill>
                <a:latin typeface="Inter"/>
              </a:defRPr>
            </a:pPr>
            <a:r>
              <a:t>User Stories Master (200+ Stories)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32841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Categorized by module and persona in 'As a [Role], I want to [Action], so that [Benefit]' format. Each story includes acceptance criteria, priority (MoSCoW), estimated complexity, and module dependency mapping.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849624"/>
            <a:ext cx="10698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849624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3959352"/>
            <a:ext cx="41148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7763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92277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437"/>
                </a:solidFill>
                <a:latin typeface="Inter"/>
              </a:defRPr>
            </a:pPr>
            <a:r>
              <a:t>Feature Breakdown (350+ Features)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215384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Detailed feature list categorized by module, phase, and priority. Includes effort estimates (T-shirt sizing), dependency mapping, and phase assignment for the 5-phase rollout plan.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736592"/>
            <a:ext cx="10698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736592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4846320"/>
            <a:ext cx="41148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864607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809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437"/>
                </a:solidFill>
                <a:latin typeface="Inter"/>
              </a:defRPr>
            </a:pPr>
            <a:r>
              <a:t>Competitive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10235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Market positioning study comparing Praxion HROS against Deel, Rippling, and BambooHR. Identifies 12 differentiation areas, 4 unique advantages (Egyptian labor law, Arabic/RTL, multi-tenant outsourcing, MENA focus).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623559"/>
            <a:ext cx="10698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5623559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0" y="5733288"/>
            <a:ext cx="41148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751575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569671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437"/>
                </a:solidFill>
                <a:latin typeface="Inter"/>
              </a:defRPr>
            </a:pPr>
            <a:r>
              <a:t>Implementation Roadmap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59893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5-phase delivery plan spanning Q3 2026 – Q3 2027. Phase 1: Core HRIS + System Admin. Phase 2: Recruitment + Onboarding + Performance. Phase 3: Payroll + Benefits + Training. Phase 4: Contractors + Analytics + Mobile. Phase 5: Client Portal + Billing + Go Live.</a:t>
            </a:r>
          </a:p>
        </p:txBody>
      </p:sp>
      <p:pic>
        <p:nvPicPr>
          <p:cNvPr id="40" name="Picture 39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437"/>
                </a:solidFill>
                <a:latin typeface="Inter"/>
              </a:defRPr>
            </a:pPr>
            <a:r>
              <a:t>KEY DECISIONS MADE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Inter"/>
              </a:defRPr>
            </a:pPr>
            <a:r>
              <a:t>Strategic and Technical Decisions Requiring Confirmation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349240" cy="15544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349240" cy="36576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19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437"/>
                </a:solidFill>
                <a:latin typeface="Inter"/>
              </a:defRPr>
            </a:pPr>
            <a:r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983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Inter"/>
              </a:defRPr>
            </a:pPr>
            <a:r>
              <a:t>Frontend: Next.js 14+ / TypeScript / Tailwind CSS</a:t>
            </a:r>
            <a:br/>
            <a:r>
              <a:t>Backend: Node.js / PostgreSQL / Supabase / Redis</a:t>
            </a:r>
            <a:br/>
            <a:r>
              <a:t>Infrastructure: Vercel (hosting) + AWS S3 (storage) + Docker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280160"/>
            <a:ext cx="5349240" cy="15544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280160"/>
            <a:ext cx="5349240" cy="36576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17319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437"/>
                </a:solidFill>
                <a:latin typeface="Inter"/>
              </a:defRPr>
            </a:pPr>
            <a:r>
              <a:t>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37360"/>
            <a:ext cx="4983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Inter"/>
              </a:defRPr>
            </a:pPr>
            <a:r>
              <a:t>Multi-tenant with database-level Row-Level Security (RLS)</a:t>
            </a:r>
            <a:br/>
            <a:r>
              <a:t>API-first design with REST endpoints</a:t>
            </a:r>
            <a:br/>
            <a:r>
              <a:t>Real-time subscriptions via Supabase channels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063239"/>
            <a:ext cx="5349240" cy="15544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063239"/>
            <a:ext cx="534924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00399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437"/>
                </a:solidFill>
                <a:latin typeface="Inter"/>
              </a:defRPr>
            </a:pPr>
            <a:r>
              <a:t>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20439"/>
            <a:ext cx="4983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Inter"/>
              </a:defRPr>
            </a:pPr>
            <a:r>
              <a:t>Cloud-first: Vercel for edge deployment + AWS for storage</a:t>
            </a:r>
            <a:br/>
            <a:r>
              <a:t>CI/CD via GitHub Actions</a:t>
            </a:r>
            <a:br/>
            <a:r>
              <a:t>Staging + Production environments with preview branches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063239"/>
            <a:ext cx="5349240" cy="15544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063239"/>
            <a:ext cx="534924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200399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437"/>
                </a:solidFill>
                <a:latin typeface="Inter"/>
              </a:defRPr>
            </a:pPr>
            <a:r>
              <a:t>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520439"/>
            <a:ext cx="4983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Inter"/>
              </a:defRPr>
            </a:pPr>
            <a:r>
              <a:t>Egyptian Labor Law — built into payroll, contracts, and HR rules</a:t>
            </a:r>
            <a:br/>
            <a:r>
              <a:t>PDPL (Personal Data Protection Law) — encryption at rest/transit</a:t>
            </a:r>
            <a:br/>
            <a:r>
              <a:t>Social Insurance Authority integration for Form 2 &amp; Form 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846320"/>
            <a:ext cx="5349240" cy="15544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846320"/>
            <a:ext cx="534924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98348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437"/>
                </a:solidFill>
                <a:latin typeface="Inter"/>
              </a:defRPr>
            </a:pPr>
            <a:r>
              <a:t>Localization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03520"/>
            <a:ext cx="4983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Inter"/>
              </a:defRPr>
            </a:pPr>
            <a:r>
              <a:t>Bilingual Arabic (AR) / English (EN) throughout the platform</a:t>
            </a:r>
            <a:br/>
            <a:r>
              <a:t>Full RTL layout support with seamless language switching</a:t>
            </a:r>
            <a:br/>
            <a:r>
              <a:t>Localized date, currency, and number formats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4846320"/>
            <a:ext cx="5349240" cy="15544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846320"/>
            <a:ext cx="53492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98348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437"/>
                </a:solidFill>
                <a:latin typeface="Inter"/>
              </a:defRPr>
            </a:pPr>
            <a:r>
              <a:t>Accessibility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303520"/>
            <a:ext cx="4983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Inter"/>
              </a:defRPr>
            </a:pPr>
            <a:r>
              <a:t>WCAG 2.1 AA compliance — screen readers, keyboard nav</a:t>
            </a:r>
            <a:br/>
            <a:r>
              <a:t>Minimum contrast ratios, focus indicators, ARIA labels</a:t>
            </a:r>
            <a:br/>
            <a:r>
              <a:t>Responsive design: desktop, tablet, mobile</a:t>
            </a:r>
          </a:p>
        </p:txBody>
      </p:sp>
      <p:pic>
        <p:nvPicPr>
          <p:cNvPr id="29" name="Picture 28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437"/>
                </a:solidFill>
                <a:latin typeface="Inter"/>
              </a:defRPr>
            </a:pPr>
            <a:r>
              <a:t>RISKS &amp;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Inter"/>
              </a:defRPr>
            </a:pPr>
            <a:r>
              <a:t>Identified Risks with Planned Mitigation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20040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Inter"/>
              </a:defRPr>
            </a:pPr>
            <a:r>
              <a:t>Risk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280160"/>
            <a:ext cx="109728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1325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280160"/>
            <a:ext cx="109728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325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Likelihood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280160"/>
            <a:ext cx="512064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325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Inter"/>
              </a:defRPr>
            </a:pPr>
            <a:r>
              <a:t>Mitigation Strategy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737360"/>
            <a:ext cx="3200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81051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Scope creep across 13 modules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1737360"/>
            <a:ext cx="10972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187451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F4444"/>
                </a:solidFill>
                <a:latin typeface="Inter"/>
              </a:defRPr>
            </a:pPr>
            <a:r>
              <a:t>High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737360"/>
            <a:ext cx="10972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87451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Inter"/>
              </a:defRPr>
            </a:pPr>
            <a:r>
              <a:t>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737360"/>
            <a:ext cx="5120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81051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Strict phase gates. Each phase requires formal sign-off before next phase begins. Change control board for scope changes.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395728"/>
            <a:ext cx="3200400" cy="5943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468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Egyptian labor law complexity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2395728"/>
            <a:ext cx="1097280" cy="5943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25328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F4444"/>
                </a:solidFill>
                <a:latin typeface="Inter"/>
              </a:defRPr>
            </a:pPr>
            <a:r>
              <a:t>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2395728"/>
            <a:ext cx="1097280" cy="5943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25328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Inter"/>
              </a:defRPr>
            </a:pPr>
            <a:r>
              <a:t>Medium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395728"/>
            <a:ext cx="5120640" cy="5943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468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Legal counsel review at each phase. Built-in regulatory update mechanism. Compliance team engaged throughout development.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054096"/>
            <a:ext cx="3200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12724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Multi-tenant data isolation failure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1920" y="3054096"/>
            <a:ext cx="10972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0" y="31912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F4444"/>
                </a:solidFill>
                <a:latin typeface="Inter"/>
              </a:defRPr>
            </a:pPr>
            <a:r>
              <a:t>Critical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3054096"/>
            <a:ext cx="10972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31912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Inter"/>
              </a:defRPr>
            </a:pPr>
            <a:r>
              <a:t>Low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054096"/>
            <a:ext cx="5120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312724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Row-Level Security at database level. Penetration testing per phase. Third-party security audit before go-live.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712464"/>
            <a:ext cx="3200400" cy="5943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378561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User adoption resistance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31920" y="3712464"/>
            <a:ext cx="1097280" cy="5943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31920" y="384962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Inter"/>
              </a:defRPr>
            </a:pPr>
            <a:r>
              <a:t>Medium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0" y="3712464"/>
            <a:ext cx="1097280" cy="5943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384962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Inter"/>
              </a:defRPr>
            </a:pPr>
            <a:r>
              <a:t>High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3712464"/>
            <a:ext cx="5120640" cy="5943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378561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Change management plan with training program. Phased rollout starting with champion users. Feedback loops built into each sprint.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370831"/>
            <a:ext cx="3200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4443983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Integration complexity with legacy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31920" y="4370831"/>
            <a:ext cx="10972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31920" y="45079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Inter"/>
              </a:defRPr>
            </a:pPr>
            <a:r>
              <a:t>Medium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0" y="4370831"/>
            <a:ext cx="10972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0" y="45079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Inter"/>
              </a:defRPr>
            </a:pPr>
            <a:r>
              <a:t>Medium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4370831"/>
            <a:ext cx="5120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0" y="4443983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API-first architecture with standard protocols. Integration testing environment. Fallback manual processes during transition.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5029200"/>
            <a:ext cx="3200400" cy="5943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51023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Resource availability for 15-month project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31920" y="5029200"/>
            <a:ext cx="1097280" cy="5943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0" y="5166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F4444"/>
                </a:solidFill>
                <a:latin typeface="Inter"/>
              </a:defRPr>
            </a:pPr>
            <a:r>
              <a:t>High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0" y="5029200"/>
            <a:ext cx="1097280" cy="5943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0" y="5166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Inter"/>
              </a:defRPr>
            </a:pPr>
            <a:r>
              <a:t>Medium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26480" y="5029200"/>
            <a:ext cx="5120640" cy="5943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17920" y="510235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Dual sourcing: in-house core + pre-qualified freelancer pool (2–3 devs on retainer). Active hiring pipeline opens Q2 2026. Cross-training matrix: every role has a backup. Vendor partner (Egybell IT) as surge capacity.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5687568"/>
            <a:ext cx="3200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2960" y="5760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Performance at scale (multi-tenant)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931920" y="5687568"/>
            <a:ext cx="10972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31920" y="58247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F4444"/>
                </a:solidFill>
                <a:latin typeface="Inter"/>
              </a:defRPr>
            </a:pPr>
            <a:r>
              <a:t>High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0" y="5687568"/>
            <a:ext cx="10972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0" y="58247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Inter"/>
              </a:defRPr>
            </a:pPr>
            <a:r>
              <a:t>Low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26480" y="5687568"/>
            <a:ext cx="5120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0" y="5760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Load testing from Phase 1. Database optimization and caching strategy. Auto-scaling infrastructure on Vercel/AWS.</a:t>
            </a:r>
          </a:p>
        </p:txBody>
      </p:sp>
      <p:pic>
        <p:nvPicPr>
          <p:cNvPr id="69" name="Picture 68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0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54864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3200" b="1">
                <a:solidFill>
                  <a:srgbClr val="0B1437"/>
                </a:solidFill>
                <a:latin typeface="Inter"/>
              </a:rPr>
              <a:t>DATA MIGRATION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40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From Excel + Paper + WhatsApp to Praxion HROS — Phased Cutover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0000"/>
            <a:ext cx="50000" cy="1800000"/>
          </a:xfrm>
          <a:prstGeom prst="rect">
            <a:avLst/>
          </a:prstGeom>
          <a:solidFill>
            <a:srgbClr val="0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81520" y="1500000"/>
            <a:ext cx="3450000" cy="1800000"/>
          </a:xfrm>
          <a:prstGeom prst="rect">
            <a:avLst/>
          </a:prstGeom>
          <a:solidFill>
            <a:srgbClr val="F7F8FB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1520" y="1580000"/>
            <a:ext cx="3350000" cy="40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600" b="1">
                <a:solidFill>
                  <a:srgbClr val="0B1437"/>
                </a:solidFill>
                <a:latin typeface="Inter"/>
              </a:rPr>
              <a:t>1. Source System 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520" y="2000000"/>
            <a:ext cx="3350000" cy="125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Audit every Excel file, paper register, WhatsApp archive, and shared drive used today. Map to Praxion data entities (employee, role, leave, payslip).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5280" y="1500000"/>
            <a:ext cx="50000" cy="1800000"/>
          </a:xfrm>
          <a:prstGeom prst="rect">
            <a:avLst/>
          </a:prstGeom>
          <a:solidFill>
            <a:srgbClr val="3B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5280" y="1500000"/>
            <a:ext cx="3450000" cy="1800000"/>
          </a:xfrm>
          <a:prstGeom prst="rect">
            <a:avLst/>
          </a:prstGeom>
          <a:solidFill>
            <a:srgbClr val="F7F8FB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5280" y="1580000"/>
            <a:ext cx="3350000" cy="40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600" b="1">
                <a:solidFill>
                  <a:srgbClr val="0B1437"/>
                </a:solidFill>
                <a:latin typeface="Inter"/>
              </a:rPr>
              <a:t>2. Data Quality &amp; Cleansing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5280" y="2000000"/>
            <a:ext cx="3350000" cy="125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Deduplicate records, normalize date/format fields, reconcile conflicting sources, flag gaps. HR Ops validates before migration. Cleansing precedes load.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9040" y="1500000"/>
            <a:ext cx="50000" cy="180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9040" y="1500000"/>
            <a:ext cx="3450000" cy="1800000"/>
          </a:xfrm>
          <a:prstGeom prst="rect">
            <a:avLst/>
          </a:prstGeom>
          <a:solidFill>
            <a:srgbClr val="F7F8FB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59040" y="1580000"/>
            <a:ext cx="3350000" cy="40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600" b="1">
                <a:solidFill>
                  <a:srgbClr val="0B1437"/>
                </a:solidFill>
                <a:latin typeface="Inter"/>
              </a:rPr>
              <a:t>3. Migration Tooling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9040" y="2000000"/>
            <a:ext cx="3350000" cy="125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Build CSV/Excel importers with field mapping UI, validation rules, dry-run preview, rollback on failure. Same tool used by Egybell for client onboarding later.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450000"/>
            <a:ext cx="50000" cy="1800000"/>
          </a:xfrm>
          <a:prstGeom prst="rect">
            <a:avLst/>
          </a:prstGeom>
          <a:solidFill>
            <a:srgbClr val="0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1520" y="3450000"/>
            <a:ext cx="3450000" cy="1800000"/>
          </a:xfrm>
          <a:prstGeom prst="rect">
            <a:avLst/>
          </a:prstGeom>
          <a:solidFill>
            <a:srgbClr val="F7F8FB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520" y="3530000"/>
            <a:ext cx="3350000" cy="40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600" b="1">
                <a:solidFill>
                  <a:srgbClr val="0B1437"/>
                </a:solidFill>
                <a:latin typeface="Inter"/>
              </a:rPr>
              <a:t>4. Phased Cutover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520" y="3950000"/>
            <a:ext cx="3350000" cy="125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Migrate Core HRIS data at Phase 1 go-live. Payroll history migrated at Phase 3. Historical records archived read-only; no active rewrites after cutover.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5280" y="3450000"/>
            <a:ext cx="50000" cy="1800000"/>
          </a:xfrm>
          <a:prstGeom prst="rect">
            <a:avLst/>
          </a:prstGeom>
          <a:solidFill>
            <a:srgbClr val="3B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95280" y="3450000"/>
            <a:ext cx="3450000" cy="1800000"/>
          </a:xfrm>
          <a:prstGeom prst="rect">
            <a:avLst/>
          </a:prstGeom>
          <a:solidFill>
            <a:srgbClr val="F7F8FB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5280" y="3530000"/>
            <a:ext cx="3350000" cy="40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600" b="1">
                <a:solidFill>
                  <a:srgbClr val="0B1437"/>
                </a:solidFill>
                <a:latin typeface="Inter"/>
              </a:rPr>
              <a:t>5. Parallel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5280" y="3950000"/>
            <a:ext cx="3350000" cy="125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Run old and new systems in parallel for 1–2 cycles per module. Reconcile outputs (payslips, reports). Sign-off required before old system is retired.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9040" y="3450000"/>
            <a:ext cx="50000" cy="180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9040" y="3450000"/>
            <a:ext cx="3450000" cy="1800000"/>
          </a:xfrm>
          <a:prstGeom prst="rect">
            <a:avLst/>
          </a:prstGeom>
          <a:solidFill>
            <a:srgbClr val="F7F8FB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59040" y="3530000"/>
            <a:ext cx="3350000" cy="40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600" b="1">
                <a:solidFill>
                  <a:srgbClr val="0B1437"/>
                </a:solidFill>
                <a:latin typeface="Inter"/>
              </a:rPr>
              <a:t>6. Rollback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9040" y="3950000"/>
            <a:ext cx="3350000" cy="125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Every migration step is reversible. Backups taken pre-load. If go-live fails acceptance, revert to legacy and re-plan. Chairman approves each cutover.</a:t>
            </a:r>
          </a:p>
        </p:txBody>
      </p:sp>
      <p:pic>
        <p:nvPicPr>
          <p:cNvPr id="29" name="Picture 28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0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54864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3200" b="1">
                <a:solidFill>
                  <a:srgbClr val="0B1437"/>
                </a:solidFill>
                <a:latin typeface="Inter"/>
              </a:rPr>
              <a:t>EXTERNAL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40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Third-Party Systems and Authorities Outside Egybell's Direct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0000"/>
            <a:ext cx="2600000" cy="360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1520" y="1540000"/>
            <a:ext cx="2500000" cy="32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Dependency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1520" y="1500000"/>
            <a:ext cx="1300000" cy="360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11520" y="1540000"/>
            <a:ext cx="1200000" cy="32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Needed by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1520" y="1500000"/>
            <a:ext cx="3300000" cy="360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11520" y="1540000"/>
            <a:ext cx="3200000" cy="32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Impact if Delayed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1520" y="1500000"/>
            <a:ext cx="3550000" cy="360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1520" y="1540000"/>
            <a:ext cx="3450000" cy="32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Mitigation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860000"/>
            <a:ext cx="2600000" cy="520000"/>
          </a:xfrm>
          <a:prstGeom prst="rect">
            <a:avLst/>
          </a:prstGeom>
          <a:solidFill>
            <a:srgbClr val="F7F8FB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520" y="1920000"/>
            <a:ext cx="2480000" cy="44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Egyptian Social Insurance Authority (Form 2/6 API)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1520" y="1860000"/>
            <a:ext cx="1300000" cy="520000"/>
          </a:xfrm>
          <a:prstGeom prst="rect">
            <a:avLst/>
          </a:prstGeom>
          <a:solidFill>
            <a:srgbClr val="F7F8FB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1520" y="1920000"/>
            <a:ext cx="1180000" cy="44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Phase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31520" y="1860000"/>
            <a:ext cx="3300000" cy="520000"/>
          </a:xfrm>
          <a:prstGeom prst="rect">
            <a:avLst/>
          </a:prstGeom>
          <a:solidFill>
            <a:srgbClr val="F7F8FB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11520" y="1920000"/>
            <a:ext cx="3180000" cy="44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Payroll module cannot auto-submit social insurance forms. Manual filing continues.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31520" y="1860000"/>
            <a:ext cx="3550000" cy="520000"/>
          </a:xfrm>
          <a:prstGeom prst="rect">
            <a:avLst/>
          </a:prstGeom>
          <a:solidFill>
            <a:srgbClr val="F7F8FB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1520" y="1920000"/>
            <a:ext cx="3430000" cy="44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Begin API access request in Phase 1. Fallback: generate forms as PDF for manual submission.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380000"/>
            <a:ext cx="2600000" cy="5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520" y="2440000"/>
            <a:ext cx="2480000" cy="44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Egyptian Tax Authority (income tax + e-invoicing)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1520" y="2380000"/>
            <a:ext cx="1300000" cy="5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11520" y="2440000"/>
            <a:ext cx="1180000" cy="44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Phase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31520" y="2380000"/>
            <a:ext cx="3300000" cy="5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11520" y="2440000"/>
            <a:ext cx="3180000" cy="44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No auto-reporting of income tax withholding; no e-invoices for M13 billing.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31520" y="2380000"/>
            <a:ext cx="3550000" cy="5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1520" y="2440000"/>
            <a:ext cx="3430000" cy="44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Engage tax advisors. Build export-to-manual path. e-Invoicing integration may slip to Phase 5.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2900000"/>
            <a:ext cx="2600000" cy="520000"/>
          </a:xfrm>
          <a:prstGeom prst="rect">
            <a:avLst/>
          </a:prstGeom>
          <a:solidFill>
            <a:srgbClr val="F7F8FB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520" y="2960000"/>
            <a:ext cx="2480000" cy="44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Commercial Bank APIs (payroll disbursement)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1520" y="2900000"/>
            <a:ext cx="1300000" cy="520000"/>
          </a:xfrm>
          <a:prstGeom prst="rect">
            <a:avLst/>
          </a:prstGeom>
          <a:solidFill>
            <a:srgbClr val="F7F8FB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11520" y="2960000"/>
            <a:ext cx="1180000" cy="44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Phase 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31520" y="2900000"/>
            <a:ext cx="3300000" cy="520000"/>
          </a:xfrm>
          <a:prstGeom prst="rect">
            <a:avLst/>
          </a:prstGeom>
          <a:solidFill>
            <a:srgbClr val="F7F8FB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11520" y="2960000"/>
            <a:ext cx="3180000" cy="44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Payroll cannot auto-push salary transfers; requires manual bank files.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31520" y="2900000"/>
            <a:ext cx="3550000" cy="520000"/>
          </a:xfrm>
          <a:prstGeom prst="rect">
            <a:avLst/>
          </a:prstGeom>
          <a:solidFill>
            <a:srgbClr val="F7F8FB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1520" y="2960000"/>
            <a:ext cx="3430000" cy="44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Start with file-based (XLS/XML) bank exports at Phase 3. API integration added as banks allow.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420000"/>
            <a:ext cx="2600000" cy="5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1520" y="3480000"/>
            <a:ext cx="2480000" cy="44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SSO Identity Providers (Google, Microsoft, Apple)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31520" y="3420000"/>
            <a:ext cx="1300000" cy="5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11520" y="3480000"/>
            <a:ext cx="1180000" cy="44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Phase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31520" y="3420000"/>
            <a:ext cx="3300000" cy="5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1520" y="3480000"/>
            <a:ext cx="3180000" cy="44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Users cannot sign in via corporate identity. Must use local accounts.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31520" y="3420000"/>
            <a:ext cx="3550000" cy="5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11520" y="3480000"/>
            <a:ext cx="3430000" cy="44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Use local accounts with MFA as fallback. SSO added in Phase 1.5 after initial go-live.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3940000"/>
            <a:ext cx="2600000" cy="520000"/>
          </a:xfrm>
          <a:prstGeom prst="rect">
            <a:avLst/>
          </a:prstGeom>
          <a:solidFill>
            <a:srgbClr val="F7F8FB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1520" y="4000000"/>
            <a:ext cx="2480000" cy="44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Cloud Infrastructure (Vercel, Supabase, AWS)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31520" y="3940000"/>
            <a:ext cx="1300000" cy="520000"/>
          </a:xfrm>
          <a:prstGeom prst="rect">
            <a:avLst/>
          </a:prstGeom>
          <a:solidFill>
            <a:srgbClr val="F7F8FB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11520" y="4000000"/>
            <a:ext cx="1180000" cy="44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Phase 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31520" y="3940000"/>
            <a:ext cx="3300000" cy="520000"/>
          </a:xfrm>
          <a:prstGeom prst="rect">
            <a:avLst/>
          </a:prstGeom>
          <a:solidFill>
            <a:srgbClr val="F7F8FB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11520" y="4000000"/>
            <a:ext cx="3180000" cy="44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Hosting, DB, storage unavailable. Platform cannot run.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31520" y="3940000"/>
            <a:ext cx="3550000" cy="520000"/>
          </a:xfrm>
          <a:prstGeom prst="rect">
            <a:avLst/>
          </a:prstGeom>
          <a:solidFill>
            <a:srgbClr val="F7F8FB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11520" y="4000000"/>
            <a:ext cx="3430000" cy="44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Multi-provider strategy. Contracts signed before Phase 1 dev kicks off. Status pages monitored.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4460000"/>
            <a:ext cx="2600000" cy="5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1520" y="4520000"/>
            <a:ext cx="2480000" cy="44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Legal Counsel (PDPL + Egyptian Labor Law review)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31520" y="4460000"/>
            <a:ext cx="1300000" cy="5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11520" y="4520000"/>
            <a:ext cx="1180000" cy="44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Every phase gate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31520" y="4460000"/>
            <a:ext cx="3300000" cy="5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11520" y="4520000"/>
            <a:ext cx="3180000" cy="44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Cannot certify compliance; puts chairman sign-off at risk.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31520" y="4460000"/>
            <a:ext cx="3550000" cy="5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11520" y="4520000"/>
            <a:ext cx="3430000" cy="44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External legal firm on retainer. Scheduled review at each phase gate with documented sign-off.</a:t>
            </a:r>
          </a:p>
        </p:txBody>
      </p:sp>
      <p:pic>
        <p:nvPicPr>
          <p:cNvPr id="61" name="Picture 60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0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54864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3200" b="1">
                <a:solidFill>
                  <a:srgbClr val="0B1437"/>
                </a:solidFill>
                <a:latin typeface="Inter"/>
              </a:rPr>
              <a:t>DEFERRED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40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What Discovery Surfaced but Was Consciously Pushed Out of the 15-Month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0000"/>
            <a:ext cx="5400000" cy="40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1520" y="1560000"/>
            <a:ext cx="5250000" cy="35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Deferred to Post-Launch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59680" y="1500000"/>
            <a:ext cx="5400000" cy="40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9680" y="1560000"/>
            <a:ext cx="5250000" cy="35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Out of Scope for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520" y="2000000"/>
            <a:ext cx="5300000" cy="487500"/>
          </a:xfrm>
          <a:prstGeom prst="rect">
            <a:avLst/>
          </a:prstGeom>
          <a:noFill/>
        </p:spPr>
        <p:txBody>
          <a:bodyPr wrap="square" lIns="60000" rIns="60000" tIns="20000" bIns="20000">
            <a:spAutoFit/>
          </a:bodyPr>
          <a:lstStyle/>
          <a:p>
            <a:r>
              <a:rPr sz="1100">
                <a:solidFill>
                  <a:srgbClr val="0F172A"/>
                </a:solidFill>
                <a:latin typeface="Inter"/>
              </a:rPr>
              <a:t>• Advanced AI/ML features (attrition prediction, compensation modelling)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520" y="2487500"/>
            <a:ext cx="5300000" cy="487500"/>
          </a:xfrm>
          <a:prstGeom prst="rect">
            <a:avLst/>
          </a:prstGeom>
          <a:noFill/>
        </p:spPr>
        <p:txBody>
          <a:bodyPr wrap="square" lIns="60000" rIns="60000" tIns="20000" bIns="20000">
            <a:spAutoFit/>
          </a:bodyPr>
          <a:lstStyle/>
          <a:p>
            <a:r>
              <a:rPr sz="1100">
                <a:solidFill>
                  <a:srgbClr val="0F172A"/>
                </a:solidFill>
                <a:latin typeface="Inter"/>
              </a:rPr>
              <a:t>• Native iOS app (launch Android-first, native iOS in later release)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520" y="2975000"/>
            <a:ext cx="5300000" cy="487500"/>
          </a:xfrm>
          <a:prstGeom prst="rect">
            <a:avLst/>
          </a:prstGeom>
          <a:noFill/>
        </p:spPr>
        <p:txBody>
          <a:bodyPr wrap="square" lIns="60000" rIns="60000" tIns="20000" bIns="20000">
            <a:spAutoFit/>
          </a:bodyPr>
          <a:lstStyle/>
          <a:p>
            <a:r>
              <a:rPr sz="1100">
                <a:solidFill>
                  <a:srgbClr val="0F172A"/>
                </a:solidFill>
                <a:latin typeface="Inter"/>
              </a:rPr>
              <a:t>• Automated e-invoicing integration with Egyptian Tax Authority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520" y="3462500"/>
            <a:ext cx="5300000" cy="487500"/>
          </a:xfrm>
          <a:prstGeom prst="rect">
            <a:avLst/>
          </a:prstGeom>
          <a:noFill/>
        </p:spPr>
        <p:txBody>
          <a:bodyPr wrap="square" lIns="60000" rIns="60000" tIns="20000" bIns="20000">
            <a:spAutoFit/>
          </a:bodyPr>
          <a:lstStyle/>
          <a:p>
            <a:r>
              <a:rPr sz="1100">
                <a:solidFill>
                  <a:srgbClr val="0F172A"/>
                </a:solidFill>
                <a:latin typeface="Inter"/>
              </a:rPr>
              <a:t>• Arabic translation of help content and in-app 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520" y="3950000"/>
            <a:ext cx="5300000" cy="487500"/>
          </a:xfrm>
          <a:prstGeom prst="rect">
            <a:avLst/>
          </a:prstGeom>
          <a:noFill/>
        </p:spPr>
        <p:txBody>
          <a:bodyPr wrap="square" lIns="60000" rIns="60000" tIns="20000" bIns="20000">
            <a:spAutoFit/>
          </a:bodyPr>
          <a:lstStyle/>
          <a:p>
            <a:r>
              <a:rPr sz="1100">
                <a:solidFill>
                  <a:srgbClr val="0F172A"/>
                </a:solidFill>
                <a:latin typeface="Inter"/>
              </a:rPr>
              <a:t>• Employee engagement surveys and pulse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520" y="4437500"/>
            <a:ext cx="5300000" cy="487500"/>
          </a:xfrm>
          <a:prstGeom prst="rect">
            <a:avLst/>
          </a:prstGeom>
          <a:noFill/>
        </p:spPr>
        <p:txBody>
          <a:bodyPr wrap="square" lIns="60000" rIns="60000" tIns="20000" bIns="20000">
            <a:spAutoFit/>
          </a:bodyPr>
          <a:lstStyle/>
          <a:p>
            <a:r>
              <a:rPr sz="1100">
                <a:solidFill>
                  <a:srgbClr val="0F172A"/>
                </a:solidFill>
                <a:latin typeface="Inter"/>
              </a:rPr>
              <a:t>• 360° feedback beyond basic peer reviews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520" y="4925000"/>
            <a:ext cx="5300000" cy="487500"/>
          </a:xfrm>
          <a:prstGeom prst="rect">
            <a:avLst/>
          </a:prstGeom>
          <a:noFill/>
        </p:spPr>
        <p:txBody>
          <a:bodyPr wrap="square" lIns="60000" rIns="60000" tIns="20000" bIns="20000">
            <a:spAutoFit/>
          </a:bodyPr>
          <a:lstStyle/>
          <a:p>
            <a:r>
              <a:rPr sz="1100">
                <a:solidFill>
                  <a:srgbClr val="0F172A"/>
                </a:solidFill>
                <a:latin typeface="Inter"/>
              </a:rPr>
              <a:t>• Advanced analytics: cohort retention, tenure heatmaps, DEI dashboards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520" y="5412500"/>
            <a:ext cx="5300000" cy="487500"/>
          </a:xfrm>
          <a:prstGeom prst="rect">
            <a:avLst/>
          </a:prstGeom>
          <a:noFill/>
        </p:spPr>
        <p:txBody>
          <a:bodyPr wrap="square" lIns="60000" rIns="60000" tIns="20000" bIns="20000">
            <a:spAutoFit/>
          </a:bodyPr>
          <a:lstStyle/>
          <a:p>
            <a:r>
              <a:rPr sz="1100">
                <a:solidFill>
                  <a:srgbClr val="0F172A"/>
                </a:solidFill>
                <a:latin typeface="Inter"/>
              </a:rPr>
              <a:t>• API marketplace / third-party integration 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9680" y="2000000"/>
            <a:ext cx="5300000" cy="650000"/>
          </a:xfrm>
          <a:prstGeom prst="rect">
            <a:avLst/>
          </a:prstGeom>
          <a:noFill/>
        </p:spPr>
        <p:txBody>
          <a:bodyPr wrap="square" lIns="60000" rIns="60000" tIns="20000" bIns="20000">
            <a:spAutoFit/>
          </a:bodyPr>
          <a:lstStyle/>
          <a:p>
            <a:r>
              <a:rPr sz="1100">
                <a:solidFill>
                  <a:srgbClr val="0F172A"/>
                </a:solidFill>
                <a:latin typeface="Inter"/>
              </a:rPr>
              <a:t>• Multi-country payroll (beyond Egypt) — covered if/when Egybell expands regionally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9680" y="2650000"/>
            <a:ext cx="5300000" cy="650000"/>
          </a:xfrm>
          <a:prstGeom prst="rect">
            <a:avLst/>
          </a:prstGeom>
          <a:noFill/>
        </p:spPr>
        <p:txBody>
          <a:bodyPr wrap="square" lIns="60000" rIns="60000" tIns="20000" bIns="20000">
            <a:spAutoFit/>
          </a:bodyPr>
          <a:lstStyle/>
          <a:p>
            <a:r>
              <a:rPr sz="1100">
                <a:solidFill>
                  <a:srgbClr val="0F172A"/>
                </a:solidFill>
                <a:latin typeface="Inter"/>
              </a:rPr>
              <a:t>• Employer of Record (EOR) functionality — positioned as a partner feature, not 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9680" y="3300000"/>
            <a:ext cx="5300000" cy="650000"/>
          </a:xfrm>
          <a:prstGeom prst="rect">
            <a:avLst/>
          </a:prstGeom>
          <a:noFill/>
        </p:spPr>
        <p:txBody>
          <a:bodyPr wrap="square" lIns="60000" rIns="60000" tIns="20000" bIns="20000">
            <a:spAutoFit/>
          </a:bodyPr>
          <a:lstStyle/>
          <a:p>
            <a:r>
              <a:rPr sz="1100">
                <a:solidFill>
                  <a:srgbClr val="0F172A"/>
                </a:solidFill>
                <a:latin typeface="Inter"/>
              </a:rPr>
              <a:t>• Time tracking integrations with biometric hardware — handled by third parties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9680" y="3950000"/>
            <a:ext cx="5300000" cy="650000"/>
          </a:xfrm>
          <a:prstGeom prst="rect">
            <a:avLst/>
          </a:prstGeom>
          <a:noFill/>
        </p:spPr>
        <p:txBody>
          <a:bodyPr wrap="square" lIns="60000" rIns="60000" tIns="20000" bIns="20000">
            <a:spAutoFit/>
          </a:bodyPr>
          <a:lstStyle/>
          <a:p>
            <a:r>
              <a:rPr sz="1100">
                <a:solidFill>
                  <a:srgbClr val="0F172A"/>
                </a:solidFill>
                <a:latin typeface="Inter"/>
              </a:rPr>
              <a:t>• Learning content library (Udemy/Coursera-style catalog)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9680" y="4600000"/>
            <a:ext cx="5300000" cy="650000"/>
          </a:xfrm>
          <a:prstGeom prst="rect">
            <a:avLst/>
          </a:prstGeom>
          <a:noFill/>
        </p:spPr>
        <p:txBody>
          <a:bodyPr wrap="square" lIns="60000" rIns="60000" tIns="20000" bIns="20000">
            <a:spAutoFit/>
          </a:bodyPr>
          <a:lstStyle/>
          <a:p>
            <a:r>
              <a:rPr sz="1100">
                <a:solidFill>
                  <a:srgbClr val="0F172A"/>
                </a:solidFill>
                <a:latin typeface="Inter"/>
              </a:rPr>
              <a:t>• HRIS data brokering / external identity verification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9680" y="5250000"/>
            <a:ext cx="5300000" cy="650000"/>
          </a:xfrm>
          <a:prstGeom prst="rect">
            <a:avLst/>
          </a:prstGeom>
          <a:noFill/>
        </p:spPr>
        <p:txBody>
          <a:bodyPr wrap="square" lIns="60000" rIns="60000" tIns="20000" bIns="20000">
            <a:spAutoFit/>
          </a:bodyPr>
          <a:lstStyle/>
          <a:p>
            <a:r>
              <a:rPr sz="1100">
                <a:solidFill>
                  <a:srgbClr val="0F172A"/>
                </a:solidFill>
                <a:latin typeface="Inter"/>
              </a:rPr>
              <a:t>• Custom ML model training per tenant (tenant data analytics limited to dashboards)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358000"/>
            <a:ext cx="10728655" cy="300000"/>
          </a:xfrm>
          <a:prstGeom prst="rect">
            <a:avLst/>
          </a:prstGeom>
          <a:noFill/>
        </p:spPr>
        <p:txBody>
          <a:bodyPr wrap="square" anchor="t" lIns="60000" rIns="60000" tIns="40000" bIns="4000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These items are formally deferred from the Discovery Phase commitment. Decisions on bringing any item back require Steering Committee approval.</a:t>
            </a:r>
          </a:p>
        </p:txBody>
      </p:sp>
      <p:pic>
        <p:nvPicPr>
          <p:cNvPr id="24" name="Picture 23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437"/>
                </a:solidFill>
                <a:latin typeface="Inter"/>
              </a:defRPr>
            </a:pPr>
            <a:r>
              <a:t>PHASE 1 SCOPE CONFIRMATION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Inter"/>
              </a:defRPr>
            </a:pPr>
            <a:r>
              <a:t>Core HRIS (M1) + System Administration (M10) — Q3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49240" cy="5029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49240" cy="41148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M1: Core HRIS — What's Included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5166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300" b="1">
                <a:solidFill>
                  <a:srgbClr val="0B1437"/>
                </a:solidFill>
                <a:latin typeface="Inter"/>
              </a:defRPr>
            </a:pPr>
            <a:r>
              <a:t>Employee Management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F172A"/>
                </a:solidFill>
                <a:latin typeface="Inter"/>
              </a:defRPr>
            </a:pPr>
            <a:r>
              <a:t>• Employee profile creation and lifecycle management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F172A"/>
                </a:solidFill>
                <a:latin typeface="Inter"/>
              </a:defRPr>
            </a:pPr>
            <a:r>
              <a:t>• Personal data, employment history, documents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F172A"/>
                </a:solidFill>
                <a:latin typeface="Inter"/>
              </a:defRPr>
            </a:pPr>
            <a:r>
              <a:t>• Status tracking (active, inactive, leave, terminated)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600" b="0">
                <a:solidFill>
                  <a:srgbClr val="0F172A"/>
                </a:solidFill>
                <a:latin typeface="Inter"/>
              </a:defRPr>
            </a:pP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1">
                <a:solidFill>
                  <a:srgbClr val="0B1437"/>
                </a:solidFill>
                <a:latin typeface="Inter"/>
              </a:defRPr>
            </a:pPr>
            <a:r>
              <a:t>Organization Structure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F172A"/>
                </a:solidFill>
                <a:latin typeface="Inter"/>
              </a:defRPr>
            </a:pPr>
            <a:r>
              <a:t>• Department hierarchy and reporting lines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F172A"/>
                </a:solidFill>
                <a:latin typeface="Inter"/>
              </a:defRPr>
            </a:pPr>
            <a:r>
              <a:t>• Position management with grades and bands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F172A"/>
                </a:solidFill>
                <a:latin typeface="Inter"/>
              </a:defRPr>
            </a:pPr>
            <a:r>
              <a:t>• Interactive org chart visualization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600" b="0">
                <a:solidFill>
                  <a:srgbClr val="0F172A"/>
                </a:solidFill>
                <a:latin typeface="Inter"/>
              </a:defRPr>
            </a:pP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1">
                <a:solidFill>
                  <a:srgbClr val="0B1437"/>
                </a:solidFill>
                <a:latin typeface="Inter"/>
              </a:defRPr>
            </a:pPr>
            <a:r>
              <a:t>Document Management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F172A"/>
                </a:solidFill>
                <a:latin typeface="Inter"/>
              </a:defRPr>
            </a:pPr>
            <a:r>
              <a:t>• Employee document upload and classification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F172A"/>
                </a:solidFill>
                <a:latin typeface="Inter"/>
              </a:defRPr>
            </a:pPr>
            <a:r>
              <a:t>• Version control and retention policies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F172A"/>
                </a:solidFill>
                <a:latin typeface="Inter"/>
              </a:defRPr>
            </a:pPr>
            <a:r>
              <a:t>• Expiry alerts for contracts and certifications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371600"/>
            <a:ext cx="5349240" cy="5029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371600"/>
            <a:ext cx="5349240" cy="41148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1732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M10: System Admin — What's Included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20240"/>
            <a:ext cx="5166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300" b="1">
                <a:solidFill>
                  <a:srgbClr val="0B1437"/>
                </a:solidFill>
                <a:latin typeface="Inter"/>
              </a:defRPr>
            </a:pPr>
            <a:r>
              <a:t>User &amp; Role Management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F172A"/>
                </a:solidFill>
                <a:latin typeface="Inter"/>
              </a:defRPr>
            </a:pPr>
            <a:r>
              <a:t>• User provisioning and deprovisioning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F172A"/>
                </a:solidFill>
                <a:latin typeface="Inter"/>
              </a:defRPr>
            </a:pPr>
            <a:r>
              <a:t>• Role-based access control (RBAC) configuration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F172A"/>
                </a:solidFill>
                <a:latin typeface="Inter"/>
              </a:defRPr>
            </a:pPr>
            <a:r>
              <a:t>• Permission matrix management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600" b="0">
                <a:solidFill>
                  <a:srgbClr val="0F172A"/>
                </a:solidFill>
                <a:latin typeface="Inter"/>
              </a:defRPr>
            </a:pP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1">
                <a:solidFill>
                  <a:srgbClr val="0B1437"/>
                </a:solidFill>
                <a:latin typeface="Inter"/>
              </a:defRPr>
            </a:pPr>
            <a:r>
              <a:t>Authentication &amp; Security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F172A"/>
                </a:solidFill>
                <a:latin typeface="Inter"/>
              </a:defRPr>
            </a:pPr>
            <a:r>
              <a:t>• SSO integration (Google, Microsoft, Apple)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F172A"/>
                </a:solidFill>
                <a:latin typeface="Inter"/>
              </a:defRPr>
            </a:pPr>
            <a:r>
              <a:t>• Multi-factor authentication (MFA)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F172A"/>
                </a:solidFill>
                <a:latin typeface="Inter"/>
              </a:defRPr>
            </a:pPr>
            <a:r>
              <a:t>• Session management and audit logging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600" b="0">
                <a:solidFill>
                  <a:srgbClr val="0F172A"/>
                </a:solidFill>
                <a:latin typeface="Inter"/>
              </a:defRPr>
            </a:pP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1">
                <a:solidFill>
                  <a:srgbClr val="0B1437"/>
                </a:solidFill>
                <a:latin typeface="Inter"/>
              </a:defRPr>
            </a:pPr>
            <a:r>
              <a:t>Multi-Tenant Foundation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F172A"/>
                </a:solidFill>
                <a:latin typeface="Inter"/>
              </a:defRPr>
            </a:pPr>
            <a:r>
              <a:t>• Tenant creation and configuration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F172A"/>
                </a:solidFill>
                <a:latin typeface="Inter"/>
              </a:defRPr>
            </a:pPr>
            <a:r>
              <a:t>• Row-Level Security implementation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F172A"/>
                </a:solidFill>
                <a:latin typeface="Inter"/>
              </a:defRPr>
            </a:pPr>
            <a:r>
              <a:t>• Brand customization per tenant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Inter"/>
              </a:defRPr>
            </a:pPr>
            <a:r>
              <a:t>Timeline: July – September 2026  |  Sprint Cycles: 2-week sprints  |  Phase 1 Team: Product Owner (Sabry), Tech Lead, 3 Developers, UX/UI Designer, QA Engineer, shared DevOps — scales to ~10 builders by Phase 3</a:t>
            </a:r>
          </a:p>
        </p:txBody>
      </p:sp>
      <p:pic>
        <p:nvPicPr>
          <p:cNvPr id="14" name="Picture 13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FORMAL SIGN-OFF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9D3C5"/>
                </a:solidFill>
                <a:latin typeface="Inter"/>
              </a:defRPr>
            </a:pPr>
            <a:r>
              <a:t>Discovery Phase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E5E8EF"/>
                </a:solidFill>
                <a:latin typeface="Inter"/>
              </a:defRPr>
            </a:pPr>
            <a:r>
              <a:t>By signing below, the undersigned stakeholders confirm: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600" b="0">
                <a:solidFill>
                  <a:srgbClr val="FFFFFF"/>
                </a:solidFill>
                <a:latin typeface="Inter"/>
              </a:defRPr>
            </a:pP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FFFFFF"/>
                </a:solidFill>
                <a:latin typeface="Inter"/>
              </a:defRPr>
            </a:pPr>
            <a:r>
              <a:t>1. All discovery deliverables listed in slides 3–4 have been reviewed and accepted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FFFFFF"/>
                </a:solidFill>
                <a:latin typeface="Inter"/>
              </a:defRPr>
            </a:pPr>
            <a:r>
              <a:t>2. The documented requirements accurately reflect Egybell's business needs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FFFFFF"/>
                </a:solidFill>
                <a:latin typeface="Inter"/>
              </a:defRPr>
            </a:pPr>
            <a:r>
              <a:t>3. The proposed technology stack and system architecture are approved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FFFFFF"/>
                </a:solidFill>
                <a:latin typeface="Inter"/>
              </a:defRPr>
            </a:pPr>
            <a:r>
              <a:t>4. The 5-phase implementation roadmap and timeline are accepted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FFFFFF"/>
                </a:solidFill>
                <a:latin typeface="Inter"/>
              </a:defRPr>
            </a:pPr>
            <a:r>
              <a:t>5. The identified risks and mitigation strategies are acknowledged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FFFFFF"/>
                </a:solidFill>
                <a:latin typeface="Inter"/>
              </a:defRPr>
            </a:pPr>
            <a:r>
              <a:t>6. The project is authorized to proceed to Phase 1 Development (Q3 2026)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10698480" cy="438912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478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nter"/>
              </a:defRPr>
            </a:pPr>
            <a:r>
              <a:t>Chairman /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547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Inter"/>
              </a:defRPr>
            </a:pPr>
            <a:r>
              <a:t>Strategic oversight and budget authority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547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Signature: 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35478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Date: ___________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05072"/>
            <a:ext cx="10698480" cy="438912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782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nter"/>
              </a:defRPr>
            </a:pPr>
            <a:r>
              <a:t>HR Director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0782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Inter"/>
              </a:defRPr>
            </a:pPr>
            <a:r>
              <a:t>Requirements accuracy and operational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0782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Signature: ____________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40782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Date: ___________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535424"/>
            <a:ext cx="10698480" cy="438912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085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nter"/>
              </a:defRPr>
            </a:pPr>
            <a:r>
              <a:t>IT Director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60857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Inter"/>
              </a:defRPr>
            </a:pPr>
            <a:r>
              <a:t>Technical architecture and infrastructure 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6085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Signature: ____________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608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Date: 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065775"/>
            <a:ext cx="10698480" cy="438912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3892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nter"/>
              </a:defRPr>
            </a:pPr>
            <a:r>
              <a:t>Finance Director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13892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Inter"/>
              </a:defRPr>
            </a:pPr>
            <a:r>
              <a:t>Budget allocation and financial feasibility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13892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Signature: ____________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513892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Date: ___________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596127"/>
            <a:ext cx="10698480" cy="438912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6692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nter"/>
              </a:defRPr>
            </a:pPr>
            <a:r>
              <a:t>Project Sponsor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6692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Inter"/>
              </a:defRPr>
            </a:pPr>
            <a:r>
              <a:t>Overall project accountability and governance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6692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Signature: 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56692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Date: ___________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6126479"/>
            <a:ext cx="10698480" cy="438912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619963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nter"/>
              </a:defRPr>
            </a:pPr>
            <a:r>
              <a:t>Product Owner (Sabry)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619963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Inter"/>
              </a:defRPr>
            </a:pPr>
            <a:r>
              <a:t>Requirements completeness and delivery ownership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619963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Signature: ____________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619963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Date: ___________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675120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E6E"/>
                </a:solidFill>
                <a:latin typeface="Inter"/>
              </a:defRPr>
            </a:pPr>
            <a:r>
              <a:t>Document Reference: PRAXION-DISC-SIGNOFF-2026-04-22  |  Version: 1.0  |  Classification: Confidential</a:t>
            </a:r>
          </a:p>
        </p:txBody>
      </p:sp>
      <p:pic>
        <p:nvPicPr>
          <p:cNvPr id="38" name="Picture 37" descr="praxion-icon-in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