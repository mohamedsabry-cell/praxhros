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PRAXION HROS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>
                <a:solidFill>
                  <a:srgbClr val="19D3C5"/>
                </a:solidFill>
              </a:defRPr>
            </a:pPr>
            <a:r>
              <a:t>Complete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7F8FB"/>
                </a:solidFill>
              </a:defRPr>
            </a:pPr>
            <a:r>
              <a:t>All Modules · All User Types · All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B7280"/>
                </a:solidFill>
              </a:defRPr>
            </a:pPr>
            <a:r>
              <a:t>Discovery Phase Deliverable — April 2026</a:t>
            </a:r>
          </a:p>
        </p:txBody>
      </p:sp>
      <p:pic>
        <p:nvPicPr>
          <p:cNvPr id="6" name="Picture 5" descr="praxion-icon-inve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B1437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F6BFF"/>
                </a:solidFill>
              </a:defRPr>
            </a:pPr>
            <a:r>
              <a:t>200+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User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F6BFF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371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F6BFF"/>
                </a:solidFill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94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User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1437"/>
                </a:solidFill>
              </a:defRPr>
            </a:pPr>
            <a:r>
              <a:t>Story Format: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19D3C5"/>
                </a:solidFill>
              </a:defRPr>
            </a:pPr>
            <a:r>
              <a:t>As a [User Role], I want to [action], so that [benefit]</a:t>
            </a:r>
          </a:p>
          <a:p>
            <a:pPr>
              <a:spcBef>
                <a:spcPts val="600"/>
              </a:spcBef>
              <a:defRPr sz="1400">
                <a:solidFill>
                  <a:srgbClr val="6B7280"/>
                </a:solidFill>
              </a:defRPr>
            </a:pPr>
            <a:r>
              <a:t>Each story is specific, actionable, and tied to business value. Stories are organized by user role within each module for clear understanding of who needs what functionality.</a:t>
            </a:r>
          </a:p>
          <a:p>
            <a:r>
              <a:rPr sz="1000" i="1">
                <a:solidFill>
                  <a:srgbClr val="888888"/>
                </a:solidFill>
              </a:rPr>
              <a:t>Representative sample shown in this deck; full backing set maintained in User-Stories/Detailed/ (13 module docx files).</a:t>
            </a:r>
          </a:p>
        </p:txBody>
      </p:sp>
      <p:pic>
        <p:nvPicPr>
          <p:cNvPr id="11" name="Picture 10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437"/>
                </a:solidFill>
              </a:defRPr>
            </a:pPr>
            <a:r>
              <a:t>USER PERSONAS — 11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3383280" cy="11887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System administrator managing tenant config, users, and integrations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005840"/>
            <a:ext cx="3383280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HR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4475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HR leadership overseeing strategy, compliance, and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005840"/>
            <a:ext cx="3383280" cy="11887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097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HR Specialist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44475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HR professional handling day-to-day transactions and processes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338328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Client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07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Client-side IT admin managing their tenant and user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468880"/>
            <a:ext cx="3383280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Employee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907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Individual contributor accessing self-service HR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2468880"/>
            <a:ext cx="3383280" cy="118872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Manager/Dept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907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Line manager handling team approvals and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3383280" cy="1188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023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Finance/Payroll Officer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708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Finance team processing payroll, tax, and benefits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3931920"/>
            <a:ext cx="3383280" cy="118872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023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Recruiter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708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Talent acquisition managing job postings and candidate 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931920"/>
            <a:ext cx="3383280" cy="118872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023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Trainer/L&amp;D 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3708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Learning &amp; development designing and delivering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338328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486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Contractor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8338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External worker managing contracts and timesheets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5394960"/>
            <a:ext cx="3383280" cy="1188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0" y="5486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Auditor/Compliance Officer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8338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Compliance professional ensuring regulatory adherence</a:t>
            </a:r>
          </a:p>
        </p:txBody>
      </p:sp>
      <p:pic>
        <p:nvPicPr>
          <p:cNvPr id="36" name="Picture 3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M1: Core HRIS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complete employee record (personal, employment, compensation), so that I can verify my information is accurate and up-to-date.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update my personal information (phone, address, emergency contacts), so that HR has my current details.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organizational reporting structure and team members, so that I understand my place in the company hierarchy.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search and filter employees by department, location, and role, so that I can quickly find and analyze specific employee groups.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1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bulk import employees from CSV/Excel with mapping configuration, so that I can efficiently onboard large groups.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create and manage custom employee fields (certifications, skills, languages), so that I can capture organization-specific attributes.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7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view the complete organizational chart with drill-down capability, so that I understand reporting relationships.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manage employee documents (contracts, offer letters, policy acknowledgments) with version tracking, so that I maintain a comprehensive file.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access audit logs showing all changes to employee records with timestamps and user attribution, so that I can ensure compliance and accountability.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export employee data in multiple formats (PDF, Excel, CSV), so that I can share or archive information.</a:t>
            </a:r>
          </a:p>
        </p:txBody>
      </p:sp>
      <p:pic>
        <p:nvPicPr>
          <p:cNvPr id="16" name="Picture 1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M1: Core HRIS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D3C5"/>
                </a:solidFill>
              </a:defRPr>
            </a:pPr>
            <a:r>
              <a:t>HR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create and maintain employee records with all required fields, so that I have a complete employee database.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manage employment contracts with signature workflows, so that I maintain legal compliance.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track employment status changes (active, on leave, terminated) with effective dates, so that records reflect current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view my team members' key information (names, roles, locations), so that I can manage my team effectively.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1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approve employee information changes, so that HR maintains data accuracy.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72383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284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configure required fields and custom attributes for the organization, so that the system captures necessary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5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manage data retention policies, so that the system complies with legal requirements.</a:t>
            </a:r>
          </a:p>
        </p:txBody>
      </p:sp>
      <p:pic>
        <p:nvPicPr>
          <p:cNvPr id="14" name="Picture 1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M2: Recruitment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Recruiter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create job requisitions with budget tracking, so that I manage hiring requests effectively.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post jobs to multiple channels (internal, external, job boards), so that I reach diverse talent pools.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screen resumes using AI-powered keyword matching and ranking, so that I prioritize qualified candidates.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maintain a talent pool with persistent candidate profiles and availability tracking, so that I can quickly fill future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schedule interviews with calendar integration and video meeting links, so that I streamline interview logistics.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collaborate with hiring managers using structured feedback forms, so that we align on candidate fit.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Recruiter, I want to generate offer letters with templated terms, so that I accelerate hiring close.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19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approve job requisitions and track hiring budget, so that I control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view recruitment pipeline analytics (conversion rates, time-to-hire), so that I identify bottlenecks.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set diversity hiring goals and track representation, so that I ensure inclusive recruitment.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1830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access historical requisition data, so that I plan future hiring strategies.</a:t>
            </a:r>
          </a:p>
        </p:txBody>
      </p:sp>
      <p:pic>
        <p:nvPicPr>
          <p:cNvPr id="17" name="Picture 16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M2: Recruitment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request new headcount with business justification, so that HR prioritizes hiring.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review and rate candidates during interviews, so that I contribute to hiring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see candidate background checks and reference checks, so that I verify fit before offer.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Candidate, I want to apply for jobs and track my application status, so that I know where I stand in the process.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1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Candidate, I want to complete assessments and surveys as part of the interview, so that I demonstrate my capabilities.</a:t>
            </a:r>
          </a:p>
        </p:txBody>
      </p:sp>
      <p:pic>
        <p:nvPicPr>
          <p:cNvPr id="11" name="Picture 10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M3: Onboarding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D3C5"/>
                </a:solidFill>
              </a:defRPr>
            </a:pPr>
            <a:r>
              <a:t>HR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create onboarding checklists for new hires with role-based task templates, so that I ensure nothing is missed.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assign pre-boarding tasks to new hires (complete forms, sign documents), so that they start prepared.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track offboarding checklists (system access, equipment return, knowledge transfer), so that exits are clean.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send automated document requests to new hires, so that I reduce manual follow-up.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receive pre-boarding information and complete required forms before my start date, so that I'm prepared.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access onboarding resources (benefits guides, org charts, policies), so that I integrate quickly.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complete my profile with direct deposit and beneficiary information during onboarding, so that payroll is accurate.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2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receive notification when a team member is hired, so that I can prepare for their arrival.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assign a mentor to new hires, so that they have support and guidance.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offboard my team members with a structured handover checklist, so that work transitions smoothly.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74336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provision system access automatically upon hire, so that new employees can work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5595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deactivate system access and retrieve equipment upon termination, so that security is maintained.</a:t>
            </a:r>
          </a:p>
        </p:txBody>
      </p:sp>
      <p:pic>
        <p:nvPicPr>
          <p:cNvPr id="20" name="Picture 1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M4: Performance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set SMART goals aligned with organizational strategy, so that I understand expectations.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receive 360-degree feedback from peers and managers, so that I get comprehensive perspectives.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participate in self-assessments during performance reviews, so that my voice is heard.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development plan and track progress on skills, so that I grow in my role.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document achievements throughout the year, so that I have evidence for review discussions.</a:t>
            </a:r>
          </a:p>
        </p:txBody>
      </p:sp>
      <p:pic>
        <p:nvPicPr>
          <p:cNvPr id="10" name="Picture 9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M4: Performance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set team goals and cascade them from organizational OKRs, so that alignment is clear.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conduct mid-year and annual reviews with structured templates, so that feedback is consistent.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participate in calibration sessions to ensure fair ratings across the team, so that compensation decisions are equitable.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create development plans with training recommendations, so that I invest in my team's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identify high performers and succession candidates, so that I support retention and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1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manage the performance review cycle with timeline and task assignment, so that reviews happen on schedule.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7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view performance analytics (rating distribution, cycle completion rates), so that I ensure process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track performance history by individual and cohort, so that I identify patterns and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configure review cycles, templates, and rating scales, so that the process fits the organization.</a:t>
            </a:r>
          </a:p>
        </p:txBody>
      </p:sp>
      <p:pic>
        <p:nvPicPr>
          <p:cNvPr id="15" name="Picture 1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M5: Training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D3C5"/>
                </a:solidFill>
              </a:defRPr>
            </a:pPr>
            <a:r>
              <a:t>Trainer/L&amp;D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Trainer, I want to create courses with multimedia content (videos, documents, quizzes), so that I deliver engaging learning.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Trainer, I want to design learning paths that sequence courses for skills development, so that employees progress logically.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Trainer, I want to assign mandatory compliance training to specific roles or locations, so that I ensure regulatory adherence.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Trainer, I want to create and track certifications with expiration dates, so that I ensure current qualifications.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Trainer, I want to view completion analytics by employee and cohort, so that I measure training effectiveness.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1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browse available courses and enroll in relevant learning, so that I develop skills.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7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complete courses and track my progress, so that I know what I've learned.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receive notifications about mandatory training due dates, so that I stay compliant.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download certificates upon course completion, so that I have proof of learning.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recommend courses to my team members, so that I guide their development.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7433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view team training completion status, so that I ensure compliance.</a:t>
            </a:r>
          </a:p>
        </p:txBody>
      </p:sp>
      <p:pic>
        <p:nvPicPr>
          <p:cNvPr id="18" name="Picture 17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M6: Payroll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Finance/Payroll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configure salary structures (base, allowances, deductions) for each employee, so that payroll is accurate.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process payroll in bulk with validation checks, so that I minimize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manage tax calculations (income tax, social insurance) with Egyptian compliance, so that I meet legal obligations.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generate payslips with itemized deductions and net pay, so that employees understand compensation.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track accrued leave balances and integrate with leave approvals, so that I account for leave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manage salary reviews and increments with effective date tracking, so that compensation changes apply correctly.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generate tax reports and social insurance submissions, so that I meet regulatory deadlines.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1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audit payroll runs with detailed logs showing all calculations, so that I ensure accuracy and compliance.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3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payslip online with gross, deductions, and net pay, so that I understand my compensation.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download payslips for tax filing, so that I have required documentation.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1830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year-to-date earnings and tax withholding, so that I plan financially.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4748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get support for payroll questions with self-service FAQ, so that I don't need to contact HR.</a:t>
            </a:r>
          </a:p>
        </p:txBody>
      </p:sp>
      <p:pic>
        <p:nvPicPr>
          <p:cNvPr id="18" name="Picture 17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M6: Payroll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approve salary changes and track compensation decisions, so that I maintain equity and budget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view payroll reports by department and cost center, so that I analyze labor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configure payroll cycles and tax rules, so that the system processes correctly.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set up payroll bank integration for automated fund transfers, so that payments are reliable.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1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configure Egyptian tax tables and social insurance rates, so that the system stays compliant.</a:t>
            </a:r>
          </a:p>
        </p:txBody>
      </p:sp>
      <p:pic>
        <p:nvPicPr>
          <p:cNvPr id="11" name="Picture 10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M7: Benefits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available benefits (health, retirement, insurance) with coverage details, so that I understand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enroll in benefits during open enrollment with decision support, so that I select appropriate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make mid-year changes (life events), so that my coverage stays current.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benefits status and coverage documents, so that I have easy reference.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submit expense claims (medical reimbursement) with receipt uploads, so that I recover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1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configure benefits plans and coverage levels, so that employees have choice.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7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manage open enrollment periods with timeline and communication, so that all employees enroll.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track benefits enrollment and expenses by employee, so that I forecast costs.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manage reimbursement approvals, so that claims are processed fairly.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8912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Finance/Payroll Officer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integrate benefits deductions into payroll, so that contributions are accurate.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7433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reconcile benefits expenses with budget, so that costs are controlled.</a:t>
            </a:r>
          </a:p>
        </p:txBody>
      </p:sp>
      <p:pic>
        <p:nvPicPr>
          <p:cNvPr id="18" name="Picture 17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M8: Contractors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9D3C5"/>
                </a:solidFill>
              </a:defRPr>
            </a:pPr>
            <a:r>
              <a:t>HR Specialist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onboard contractors with contract templates and e-signature, so that engagements start legally.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manage contractor compliance (NDA, insurance, references), so that risk is mitigated.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Specialist, I want to offboard contractors with system access and equipment retrieval, so that exits are controlled.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57984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Contractor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1401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Contractor, I want to access a contractor portal for contract details and status, so that I'm informed.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1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Contractor, I want to submit timesheets for approval, so that I get paid accurately.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Contractor, I want to submit invoices with project details and supporting documents, so that I track billing.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01567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Finance/Payroll Officer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59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approve contractor timesheets and invoices, so that payments are authorized.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generate 1099/tax statements for contractors, so that I meet reporting requirements.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track contractor spending by project, so that I control costs.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45152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9011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request contractor resources with project and budget justification, so that I get approval.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2303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rate contractor performance at project end, so that I provide feedback.</a:t>
            </a:r>
          </a:p>
        </p:txBody>
      </p:sp>
      <p:pic>
        <p:nvPicPr>
          <p:cNvPr id="19" name="Picture 18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M9: Analytics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HR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view workforce dashboards (headcount, turnover, tenure) with visual analytics, so that I understand key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drill into cohort analysis (by department, location, level), so that I identify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generate reports on diversity and inclusion (gender, age, background), so that I track progress toward goals.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access predictive analytics (attrition risk, retention factors), so that I take proactive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HR Manager, I want to forecast workforce demand (staffing needs by role/department), so that I plan hiring.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1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Finance/Payroll Officer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view cost analytics (labor costs by department, headcount costs), so that I manage budget.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7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Payroll Officer, I want to compare actual spending vs. budget, so that I flag variances.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30751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3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configure custom dashboards and KPIs, so that analytics align with business priorities.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159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access system performance and usage analytics, so that I monitor platform health.</a:t>
            </a:r>
          </a:p>
        </p:txBody>
      </p:sp>
      <p:pic>
        <p:nvPicPr>
          <p:cNvPr id="16" name="Picture 1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M10: System Admin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manage user accounts (create, disable, delete) with bulk operations, so that I control access.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assign roles and permissions with role-based access control (RBAC), so that data is secured.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enable SSO (SAML/OAuth) for seamless login, so that users authenticate securely.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enforce MFA (multi-factor authentication) for sensitive accounts, so that I reduce breach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manage API keys and integrations with external systems, so that data flows securely.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view audit logs with full history (user actions, data changes), so that I ensure accountability.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455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configure data retention and deletion policies, so that I meet legal requirements.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7471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manage multi-tenant isolation, so that client data remains confidential.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03903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Client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5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manage my tenant users and permissions, so that I control access in my organization.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configure company-specific settings (branding, policies, workflows), so that the system reflects our culture.</a:t>
            </a:r>
          </a:p>
        </p:txBody>
      </p:sp>
      <p:pic>
        <p:nvPicPr>
          <p:cNvPr id="16" name="Picture 15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M11: Mobile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Employee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profile and update personal information on mobile, so that I can manage details on the 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submit and track leave requests from my phone, so that I don't need a computer.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my payslip and download it as PDF on mobile, so that I have easy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view upcoming training and complete courses on mobile, so that I learn anywhere.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submit and track expense reports with photo receipts, so that I claim reimbursements quickly.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an Employee, I want to receive push notifications for important updates (approvals, reviews, events), so that I stay informed.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5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Manager/Dept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approve leave, expenses, and reviews on mobile, so that I can act promptly.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Manager, I want to view my team information on mobile, so that I manage from anywhere.</a:t>
            </a:r>
          </a:p>
        </p:txBody>
      </p:sp>
      <p:pic>
        <p:nvPicPr>
          <p:cNvPr id="14" name="Picture 1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M12: Client Portal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Client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provision my tenant with company details, branding, and initial configuration, so that we're ready to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customize the portal appearance with our logo and colors, so that it feels like our brand.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view company dashboards (headcount, payroll spend, utilization), so that I monitor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manage HR team users and permissions, so that access is controlled.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871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access support documentation and contact support for help, so that I get assistance quickly.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1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Client Admin, I want to track SLA compliance (support response times), so that I monitor service quality.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45535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F6BFF"/>
                </a:solidFill>
              </a:defRPr>
            </a:pPr>
            <a:r>
              <a:t>Egybell (Provider)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Egybell, I want to onboard new clients with white-label configuration, so that they launch independently.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Egybell, I want to manage billing and usage metrics for clients, so that we track revenue and utilization.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5993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Egybell, I want to monitor client health (system performance, feature adoption), so that I ensure success.</a:t>
            </a:r>
          </a:p>
        </p:txBody>
      </p:sp>
      <p:pic>
        <p:nvPicPr>
          <p:cNvPr id="15" name="Picture 1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1153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437"/>
                </a:solidFill>
              </a:defRPr>
            </a:pPr>
            <a:r>
              <a:t>M13: Billing — 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B7280"/>
                </a:solidFill>
              </a:defRPr>
            </a:pPr>
            <a:r>
              <a:t>Finance/Payroll Officer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Finance Officer, I want to track usage metrics (employees, transactions, storage) for billing, so that I calculate costs accurately.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Finance Officer, I want to generate invoices for clients based on usage tiers, so that I bill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Finance Officer, I want to track subscription revenue and forecast MRR/ARR, so that I model business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579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Finance Officer, I want to manage billing periods and payment reconciliation, so that cash flow is clear.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87168"/>
            <a:ext cx="1082009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B1437"/>
                </a:solidFill>
              </a:defRPr>
            </a:pPr>
            <a:r>
              <a:t>Super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configure billing models (per-employee, feature-based, tiered), so that pricing aligns with strategy.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72384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manage payment methods and autopay, so that billing is automated.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015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F172A"/>
                </a:solidFill>
              </a:defRPr>
            </a:pPr>
            <a:r>
              <a:t>As a Super Admin, I want to access billing audit logs, so that I track all financial transactions.</a:t>
            </a:r>
          </a:p>
        </p:txBody>
      </p:sp>
      <p:pic>
        <p:nvPicPr>
          <p:cNvPr id="13" name="Picture 12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1615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437"/>
                </a:solidFill>
              </a:defRPr>
            </a:pPr>
            <a:r>
              <a:t>PRIORITY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097280" cy="320040"/>
          </a:xfrm>
          <a:prstGeom prst="rect">
            <a:avLst/>
          </a:prstGeom>
          <a:solidFill>
            <a:srgbClr val="0B1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MUST-HAVE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097280"/>
            <a:ext cx="963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F172A"/>
                </a:solidFill>
              </a:defRPr>
            </a:pPr>
            <a:r>
              <a:t>Phase 1 foundation: Employee records, org chart, user &amp; role management, SSO/MFA, tenant setup, audit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097280" cy="32004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SHOULD-HAVE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86000"/>
            <a:ext cx="963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F172A"/>
                </a:solidFill>
              </a:defRPr>
            </a:pPr>
            <a:r>
              <a:t>Phase 2 people modules: Recruitment/ATS, Onboarding, Performance reviews (M2 · M3 · M4)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74720"/>
            <a:ext cx="1097280" cy="320040"/>
          </a:xfrm>
          <a:prstGeom prst="rect">
            <a:avLst/>
          </a:prstGeom>
          <a:solidFill>
            <a:srgbClr val="19D3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520439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NICE-TO-HAVE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474720"/>
            <a:ext cx="963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F172A"/>
                </a:solidFill>
              </a:defRPr>
            </a:pPr>
            <a:r>
              <a:t>Phase 3–5 expansion: Payroll, Benefits, LMS, Contractors, Analytics, Mobile, Client Portal, Billing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663440"/>
            <a:ext cx="1097280" cy="3200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09159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63440"/>
            <a:ext cx="96313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0F172A"/>
                </a:solidFill>
              </a:defRPr>
            </a:pPr>
            <a:r>
              <a:t>Post-launch: Advanced ML features, deeper integrations, international expansion, third-party ecosystem</a:t>
            </a:r>
          </a:p>
        </p:txBody>
      </p:sp>
      <p:pic>
        <p:nvPicPr>
          <p:cNvPr id="15" name="Picture 14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B1437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1437"/>
                </a:solidFill>
              </a:defRPr>
            </a:pPr>
            <a:r>
              <a:t>Key Takeaways: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~200 user stories across all personas, workflows, and modules (full set in User-Stories/Detailed/)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Stories are role-centric, feature-rich, and aligned with modern HR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Egyptian labor law compliance and multi-tenant capabilities built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7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AI-powered features, mobile support, and self-service for all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39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Clear prioritization separates Phase 1 (must-have) from future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49039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1437"/>
                </a:solidFill>
              </a:defRPr>
            </a:pPr>
            <a:r>
              <a:t>Next Steps: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Stakeholder review and refinement based on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Technical design and architecture planning for 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Sprint planning and capacity allocation for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User research sessions to validate assumptions</a:t>
            </a:r>
          </a:p>
        </p:txBody>
      </p:sp>
      <p:pic>
        <p:nvPicPr>
          <p:cNvPr id="14" name="Picture 13" descr="praxion-icon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64592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