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Inter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9D3C5"/>
                </a:solidFill>
                <a:latin typeface="Inter"/>
              </a:defRPr>
            </a:pPr>
            <a:r>
              <a:t>Project Organization &amp; Stakeholders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37160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Inter"/>
              </a:defRPr>
            </a:pPr>
            <a:r>
              <a:t>Roles, Responsibilities &amp; Module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t>April 2026</a:t>
            </a:r>
          </a:p>
        </p:txBody>
      </p:sp>
      <p:pic>
        <p:nvPicPr>
          <p:cNvPr id="10" name="Picture 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PROJECT GOVERNANCE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39319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261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STEERING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Chairman, CEO, HR Director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737360"/>
            <a:ext cx="36576" cy="36575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3931920" cy="5486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762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PROJECT 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Executive accountability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651760"/>
            <a:ext cx="36576" cy="36575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3017520"/>
            <a:ext cx="3931920" cy="548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0906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PRODUCT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37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Sabry — Requirements &amp;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566160"/>
            <a:ext cx="36576" cy="457200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4023360"/>
            <a:ext cx="7589520" cy="36576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114800"/>
            <a:ext cx="2011680" cy="5486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Architecture &amp;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023360"/>
            <a:ext cx="36576" cy="9143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4114800"/>
            <a:ext cx="2011680" cy="5486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UX/UI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Design &amp; 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023360"/>
            <a:ext cx="36576" cy="9143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4114800"/>
            <a:ext cx="2011680" cy="548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QA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Quality &amp;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023360"/>
            <a:ext cx="36576" cy="9143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114800"/>
            <a:ext cx="20116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CHANGE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Training &amp; adoption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023360"/>
            <a:ext cx="36576" cy="91439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77440" y="4663440"/>
            <a:ext cx="36576" cy="365760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71600" y="5029200"/>
            <a:ext cx="2011680" cy="548640"/>
          </a:xfrm>
          <a:prstGeom prst="rect">
            <a:avLst/>
          </a:prstGeom>
          <a:solidFill>
            <a:srgbClr val="44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Dev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49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3–7 Developers + 1 Mobile Dev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663440"/>
            <a:ext cx="36576" cy="365760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0" y="5029200"/>
            <a:ext cx="2011680" cy="548640"/>
          </a:xfrm>
          <a:prstGeom prst="rect">
            <a:avLst/>
          </a:prstGeom>
          <a:solidFill>
            <a:srgbClr val="44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Design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49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2 Designers (UX + UI)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663440"/>
            <a:ext cx="36576" cy="365760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5029200"/>
            <a:ext cx="2011680" cy="548640"/>
          </a:xfrm>
          <a:prstGeom prst="rect">
            <a:avLst/>
          </a:prstGeom>
          <a:solidFill>
            <a:srgbClr val="44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Test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349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2–3 QA Engineers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663440"/>
            <a:ext cx="36576" cy="365760"/>
          </a:xfrm>
          <a:prstGeom prst="rect">
            <a:avLst/>
          </a:prstGeom>
          <a:solidFill>
            <a:srgbClr val="E5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5029200"/>
            <a:ext cx="2011680" cy="548640"/>
          </a:xfrm>
          <a:prstGeom prst="rect">
            <a:avLst/>
          </a:prstGeom>
          <a:solidFill>
            <a:srgbClr val="44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Training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349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Communications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Inter"/>
              </a:defRPr>
            </a:pPr>
            <a:r>
              <a:t>Note: Role-level structure shown. Specific names to be confirmed during Phase 1 kickoff. Team scales from ~5 in Phase 1 to ~10–12 by Phase 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906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SCRUM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37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5E8EF"/>
                </a:solidFill>
                <a:latin typeface="Inter"/>
              </a:defRPr>
            </a:pPr>
            <a:r>
              <a:t>Sprint facilitation &amp; impediments</a:t>
            </a:r>
          </a:p>
        </p:txBody>
      </p:sp>
      <p:pic>
        <p:nvPicPr>
          <p:cNvPr id="51" name="Picture 50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CORE PROJECT TEAM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349240" cy="365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Product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Defines product vision, prioritizes backlog, writes acceptance criteria, makes scope decisions, represents business stakeholders in sprint ceremonies. Owns the product roadmap.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5349240" cy="36576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Makes architecture decisions, conducts code reviews, mentors developers, ensures technical quality, manages tech debt, and maintains development standards.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53492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UX/UI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Owns the design system, creates wireframes and prototypes, conducts usability testing, ensures WCAG accessibility, and manages the master layout approach.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97180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71800"/>
            <a:ext cx="53492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QA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Defines test strategy, creates test plans and automation, manages bug tracking, conducts regression testing, and gates releases for quality.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3492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Scrum 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Facilitates sprint ceremonies (planning, standups, reviews, retros), removes impediments, tracks velocity, and coaches the team on agile practices.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754880"/>
            <a:ext cx="534924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754880"/>
            <a:ext cx="5349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892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437"/>
                </a:solidFill>
                <a:latin typeface="Inter"/>
              </a:defRPr>
            </a:pPr>
            <a:r>
              <a:t>Change Management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12080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Develops training materials, manages stakeholder communications, tracks adoption metrics, handles resistance, and ensures smooth organizational transition.</a:t>
            </a:r>
          </a:p>
        </p:txBody>
      </p:sp>
      <p:pic>
        <p:nvPicPr>
          <p:cNvPr id="29" name="Picture 2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MODULE STAKEHOLDERS — FOUNDATION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Primary 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Business 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18288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Technical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Subject Matter Expert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M1: Core HRIS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Ops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9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Specialist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M10: System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IT Director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IT 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19456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9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Security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1089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/>
            </a:r>
          </a:p>
        </p:txBody>
      </p:sp>
      <p:pic>
        <p:nvPicPr>
          <p:cNvPr id="36" name="Picture 3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MODULE STAKEHOLDERS — PEOPLE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Primary 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Business 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18288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Technical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Subject Matter Expert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M2: Recruitment &amp; 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9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Recruiter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M3: Onboarding/Offboarding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Ops Manager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19456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9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Specialist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834639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971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M4: Performance &amp; KPIs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L&amp;D Manager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34639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9717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19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Business Partner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47472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M5: Training &amp; LMS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L&amp;D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47472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6118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128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19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Trainer / Facilitator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/>
            </a:r>
          </a:p>
        </p:txBody>
      </p:sp>
      <p:pic>
        <p:nvPicPr>
          <p:cNvPr id="56" name="Picture 5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MODULE STAKEHOLDERS — MONEY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Primary 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Business 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18288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Technical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Subject Matter Expert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M6: Payroll &amp; Compensation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Finance Director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Payroll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9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Payroll Specialist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M7: Benefits &amp; Expenses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Benefits 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19456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9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Specialist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834639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971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M8: Contractor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Operations Director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Contractor Mgr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34639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9717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19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Legal Counsel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/>
            </a:r>
          </a:p>
        </p:txBody>
      </p:sp>
      <p:pic>
        <p:nvPicPr>
          <p:cNvPr id="46" name="Picture 4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437"/>
                </a:solidFill>
                <a:latin typeface="Inter"/>
              </a:defRPr>
            </a:pPr>
            <a:r>
              <a:t>MODULE STAKEHOLDERS — INTELLIGENCE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Primary 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Business 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097280"/>
            <a:ext cx="18288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Technical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09728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9" y="1188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Subject Matter Expert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M9: Analytics &amp;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CEO / COO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Data Analyst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91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1554480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9" y="1691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Business Analyst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M11: Mobile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HR Director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Product 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19456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Mobile Dev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19456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9" y="2331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UX Designer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834639"/>
            <a:ext cx="27432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971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M12: Client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CEO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Client Services Mgr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34639"/>
            <a:ext cx="18288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9717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2834639"/>
            <a:ext cx="2286000" cy="64008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19" y="29717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Account Manager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47472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611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437"/>
                </a:solidFill>
                <a:latin typeface="Inter"/>
              </a:defRPr>
            </a:pPr>
            <a:r>
              <a:t>M13: Billing &amp; Invoicing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Finance Director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Finance 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474720"/>
            <a:ext cx="18288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6118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Technical Lead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1280" y="34747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19" y="36118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F172A"/>
                </a:solidFill>
                <a:latin typeface="Inter"/>
              </a:defRPr>
            </a:pPr>
            <a:r>
              <a:t>Accountant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/>
            </a:r>
          </a:p>
        </p:txBody>
      </p:sp>
      <p:pic>
        <p:nvPicPr>
          <p:cNvPr id="56" name="Picture 5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RACI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Responsibility Assignment for Key Decision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72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Inter"/>
              </a:defRPr>
            </a:pPr>
            <a:r>
              <a:t>R = Responsible (does the work)     A = Accountable (final decision)     C = Consulted (provides input)     I = Informed (kept in the loop)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2004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Decision 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Steering</a:t>
            </a:r>
            <a:br/>
            <a:r>
              <a:t>Committee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Project</a:t>
            </a:r>
            <a:br/>
            <a:r>
              <a:t>Sponsor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Product</a:t>
            </a:r>
            <a:br/>
            <a:r>
              <a:t>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Technical</a:t>
            </a:r>
            <a:br/>
            <a:r>
              <a:t>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UX/UI</a:t>
            </a:r>
            <a:br/>
            <a:r>
              <a:t>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1737360"/>
            <a:ext cx="137160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QA</a:t>
            </a:r>
            <a:br/>
            <a:r>
              <a:t>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Scope Changes / Feature Prioritization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22402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697480"/>
            <a:ext cx="32004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Architecture &amp; Technology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20" y="26974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15468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Budget Allocation &amp; Spend Approval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89920" y="31546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UI/UX Design &amp; User Experience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319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751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467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20" y="36118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899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06908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Release Go / No-Go Decisions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035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467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467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183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789920" y="40690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789920" y="4160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" y="4617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Sprint Planning &amp; Backlog Priority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319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319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035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751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751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67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4183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4183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89920" y="45262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8992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1520" y="498348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2960" y="5074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Quality Gates &amp; Bug Severity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319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319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035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035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51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467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467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183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183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89920" y="49834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7899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1520" y="5440680"/>
            <a:ext cx="32004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2960" y="5532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Vendor &amp; Tool Selection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319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9319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3035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035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751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751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467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0467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4183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4183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789920" y="5440680"/>
            <a:ext cx="1371600" cy="4572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7899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31520" y="589788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22960" y="5989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Data Security &amp; Compliance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319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9319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035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3035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751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0467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0467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F6BFF"/>
                </a:solidFill>
                <a:latin typeface="Inter"/>
              </a:defRPr>
            </a:pPr>
            <a:r>
              <a:t>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4183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4183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7280"/>
                </a:solidFill>
                <a:latin typeface="Inter"/>
              </a:defRPr>
            </a:pPr>
            <a:r>
              <a:t>I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789920" y="589788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78992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D3C5"/>
                </a:solidFill>
                <a:latin typeface="Inter"/>
              </a:defRPr>
            </a:pPr>
            <a:r>
              <a:t>C</a:t>
            </a:r>
          </a:p>
        </p:txBody>
      </p:sp>
      <p:pic>
        <p:nvPicPr>
          <p:cNvPr id="147" name="Picture 146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437"/>
                </a:solidFill>
                <a:latin typeface="Inter"/>
              </a:defRPr>
            </a:pPr>
            <a:r>
              <a:t>COMMUNICATION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Inter"/>
              </a:defRPr>
            </a:pPr>
            <a:r>
              <a:t>Meeting Cadence and Stakeholder Communication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118872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Frequency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27432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Attendees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280160"/>
            <a:ext cx="320040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280160"/>
            <a:ext cx="201168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1051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Steering Committee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737360"/>
            <a:ext cx="118872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81051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Monthly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737360"/>
            <a:ext cx="27432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81051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Chairman, CEO,</a:t>
            </a:r>
            <a:br/>
            <a:r>
              <a:t>HR Director, Sponsor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1737360"/>
            <a:ext cx="32004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181051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Strategic direction, budget</a:t>
            </a:r>
            <a:br/>
            <a:r>
              <a:t>review, escalations, phase gates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737360"/>
            <a:ext cx="201168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81051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Decision log,</a:t>
            </a:r>
            <a:br/>
            <a:r>
              <a:t>meeting minutes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54203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Sprint Review &amp; Demo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468880"/>
            <a:ext cx="1188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54203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Bi-weekly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46888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254203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Core team, module</a:t>
            </a:r>
            <a:br/>
            <a:r>
              <a:t>stakeholders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46888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254203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Demo completed work, collect</a:t>
            </a:r>
            <a:br/>
            <a:r>
              <a:t>feedback, validate direction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2468880"/>
            <a:ext cx="2011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54203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Sprint report,</a:t>
            </a:r>
            <a:br/>
            <a:r>
              <a:t>feedback 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200400"/>
            <a:ext cx="22860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27355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Sprint 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3200400"/>
            <a:ext cx="118872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27355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Bi-weekly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00400"/>
            <a:ext cx="27432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79" y="327355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Product Owner, Tech Lead,</a:t>
            </a:r>
            <a:br/>
            <a:r>
              <a:t>Dev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200400"/>
            <a:ext cx="32004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79" y="327355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Define sprint scope, estimate</a:t>
            </a:r>
            <a:br/>
            <a:r>
              <a:t>stories, assign tasks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3200400"/>
            <a:ext cx="201168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27355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Sprint backlog,</a:t>
            </a:r>
            <a:br/>
            <a:r>
              <a:t>commitments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00507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Daily Standup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3931920"/>
            <a:ext cx="1188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0" y="400507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Daily (15 min)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3931920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79" y="400507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Dev team, Scrum Master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931920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79" y="400507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Progress updates, blockers,</a:t>
            </a:r>
            <a:br/>
            <a:r>
              <a:t>coordination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3931920"/>
            <a:ext cx="2011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0" y="400507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Updated task</a:t>
            </a:r>
            <a:br/>
            <a:r>
              <a:t>board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663440"/>
            <a:ext cx="22860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473659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Stakeholder Update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4663440"/>
            <a:ext cx="118872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473659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Weekly (email)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4663440"/>
            <a:ext cx="27432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79" y="473659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All stakeholders,</a:t>
            </a:r>
            <a:br/>
            <a:r>
              <a:t>module owners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4663440"/>
            <a:ext cx="320040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79" y="473659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Status summary, risks, metrics,</a:t>
            </a:r>
            <a:br/>
            <a:r>
              <a:t>upcoming milestones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9840" y="4663440"/>
            <a:ext cx="2011680" cy="73152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0" y="473659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Status report</a:t>
            </a:r>
            <a:br/>
            <a:r>
              <a:t>(1-page)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394959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46811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Inter"/>
              </a:defRPr>
            </a:pPr>
            <a:r>
              <a:t>Architecture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5394959"/>
            <a:ext cx="1188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5468112"/>
            <a:ext cx="1005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As needed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394959"/>
            <a:ext cx="27432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79" y="5468112"/>
            <a:ext cx="25603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Tech Lead, Product Owner,</a:t>
            </a:r>
            <a:br/>
            <a:r>
              <a:t>Security Officer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5394959"/>
            <a:ext cx="3200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79" y="5468112"/>
            <a:ext cx="3017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Technical decisions, design</a:t>
            </a:r>
            <a:br/>
            <a:r>
              <a:t>reviews, security assessments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49840" y="5394959"/>
            <a:ext cx="20116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0" y="5468112"/>
            <a:ext cx="18288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Inter"/>
              </a:defRPr>
            </a:pPr>
            <a:r>
              <a:t>Architecture</a:t>
            </a:r>
            <a:br/>
            <a:r>
              <a:t>decision records</a:t>
            </a:r>
          </a:p>
        </p:txBody>
      </p:sp>
      <p:pic>
        <p:nvPicPr>
          <p:cNvPr id="75" name="Picture 7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TEAM FORMATION —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D3C5"/>
                </a:solidFill>
                <a:latin typeface="Inter"/>
              </a:defRPr>
            </a:pPr>
            <a:r>
              <a:t>Actions to Finalize Project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03120"/>
            <a:ext cx="54864" cy="502920"/>
          </a:xfrm>
          <a:prstGeom prst="rect">
            <a:avLst/>
          </a:prstGeom>
          <a:solidFill>
            <a:srgbClr val="3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Confirm stakeholder names for each module role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Fill placeholder roles with actual team members. Ensure each module has an identified Primary Stakeholder, Business Owner, and SME.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755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D3C5"/>
                </a:solidFill>
                <a:latin typeface="Inter"/>
              </a:defRPr>
            </a:pPr>
            <a:r>
              <a:t>Week of Apr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063240"/>
            <a:ext cx="54864" cy="502920"/>
          </a:xfrm>
          <a:prstGeom prst="rect">
            <a:avLst/>
          </a:prstGeom>
          <a:solidFill>
            <a:srgbClr val="3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060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Schedule Phase 1 kickoff meeting with confirmed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Bring together the Core HRIS (M1) and System Admin (M10) stakeholders for a detailed requirements walkthrough.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69748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D3C5"/>
                </a:solidFill>
                <a:latin typeface="Inter"/>
              </a:defRPr>
            </a:pPr>
            <a:r>
              <a:t>May 5,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39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023360"/>
            <a:ext cx="54864" cy="502920"/>
          </a:xfrm>
          <a:prstGeom prst="rect">
            <a:avLst/>
          </a:prstGeom>
          <a:solidFill>
            <a:srgbClr val="3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Set up project communication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86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Create dedicated Slack/Teams channels: #praxion-general, #praxion-dev, #praxion-design. Set up weekly status email distribution list.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365760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675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D3C5"/>
                </a:solidFill>
                <a:latin typeface="Inter"/>
              </a:defRPr>
            </a:pPr>
            <a:r>
              <a:t>May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99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" y="4983480"/>
            <a:ext cx="54864" cy="502920"/>
          </a:xfrm>
          <a:prstGeom prst="rect">
            <a:avLst/>
          </a:prstGeom>
          <a:solidFill>
            <a:srgbClr val="30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526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Establish project tracking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46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Set up Jira/Linear for sprint management, Confluence for documentation, Figma for design collaboration.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61772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636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D3C5"/>
                </a:solidFill>
                <a:latin typeface="Inter"/>
              </a:defRPr>
            </a:pPr>
            <a:r>
              <a:t>May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559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486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Begin Phase 1 sprint planning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06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Inter"/>
              </a:defRPr>
            </a:pPr>
            <a:r>
              <a:t>Product Owner and Tech Lead collaborate on Sprint 1 backlog. Define first 2-week sprint scope and acceptance criteria.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5577840"/>
            <a:ext cx="182880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5596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9D3C5"/>
                </a:solidFill>
                <a:latin typeface="Inter"/>
              </a:defRPr>
            </a:pPr>
            <a:r>
              <a:t>June 2026</a:t>
            </a:r>
          </a:p>
        </p:txBody>
      </p:sp>
      <p:pic>
        <p:nvPicPr>
          <p:cNvPr id="40" name="Picture 39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