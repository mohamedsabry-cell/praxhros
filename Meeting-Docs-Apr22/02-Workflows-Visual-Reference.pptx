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74" r:id="rId25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Inter"/>
              </a:defRPr>
            </a:pPr>
            <a:r>
              <a:t>PRAXION HROS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19D3C5"/>
                </a:solidFill>
                <a:latin typeface="Inter"/>
              </a:defRPr>
            </a:pPr>
            <a:r>
              <a:t>Workflow Reference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137160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Inter"/>
              </a:defRPr>
            </a:pPr>
            <a:r>
              <a:t>Complete Process Flows for Chairman 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Inter"/>
              </a:defRPr>
            </a:pPr>
            <a:r>
              <a:t>April 22, 2026  |  85+ Workflows Across 13 Modules</a:t>
            </a:r>
          </a:p>
        </p:txBody>
      </p:sp>
      <p:pic>
        <p:nvPicPr>
          <p:cNvPr id="10" name="Picture 9" descr="praxion-icon-in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437"/>
                </a:solidFill>
                <a:latin typeface="Inter"/>
              </a:defRPr>
            </a:pPr>
            <a:r>
              <a:t>WORKFLOWS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Inter"/>
              </a:defRPr>
            </a:pPr>
            <a:r>
              <a:t>85+ Process Flows Documented Across All 13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4864" cy="86868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0" y="1508760"/>
            <a:ext cx="594360" cy="5943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5544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Inter"/>
              </a:defRPr>
            </a:pPr>
            <a:r>
              <a:t>M1: Core HRIS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3474720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371600"/>
            <a:ext cx="54864" cy="86868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59" y="1508760"/>
            <a:ext cx="594360" cy="5943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15544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600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Inter"/>
              </a:defRPr>
            </a:pPr>
            <a:r>
              <a:t>M2: Recruitment &amp; ATS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474720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54864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0" y="1508760"/>
            <a:ext cx="59436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15544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600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Inter"/>
              </a:defRPr>
            </a:pPr>
            <a:r>
              <a:t>M3: Onboarding/Offboarding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423160"/>
            <a:ext cx="3474720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24231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0" y="2560320"/>
            <a:ext cx="59436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26060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651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Inter"/>
              </a:defRPr>
            </a:pPr>
            <a:r>
              <a:t>M4: Performance &amp; KPIs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2423160"/>
            <a:ext cx="3474720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59" y="2423160"/>
            <a:ext cx="54864" cy="86868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23759" y="2560320"/>
            <a:ext cx="594360" cy="59436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59" y="26060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2651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Inter"/>
              </a:defRPr>
            </a:pPr>
            <a:r>
              <a:t>M5: Training &amp; LMS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2423160"/>
            <a:ext cx="3474720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2423160"/>
            <a:ext cx="54864" cy="8686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72800" y="2560320"/>
            <a:ext cx="594360" cy="59436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26060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651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Inter"/>
              </a:defRPr>
            </a:pPr>
            <a:r>
              <a:t>M6: Payroll &amp; Compensation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474720"/>
            <a:ext cx="3474720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3474720"/>
            <a:ext cx="54864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74720" y="3611879"/>
            <a:ext cx="59436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365760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3703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Inter"/>
              </a:defRPr>
            </a:pPr>
            <a:r>
              <a:t>M7: Benefits &amp; Expenses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59" y="3474720"/>
            <a:ext cx="3474720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80559" y="3474720"/>
            <a:ext cx="54864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223759" y="3611879"/>
            <a:ext cx="594360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23759" y="365760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3703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Inter"/>
              </a:defRPr>
            </a:pPr>
            <a:r>
              <a:t>M8: Contractor Mgmt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3474720"/>
            <a:ext cx="3474720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600" y="3474720"/>
            <a:ext cx="54864" cy="868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972800" y="3611879"/>
            <a:ext cx="594360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0" y="365760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3703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Inter"/>
              </a:defRPr>
            </a:pPr>
            <a:r>
              <a:t>M9: Analytics &amp; Reporting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4526279"/>
            <a:ext cx="3474720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1520" y="4526279"/>
            <a:ext cx="54864" cy="86868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74720" y="4663440"/>
            <a:ext cx="594360" cy="5943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74720" y="4709159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475487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Inter"/>
              </a:defRPr>
            </a:pPr>
            <a:r>
              <a:t>M10: System Admin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80559" y="4526279"/>
            <a:ext cx="3474720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480559" y="4526279"/>
            <a:ext cx="54864" cy="86868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223759" y="4663440"/>
            <a:ext cx="594360" cy="5943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23759" y="4709159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63440" y="475487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Inter"/>
              </a:defRPr>
            </a:pPr>
            <a:r>
              <a:t>M11: Mobile App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600" y="4526279"/>
            <a:ext cx="3474720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29600" y="4526279"/>
            <a:ext cx="54864" cy="8686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972800" y="4663440"/>
            <a:ext cx="594360" cy="59436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972800" y="4709159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0" y="475487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Inter"/>
              </a:defRPr>
            </a:pPr>
            <a:r>
              <a:t>M12: Client Portal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" y="5577840"/>
            <a:ext cx="3474720" cy="8686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31520" y="55778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474720" y="5715000"/>
            <a:ext cx="59436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74720" y="57607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" y="5806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Inter"/>
              </a:defRPr>
            </a:pPr>
            <a:r>
              <a:t>M13: Billing &amp; Invoicing</a:t>
            </a:r>
          </a:p>
        </p:txBody>
      </p:sp>
      <p:pic>
        <p:nvPicPr>
          <p:cNvPr id="70" name="Picture 69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0B1437"/>
                </a:solidFill>
              </a:rPr>
              <a:t>CRITICAL FLOW SLAs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00000" cy="40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Top 4 Workflows — Owner · SLA · External Touchpoints (Top 4 shown; remaining 81 flows in Detailed Workflows doc)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00000"/>
          <a:ext cx="10700000" cy="5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1900000"/>
                <a:gridCol w="2700000"/>
                <a:gridCol w="3400000"/>
              </a:tblGrid>
              <a:tr h="10000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Flow</a:t>
                      </a:r>
                    </a:p>
                  </a:txBody>
                  <a:tcPr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Primary Owner</a:t>
                      </a:r>
                    </a:p>
                  </a:txBody>
                  <a:tcPr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Step SLA (critical path)</a:t>
                      </a:r>
                    </a:p>
                  </a:txBody>
                  <a:tcPr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External Touchpoints / Risks</a:t>
                      </a:r>
                    </a:p>
                  </a:txBody>
                  <a:tcPr>
                    <a:solidFill>
                      <a:srgbClr val="0B1437"/>
                    </a:solidFill>
                  </a:tcPr>
                </a:tc>
              </a:tr>
              <a:tr h="10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1437"/>
                          </a:solidFill>
                        </a:rPr>
                        <a:t>Payroll Monthly Run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Finance Lead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Data freeze D−3 · Calc run D−2 (&lt;2h) · Review D−1 · Pay file D0 by 12:00 · Bank confirm D0 EOD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Commercial banks (ACH file) · Social Insurance Authority (Form 2/6) · Tax Authority. Risks: bank cutoff miss, rate-table drift.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10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1437"/>
                          </a:solidFill>
                        </a:rPr>
                        <a:t>New Hire Onboarding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HR Ops +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Offer → accept (48h) · Docs &amp; contract (D−3) · SSO/IT provisioned D−1 · Day-1 checklist (same day)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SSO IdP, MDM, email provisioning · Social Insurance registration (multi-day, async). Risks: IdP outage, SIA registration backlog.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1437"/>
                          </a:solidFill>
                        </a:rPr>
                        <a:t>Leave Approval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Line Manager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Submit → manager decision 24h SLA · HR acknowledgment 48h · Balance sync same day · Calendar sync &lt;1h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None external. Risks: manager OOO without delegate — auto-escalate to skip-level after 48h.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10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1437"/>
                          </a:solidFill>
                        </a:rPr>
                        <a:t>Exit / Separation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HR Ops + 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Notice → clearance 5 biz days · Final pay calc D+3 · Access revocation at offboarding (&lt;4h from last day) · Cert of exp within 7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Social Insurance deregistration · Bank for final settlement · Asset recovery. Risks: asset not returned, unpaid balances.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500000"/>
            <a:ext cx="10700000" cy="28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 i="1">
                <a:solidFill>
                  <a:srgbClr val="555555"/>
                </a:solidFill>
              </a:rPr>
              <a:t>SLAs are target service levels, not contractual. Full swim-lane diagrams + rejection/escalation branches maintained in workflow source files.</a:t>
            </a:r>
          </a:p>
        </p:txBody>
      </p:sp>
      <p:pic>
        <p:nvPicPr>
          <p:cNvPr id="6" name="Picture 5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437"/>
                </a:solidFill>
                <a:latin typeface="Inter"/>
              </a:defRPr>
            </a:pPr>
            <a:r>
              <a:t>M1: Core HRIS — Employee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437"/>
                </a:solidFill>
                <a:latin typeface="Inter"/>
              </a:defRPr>
            </a:pPr>
            <a:r>
              <a:t>New Employee Registration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267097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Initiate</a:t>
            </a:r>
            <a:br/>
            <a:r>
              <a:t>Request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16905" y="1440179"/>
            <a:ext cx="283463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18657" y="1280160"/>
            <a:ext cx="1267097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64377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Enter Personal</a:t>
            </a:r>
            <a:br/>
            <a:r>
              <a:t>Data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04042" y="1440179"/>
            <a:ext cx="283463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05794" y="1280160"/>
            <a:ext cx="1267097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1514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Upload</a:t>
            </a:r>
            <a:br/>
            <a:r>
              <a:t>Documents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91179" y="1440179"/>
            <a:ext cx="283463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92931" y="1280160"/>
            <a:ext cx="1267097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8651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Assign</a:t>
            </a:r>
            <a:br/>
            <a:r>
              <a:t>Department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778316" y="1440179"/>
            <a:ext cx="283463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80068" y="1280160"/>
            <a:ext cx="1267097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25788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Set Manager</a:t>
            </a:r>
            <a:br/>
            <a:r>
              <a:t>&amp; Role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65453" y="1440179"/>
            <a:ext cx="283463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67205" y="1280160"/>
            <a:ext cx="1267097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12925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Activate</a:t>
            </a:r>
            <a:br/>
            <a:r>
              <a:t>Profile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952590" y="1440179"/>
            <a:ext cx="283463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54342" y="1280160"/>
            <a:ext cx="1267097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00062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Send</a:t>
            </a:r>
            <a:br/>
            <a:r>
              <a:t>Welcome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057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437"/>
                </a:solidFill>
                <a:latin typeface="Inter"/>
              </a:defRPr>
            </a:pPr>
            <a:r>
              <a:t>Employee Data Update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2423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Update</a:t>
            </a:r>
            <a:br/>
            <a:r>
              <a:t>Request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029968" y="2583179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77439" y="2423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2315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HR</a:t>
            </a:r>
            <a:br/>
            <a:r>
              <a:t>Review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675887" y="2583179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23359" y="2423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907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Manager</a:t>
            </a:r>
            <a:br/>
            <a:r>
              <a:t>Approval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321807" y="2583179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79" y="2423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499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Apply</a:t>
            </a:r>
            <a:br/>
            <a:r>
              <a:t>Changes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6967727" y="2583179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199" y="2423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1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Audit</a:t>
            </a:r>
            <a:br/>
            <a:r>
              <a:t>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437"/>
                </a:solidFill>
                <a:latin typeface="Inter"/>
              </a:defRPr>
            </a:pPr>
            <a:r>
              <a:t>Employee Transfer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3566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Transfer</a:t>
            </a:r>
            <a:br/>
            <a:r>
              <a:t>Request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2029968" y="3726180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77439" y="3566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2315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Current Mgr</a:t>
            </a:r>
            <a:br/>
            <a:r>
              <a:t>Approval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675887" y="3726180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023359" y="3566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6907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New Mgr</a:t>
            </a:r>
            <a:br/>
            <a:r>
              <a:t>Approval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5321807" y="3726180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69279" y="3566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1499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HR</a:t>
            </a:r>
            <a:br/>
            <a:r>
              <a:t>Processing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6967727" y="3726180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199" y="3566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6091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Update</a:t>
            </a:r>
            <a:br/>
            <a:r>
              <a:t>Records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8613647" y="3726180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1120" y="3566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06840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Notify</a:t>
            </a:r>
            <a:br/>
            <a:r>
              <a:t>All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4343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437"/>
                </a:solidFill>
                <a:latin typeface="Inter"/>
              </a:defRPr>
            </a:pPr>
            <a:r>
              <a:t>Employee Separation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4709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" y="4727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Initiate</a:t>
            </a:r>
            <a:br/>
            <a:r>
              <a:t>Separation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2029968" y="4869180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377439" y="4709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423159" y="4727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Exit</a:t>
            </a:r>
            <a:br/>
            <a:r>
              <a:t>Interview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3675887" y="4869180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023359" y="4709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69079" y="4727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Clearance</a:t>
            </a:r>
            <a:br/>
            <a:r>
              <a:t>Process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5321807" y="4869180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669279" y="4709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14999" y="4727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Final</a:t>
            </a:r>
            <a:br/>
            <a:r>
              <a:t>Settlement</a:t>
            </a:r>
          </a:p>
        </p:txBody>
      </p:sp>
      <p:sp>
        <p:nvSpPr>
          <p:cNvPr id="71" name="Right Arrow 70"/>
          <p:cNvSpPr/>
          <p:nvPr/>
        </p:nvSpPr>
        <p:spPr>
          <a:xfrm>
            <a:off x="6967727" y="4869180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199" y="4709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60919" y="4727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Deactivate</a:t>
            </a:r>
            <a:br/>
            <a:r>
              <a:t>Profile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8613647" y="4869180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961120" y="4709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006840" y="4727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Archive</a:t>
            </a:r>
            <a:br/>
            <a:r>
              <a:t>Records</a:t>
            </a:r>
          </a:p>
        </p:txBody>
      </p:sp>
      <p:pic>
        <p:nvPicPr>
          <p:cNvPr id="77" name="Picture 76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437"/>
                </a:solidFill>
                <a:latin typeface="Inter"/>
              </a:defRPr>
            </a:pPr>
            <a:r>
              <a:t>M1: Core HRIS — Organization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437"/>
                </a:solidFill>
                <a:latin typeface="Inter"/>
              </a:defRPr>
            </a:pPr>
            <a:r>
              <a:t>Org Structure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Define</a:t>
            </a:r>
            <a:br/>
            <a:r>
              <a:t>Company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29968" y="1440179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7439" y="1280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5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Create</a:t>
            </a:r>
            <a:br/>
            <a:r>
              <a:t>Departments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75887" y="1440179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59" y="1280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7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Set</a:t>
            </a:r>
            <a:br/>
            <a:r>
              <a:t>Positions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21807" y="1440179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79" y="1280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499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Define</a:t>
            </a:r>
            <a:br/>
            <a:r>
              <a:t>Hierarchy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67727" y="1440179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199" y="1280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1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Assign</a:t>
            </a:r>
            <a:br/>
            <a:r>
              <a:t>Managers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613647" y="1440179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280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Publish</a:t>
            </a:r>
            <a:br/>
            <a:r>
              <a:t>Org Chart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057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437"/>
                </a:solidFill>
                <a:latin typeface="Inter"/>
              </a:defRPr>
            </a:pPr>
            <a:r>
              <a:t>Position Management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2423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Create</a:t>
            </a:r>
            <a:br/>
            <a:r>
              <a:t>Position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029968" y="2583179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77439" y="2423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2315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Define</a:t>
            </a:r>
            <a:br/>
            <a:r>
              <a:t>Requirements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675887" y="2583179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23359" y="2423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907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Set Grade</a:t>
            </a:r>
            <a:br/>
            <a:r>
              <a:t>&amp; Band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321807" y="2583179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79" y="2423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499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Link to</a:t>
            </a:r>
            <a:br/>
            <a:r>
              <a:t>Department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967727" y="2583179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199" y="2423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1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Approve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613647" y="2583179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61120" y="2423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6840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Activate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437"/>
                </a:solidFill>
                <a:latin typeface="Inter"/>
              </a:defRPr>
            </a:pPr>
            <a:r>
              <a:t>Document Management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3566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Upload</a:t>
            </a:r>
            <a:br/>
            <a:r>
              <a:t>Document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2029968" y="3726180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77439" y="3566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2315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Classify</a:t>
            </a:r>
            <a:br/>
            <a:r>
              <a:t>Type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675887" y="3726180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023359" y="3566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6907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Set</a:t>
            </a:r>
            <a:br/>
            <a:r>
              <a:t>Retention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5321807" y="3726180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69279" y="3566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1499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Version</a:t>
            </a:r>
            <a:br/>
            <a:r>
              <a:t>Control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6967727" y="3726180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199" y="3566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6091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Access</a:t>
            </a:r>
            <a:br/>
            <a:r>
              <a:t>Permissions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8613647" y="3726180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1120" y="3566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06840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Expiry</a:t>
            </a:r>
            <a:br/>
            <a:r>
              <a:t>Alerts</a:t>
            </a:r>
          </a:p>
        </p:txBody>
      </p:sp>
      <p:pic>
        <p:nvPicPr>
          <p:cNvPr id="59" name="Picture 58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437"/>
                </a:solidFill>
                <a:latin typeface="Inter"/>
              </a:defRPr>
            </a:pPr>
            <a:r>
              <a:t>M2: Recruitment &amp; 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6BFF"/>
                </a:solidFill>
                <a:latin typeface="Inter"/>
              </a:defRPr>
            </a:pPr>
            <a:r>
              <a:t>Job Requisition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280160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Create</a:t>
            </a:r>
            <a:br/>
            <a:r>
              <a:t>Requisition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29968" y="1440179"/>
            <a:ext cx="329184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7439" y="1280160"/>
            <a:ext cx="1280160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5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Budget</a:t>
            </a:r>
            <a:br/>
            <a:r>
              <a:t>Check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75887" y="1440179"/>
            <a:ext cx="329184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59" y="1280160"/>
            <a:ext cx="1280160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7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Manager</a:t>
            </a:r>
            <a:br/>
            <a:r>
              <a:t>Approval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21807" y="1440179"/>
            <a:ext cx="329184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79" y="1280160"/>
            <a:ext cx="1280160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499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HR</a:t>
            </a:r>
            <a:br/>
            <a:r>
              <a:t>Review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67727" y="1440179"/>
            <a:ext cx="329184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199" y="1280160"/>
            <a:ext cx="1280160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1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Publish</a:t>
            </a:r>
            <a:br/>
            <a:r>
              <a:t>Job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057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6BFF"/>
                </a:solidFill>
                <a:latin typeface="Inter"/>
              </a:defRPr>
            </a:pPr>
            <a:r>
              <a:t>Candidate Pipeline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423160"/>
            <a:ext cx="1267097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Receive</a:t>
            </a:r>
            <a:br/>
            <a:r>
              <a:t>Application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016905" y="2583179"/>
            <a:ext cx="283463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8657" y="2423160"/>
            <a:ext cx="1267097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64377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AI Resume</a:t>
            </a:r>
            <a:br/>
            <a:r>
              <a:t>Screening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604042" y="2583179"/>
            <a:ext cx="283463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05794" y="2423160"/>
            <a:ext cx="1267097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51514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Phone</a:t>
            </a:r>
            <a:br/>
            <a:r>
              <a:t>Screen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191179" y="2583179"/>
            <a:ext cx="283463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92931" y="2423160"/>
            <a:ext cx="1267097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8651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Schedule</a:t>
            </a:r>
            <a:br/>
            <a:r>
              <a:t>Interview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778316" y="2583179"/>
            <a:ext cx="283463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80068" y="2423160"/>
            <a:ext cx="1267097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25788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Panel</a:t>
            </a:r>
            <a:br/>
            <a:r>
              <a:t>Interview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365453" y="2583179"/>
            <a:ext cx="283463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67205" y="2423160"/>
            <a:ext cx="1267097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2925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Evaluation</a:t>
            </a:r>
            <a:br/>
            <a:r>
              <a:t>&amp; Score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952590" y="2583179"/>
            <a:ext cx="283463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254342" y="2423160"/>
            <a:ext cx="1267097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00062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Reference</a:t>
            </a:r>
            <a:br/>
            <a:r>
              <a:t>Check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6BFF"/>
                </a:solidFill>
                <a:latin typeface="Inter"/>
              </a:defRPr>
            </a:pPr>
            <a:r>
              <a:t>Offer Management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3566160"/>
            <a:ext cx="1267097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3584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Generate</a:t>
            </a:r>
            <a:br/>
            <a:r>
              <a:t>Offer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2016905" y="3726180"/>
            <a:ext cx="283463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18657" y="3566160"/>
            <a:ext cx="1267097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64377" y="3584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Compensation</a:t>
            </a:r>
            <a:br/>
            <a:r>
              <a:t>Review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604042" y="3726180"/>
            <a:ext cx="283463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905794" y="3566160"/>
            <a:ext cx="1267097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51514" y="3584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Legal</a:t>
            </a:r>
            <a:br/>
            <a:r>
              <a:t>Approval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5191179" y="3726180"/>
            <a:ext cx="283463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92931" y="3566160"/>
            <a:ext cx="1267097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38651" y="3584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Send to</a:t>
            </a:r>
            <a:br/>
            <a:r>
              <a:t>Candidate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6778316" y="3726180"/>
            <a:ext cx="283463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0068" y="3566160"/>
            <a:ext cx="1267097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25788" y="3584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Negotiate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8365453" y="3726180"/>
            <a:ext cx="283463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667205" y="3566160"/>
            <a:ext cx="1267097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12925" y="3584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Accept/</a:t>
            </a:r>
            <a:br/>
            <a:r>
              <a:t>Reject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9952590" y="3726180"/>
            <a:ext cx="283463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254342" y="3566160"/>
            <a:ext cx="1267097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300062" y="3584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Handoff to</a:t>
            </a:r>
            <a:br/>
            <a:r>
              <a:t>Onboarding</a:t>
            </a:r>
          </a:p>
        </p:txBody>
      </p:sp>
      <p:pic>
        <p:nvPicPr>
          <p:cNvPr id="62" name="Picture 61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437"/>
                </a:solidFill>
                <a:latin typeface="Inter"/>
              </a:defRPr>
            </a:pPr>
            <a:r>
              <a:t>M3: Onboarding &amp; Offboarding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Inter"/>
              </a:defRPr>
            </a:pPr>
            <a:r>
              <a:t>Pre-Boarding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2801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Offer</a:t>
            </a:r>
            <a:br/>
            <a:r>
              <a:t>Accepted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29968" y="1440179"/>
            <a:ext cx="329184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7439" y="1280160"/>
            <a:ext cx="12801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5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Create</a:t>
            </a:r>
            <a:br/>
            <a:r>
              <a:t>Account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75887" y="1440179"/>
            <a:ext cx="329184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59" y="1280160"/>
            <a:ext cx="12801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7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Send</a:t>
            </a:r>
            <a:br/>
            <a:r>
              <a:t>Welcome Kit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21807" y="1440179"/>
            <a:ext cx="329184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79" y="1280160"/>
            <a:ext cx="12801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499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Collect</a:t>
            </a:r>
            <a:br/>
            <a:r>
              <a:t>Documents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67727" y="1440179"/>
            <a:ext cx="329184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199" y="1280160"/>
            <a:ext cx="12801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1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Tax &amp; Social</a:t>
            </a:r>
            <a:br/>
            <a:r>
              <a:t>Insurance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613647" y="1440179"/>
            <a:ext cx="329184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280160"/>
            <a:ext cx="12801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Benefits</a:t>
            </a:r>
            <a:br/>
            <a:r>
              <a:t>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057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Inter"/>
              </a:defRPr>
            </a:pPr>
            <a:r>
              <a:t>Day 1 Onboarding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2423160"/>
            <a:ext cx="12801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IT</a:t>
            </a:r>
            <a:br/>
            <a:r>
              <a:t>Provisioning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029968" y="2583179"/>
            <a:ext cx="329184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77439" y="2423160"/>
            <a:ext cx="12801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2315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Access</a:t>
            </a:r>
            <a:br/>
            <a:r>
              <a:t>Setup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675887" y="2583179"/>
            <a:ext cx="329184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23359" y="2423160"/>
            <a:ext cx="12801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907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Orientation</a:t>
            </a:r>
            <a:br/>
            <a:r>
              <a:t>Session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321807" y="2583179"/>
            <a:ext cx="329184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79" y="2423160"/>
            <a:ext cx="12801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499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Team</a:t>
            </a:r>
            <a:br/>
            <a:r>
              <a:t>Intro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967727" y="2583179"/>
            <a:ext cx="329184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199" y="2423160"/>
            <a:ext cx="12801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1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Assign</a:t>
            </a:r>
            <a:br/>
            <a:r>
              <a:t>Mentor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613647" y="2583179"/>
            <a:ext cx="329184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61120" y="2423160"/>
            <a:ext cx="12801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6840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Training</a:t>
            </a:r>
            <a:br/>
            <a:r>
              <a:t>Plan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Inter"/>
              </a:defRPr>
            </a:pPr>
            <a:r>
              <a:t>Offboarding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3566160"/>
            <a:ext cx="1267097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3584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Resignation/</a:t>
            </a:r>
            <a:br/>
            <a:r>
              <a:t>Termination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2016905" y="3726180"/>
            <a:ext cx="283463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18657" y="3566160"/>
            <a:ext cx="1267097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64377" y="3584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Notice</a:t>
            </a:r>
            <a:br/>
            <a:r>
              <a:t>Period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604042" y="3726180"/>
            <a:ext cx="283463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905794" y="3566160"/>
            <a:ext cx="1267097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51514" y="3584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Knowledge</a:t>
            </a:r>
            <a:br/>
            <a:r>
              <a:t>Transfer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5191179" y="3726180"/>
            <a:ext cx="283463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92931" y="3566160"/>
            <a:ext cx="1267097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38651" y="3584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IT</a:t>
            </a:r>
            <a:br/>
            <a:r>
              <a:t>Revoke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6778316" y="3726180"/>
            <a:ext cx="283463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0068" y="3566160"/>
            <a:ext cx="1267097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25788" y="3584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Final</a:t>
            </a:r>
            <a:br/>
            <a:r>
              <a:t>Settlement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8365453" y="3726180"/>
            <a:ext cx="283463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667205" y="3566160"/>
            <a:ext cx="1267097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12925" y="3584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Exit</a:t>
            </a:r>
            <a:br/>
            <a:r>
              <a:t>Interview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9952590" y="3726180"/>
            <a:ext cx="283463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254342" y="3566160"/>
            <a:ext cx="1267097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300062" y="3584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Archive</a:t>
            </a:r>
          </a:p>
        </p:txBody>
      </p:sp>
      <p:pic>
        <p:nvPicPr>
          <p:cNvPr id="62" name="Picture 61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437"/>
                </a:solidFill>
                <a:latin typeface="Inter"/>
              </a:defRPr>
            </a:pPr>
            <a:r>
              <a:t>M4: Performance &amp;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Inter"/>
              </a:defRPr>
            </a:pPr>
            <a:r>
              <a:t>Goal Setting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280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HR Opens</a:t>
            </a:r>
            <a:br/>
            <a:r>
              <a:t>Cycle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29968" y="1440179"/>
            <a:ext cx="329184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7439" y="1280160"/>
            <a:ext cx="1280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5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Employee</a:t>
            </a:r>
            <a:br/>
            <a:r>
              <a:t>Sets Goals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75887" y="1440179"/>
            <a:ext cx="329184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59" y="1280160"/>
            <a:ext cx="1280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7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Manager</a:t>
            </a:r>
            <a:br/>
            <a:r>
              <a:t>Reviews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21807" y="1440179"/>
            <a:ext cx="329184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79" y="1280160"/>
            <a:ext cx="1280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499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Align to</a:t>
            </a:r>
            <a:br/>
            <a:r>
              <a:t>Company OKRs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67727" y="1440179"/>
            <a:ext cx="329184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199" y="1280160"/>
            <a:ext cx="1280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1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Goals</a:t>
            </a:r>
            <a:br/>
            <a:r>
              <a:t>Finalized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613647" y="1440179"/>
            <a:ext cx="329184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280160"/>
            <a:ext cx="1280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Track</a:t>
            </a:r>
            <a:br/>
            <a:r>
              <a:t>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057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Inter"/>
              </a:defRPr>
            </a:pPr>
            <a:r>
              <a:t>Performance Review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2423160"/>
            <a:ext cx="1267097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Self</a:t>
            </a:r>
            <a:br/>
            <a:r>
              <a:t>Assessment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016905" y="2583179"/>
            <a:ext cx="283463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8657" y="2423160"/>
            <a:ext cx="1267097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64377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Peer</a:t>
            </a:r>
            <a:br/>
            <a:r>
              <a:t>Feedback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604042" y="2583179"/>
            <a:ext cx="283463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05794" y="2423160"/>
            <a:ext cx="1267097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1514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Manager</a:t>
            </a:r>
            <a:br/>
            <a:r>
              <a:t>Evaluation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191179" y="2583179"/>
            <a:ext cx="283463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92931" y="2423160"/>
            <a:ext cx="1267097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8651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Calibration</a:t>
            </a:r>
            <a:br/>
            <a:r>
              <a:t>Session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778316" y="2583179"/>
            <a:ext cx="283463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80068" y="2423160"/>
            <a:ext cx="1267097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25788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Final</a:t>
            </a:r>
            <a:br/>
            <a:r>
              <a:t>Rating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365453" y="2583179"/>
            <a:ext cx="283463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67205" y="2423160"/>
            <a:ext cx="1267097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12925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Deliver</a:t>
            </a:r>
            <a:br/>
            <a:r>
              <a:t>Feedback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9952590" y="2583179"/>
            <a:ext cx="283463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54342" y="2423160"/>
            <a:ext cx="1267097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00062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Development</a:t>
            </a:r>
            <a:br/>
            <a:r>
              <a:t>Plan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Inter"/>
              </a:defRPr>
            </a:pPr>
            <a:r>
              <a:t>Continuous Feedback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3566160"/>
            <a:ext cx="1280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Request</a:t>
            </a:r>
            <a:br/>
            <a:r>
              <a:t>Feedback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2029968" y="3726180"/>
            <a:ext cx="329184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377439" y="3566160"/>
            <a:ext cx="1280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2315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Peer</a:t>
            </a:r>
            <a:br/>
            <a:r>
              <a:t>Responds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3675887" y="3726180"/>
            <a:ext cx="329184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23359" y="3566160"/>
            <a:ext cx="1280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907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Manager</a:t>
            </a:r>
            <a:br/>
            <a:r>
              <a:t>Notes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5321807" y="3726180"/>
            <a:ext cx="329184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79" y="3566160"/>
            <a:ext cx="1280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1499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Record in</a:t>
            </a:r>
            <a:br/>
            <a:r>
              <a:t>Profile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6967727" y="3726180"/>
            <a:ext cx="329184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315199" y="3566160"/>
            <a:ext cx="1280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6091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Link to</a:t>
            </a:r>
            <a:br/>
            <a:r>
              <a:t>Goals</a:t>
            </a:r>
          </a:p>
        </p:txBody>
      </p:sp>
      <p:pic>
        <p:nvPicPr>
          <p:cNvPr id="59" name="Picture 58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437"/>
                </a:solidFill>
                <a:latin typeface="Inter"/>
              </a:defRPr>
            </a:pPr>
            <a:r>
              <a:t>M5: Training &amp; 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B2777"/>
                </a:solidFill>
                <a:latin typeface="Inter"/>
              </a:defRPr>
            </a:pPr>
            <a:r>
              <a:t>Course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280160" cy="5029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Create</a:t>
            </a:r>
            <a:br/>
            <a:r>
              <a:t>Course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29968" y="1440179"/>
            <a:ext cx="329184" cy="182880"/>
          </a:xfrm>
          <a:prstGeom prst="rightArrow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7439" y="1280160"/>
            <a:ext cx="1280160" cy="5029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5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Upload</a:t>
            </a:r>
            <a:br/>
            <a:r>
              <a:t>Content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75887" y="1440179"/>
            <a:ext cx="329184" cy="182880"/>
          </a:xfrm>
          <a:prstGeom prst="rightArrow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59" y="1280160"/>
            <a:ext cx="1280160" cy="5029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7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Set</a:t>
            </a:r>
            <a:br/>
            <a:r>
              <a:t>Prerequisites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21807" y="1440179"/>
            <a:ext cx="329184" cy="182880"/>
          </a:xfrm>
          <a:prstGeom prst="rightArrow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79" y="1280160"/>
            <a:ext cx="1280160" cy="5029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499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Define</a:t>
            </a:r>
            <a:br/>
            <a:r>
              <a:t>Assessment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67727" y="1440179"/>
            <a:ext cx="329184" cy="182880"/>
          </a:xfrm>
          <a:prstGeom prst="rightArrow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199" y="1280160"/>
            <a:ext cx="1280160" cy="5029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1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Publish</a:t>
            </a:r>
            <a:br/>
            <a:r>
              <a:t>Course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613647" y="1440179"/>
            <a:ext cx="329184" cy="182880"/>
          </a:xfrm>
          <a:prstGeom prst="rightArrow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280160"/>
            <a:ext cx="1280160" cy="5029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Auto-Assign</a:t>
            </a:r>
            <a:br/>
            <a:r>
              <a:t>Roles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057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B2777"/>
                </a:solidFill>
                <a:latin typeface="Inter"/>
              </a:defRPr>
            </a:pPr>
            <a:r>
              <a:t>Employee Learning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2423160"/>
            <a:ext cx="1280160" cy="5029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Browse</a:t>
            </a:r>
            <a:br/>
            <a:r>
              <a:t>Catalog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029968" y="2583179"/>
            <a:ext cx="329184" cy="182880"/>
          </a:xfrm>
          <a:prstGeom prst="rightArrow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77439" y="2423160"/>
            <a:ext cx="1280160" cy="5029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2315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Enroll in</a:t>
            </a:r>
            <a:br/>
            <a:r>
              <a:t>Course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675887" y="2583179"/>
            <a:ext cx="329184" cy="182880"/>
          </a:xfrm>
          <a:prstGeom prst="rightArrow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23359" y="2423160"/>
            <a:ext cx="1280160" cy="5029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907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Complete</a:t>
            </a:r>
            <a:br/>
            <a:r>
              <a:t>Modules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321807" y="2583179"/>
            <a:ext cx="329184" cy="182880"/>
          </a:xfrm>
          <a:prstGeom prst="rightArrow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79" y="2423160"/>
            <a:ext cx="1280160" cy="5029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499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Take</a:t>
            </a:r>
            <a:br/>
            <a:r>
              <a:t>Assessment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967727" y="2583179"/>
            <a:ext cx="329184" cy="182880"/>
          </a:xfrm>
          <a:prstGeom prst="rightArrow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199" y="2423160"/>
            <a:ext cx="1280160" cy="5029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1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Generate</a:t>
            </a:r>
            <a:br/>
            <a:r>
              <a:t>Certificate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613647" y="2583179"/>
            <a:ext cx="329184" cy="182880"/>
          </a:xfrm>
          <a:prstGeom prst="rightArrow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61120" y="2423160"/>
            <a:ext cx="1280160" cy="5029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6840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Update</a:t>
            </a:r>
            <a:br/>
            <a:r>
              <a:t>Record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B2777"/>
                </a:solidFill>
                <a:latin typeface="Inter"/>
              </a:defRPr>
            </a:pPr>
            <a:r>
              <a:t>Compliance Training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3566160"/>
            <a:ext cx="1280160" cy="5029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Identify</a:t>
            </a:r>
            <a:br/>
            <a:r>
              <a:t>Requirements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2029968" y="3726180"/>
            <a:ext cx="329184" cy="182880"/>
          </a:xfrm>
          <a:prstGeom prst="rightArrow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77439" y="3566160"/>
            <a:ext cx="1280160" cy="5029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2315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Auto-Assign</a:t>
            </a:r>
            <a:br/>
            <a:r>
              <a:t>Employees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675887" y="3726180"/>
            <a:ext cx="329184" cy="182880"/>
          </a:xfrm>
          <a:prstGeom prst="rightArrow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023359" y="3566160"/>
            <a:ext cx="1280160" cy="5029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6907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Send</a:t>
            </a:r>
            <a:br/>
            <a:r>
              <a:t>Reminders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5321807" y="3726180"/>
            <a:ext cx="329184" cy="182880"/>
          </a:xfrm>
          <a:prstGeom prst="rightArrow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69279" y="3566160"/>
            <a:ext cx="1280160" cy="5029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1499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Track</a:t>
            </a:r>
            <a:br/>
            <a:r>
              <a:t>Completion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6967727" y="3726180"/>
            <a:ext cx="329184" cy="182880"/>
          </a:xfrm>
          <a:prstGeom prst="rightArrow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199" y="3566160"/>
            <a:ext cx="1280160" cy="5029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6091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Escalate</a:t>
            </a:r>
            <a:br/>
            <a:r>
              <a:t>Overdue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8613647" y="3726180"/>
            <a:ext cx="329184" cy="182880"/>
          </a:xfrm>
          <a:prstGeom prst="rightArrow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1120" y="3566160"/>
            <a:ext cx="1280160" cy="5029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06840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Audit</a:t>
            </a:r>
            <a:br/>
            <a:r>
              <a:t>Report</a:t>
            </a:r>
          </a:p>
        </p:txBody>
      </p:sp>
      <p:pic>
        <p:nvPicPr>
          <p:cNvPr id="59" name="Picture 58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437"/>
                </a:solidFill>
                <a:latin typeface="Inter"/>
              </a:defRPr>
            </a:pPr>
            <a:r>
              <a:t>M6: Payroll &amp; Compensation — Payroll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D3C5"/>
                </a:solidFill>
                <a:latin typeface="Inter"/>
              </a:defRPr>
            </a:pPr>
            <a:r>
              <a:t>Monthly Payroll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68705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97726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Collect</a:t>
            </a:r>
            <a:br/>
            <a:r>
              <a:t>Attendance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18513" y="1440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20265" y="1280160"/>
            <a:ext cx="1068705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5985" y="1298448"/>
            <a:ext cx="97726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Calculate</a:t>
            </a:r>
            <a:br/>
            <a:r>
              <a:t>Overtime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07258" y="1440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9010" y="1280160"/>
            <a:ext cx="1068705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4730" y="1298448"/>
            <a:ext cx="97726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Apply Leave</a:t>
            </a:r>
            <a:br/>
            <a:r>
              <a:t>Deductions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596003" y="1440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7755" y="1280160"/>
            <a:ext cx="1068705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43475" y="1298448"/>
            <a:ext cx="97726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Compute</a:t>
            </a:r>
            <a:br/>
            <a:r>
              <a:t>Tax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4748" y="1440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6500" y="1280160"/>
            <a:ext cx="1068705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2220" y="1298448"/>
            <a:ext cx="97726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Social</a:t>
            </a:r>
            <a:br/>
            <a:r>
              <a:t>Insurance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373492" y="1440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75245" y="1280160"/>
            <a:ext cx="1068705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0965" y="1298448"/>
            <a:ext cx="97726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Net Pay</a:t>
            </a:r>
            <a:br/>
            <a:r>
              <a:t>Calc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62238" y="1440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63990" y="1280160"/>
            <a:ext cx="1068705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09710" y="1298448"/>
            <a:ext cx="97726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Generate</a:t>
            </a:r>
            <a:br/>
            <a:r>
              <a:t>Payslips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150983" y="1440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52735" y="1280160"/>
            <a:ext cx="1068705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98455" y="1298448"/>
            <a:ext cx="97726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Bank</a:t>
            </a:r>
            <a:br/>
            <a:r>
              <a:t>Transfer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2057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D3C5"/>
                </a:solidFill>
                <a:latin typeface="Inter"/>
              </a:defRPr>
            </a:pPr>
            <a:r>
              <a:t>Payroll Adjustments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2423160"/>
            <a:ext cx="1280160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Submit</a:t>
            </a:r>
            <a:br/>
            <a:r>
              <a:t>Adjustment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029968" y="2583179"/>
            <a:ext cx="329184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77439" y="2423160"/>
            <a:ext cx="1280160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2315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HR</a:t>
            </a:r>
            <a:br/>
            <a:r>
              <a:t>Review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3675887" y="2583179"/>
            <a:ext cx="329184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23359" y="2423160"/>
            <a:ext cx="1280160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6907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Finance</a:t>
            </a:r>
            <a:br/>
            <a:r>
              <a:t>Approval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5321807" y="2583179"/>
            <a:ext cx="329184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79" y="2423160"/>
            <a:ext cx="1280160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499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Apply to</a:t>
            </a:r>
            <a:br/>
            <a:r>
              <a:t>Payroll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967727" y="2583179"/>
            <a:ext cx="329184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199" y="2423160"/>
            <a:ext cx="1280160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6091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Update</a:t>
            </a:r>
            <a:br/>
            <a:r>
              <a:t>Records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8613647" y="2583179"/>
            <a:ext cx="329184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61120" y="2423160"/>
            <a:ext cx="1280160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06840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Notify</a:t>
            </a:r>
            <a:br/>
            <a:r>
              <a:t>Employee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D3C5"/>
                </a:solidFill>
                <a:latin typeface="Inter"/>
              </a:defRPr>
            </a:pPr>
            <a:r>
              <a:t>Tax Reporting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3566160"/>
            <a:ext cx="1280160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Collect</a:t>
            </a:r>
            <a:br/>
            <a:r>
              <a:t>Tax Data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2029968" y="3726180"/>
            <a:ext cx="329184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377439" y="3566160"/>
            <a:ext cx="1280160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2315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Generate</a:t>
            </a:r>
            <a:br/>
            <a:r>
              <a:t>Forms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3675887" y="3726180"/>
            <a:ext cx="329184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023359" y="3566160"/>
            <a:ext cx="1280160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6907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Review</a:t>
            </a:r>
            <a:br/>
            <a:r>
              <a:t>Accuracy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5321807" y="3726180"/>
            <a:ext cx="329184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69279" y="3566160"/>
            <a:ext cx="1280160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1499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Submit to</a:t>
            </a:r>
            <a:br/>
            <a:r>
              <a:t>Authority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6967727" y="3726180"/>
            <a:ext cx="329184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15199" y="3566160"/>
            <a:ext cx="1280160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6091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Archive</a:t>
            </a:r>
            <a:br/>
            <a:r>
              <a:t>Records</a:t>
            </a:r>
          </a:p>
        </p:txBody>
      </p:sp>
      <p:pic>
        <p:nvPicPr>
          <p:cNvPr id="62" name="Picture 61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437"/>
                </a:solidFill>
                <a:latin typeface="Inter"/>
              </a:defRPr>
            </a:pPr>
            <a:r>
              <a:t>M6: Payroll &amp; Compensation — Salary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D3C5"/>
                </a:solidFill>
                <a:latin typeface="Inter"/>
              </a:defRPr>
            </a:pPr>
            <a:r>
              <a:t>Salary Review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267097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Open Review</a:t>
            </a:r>
            <a:br/>
            <a:r>
              <a:t>Cycle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16905" y="1440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18657" y="1280160"/>
            <a:ext cx="1267097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64377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Set Budget</a:t>
            </a:r>
            <a:br/>
            <a:r>
              <a:t>Percentage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04042" y="1440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05794" y="1280160"/>
            <a:ext cx="1267097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1514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Manager</a:t>
            </a:r>
            <a:br/>
            <a:r>
              <a:t>Proposals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91179" y="1440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92931" y="1280160"/>
            <a:ext cx="1267097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8651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HR</a:t>
            </a:r>
            <a:br/>
            <a:r>
              <a:t>Equity Check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778316" y="1440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80068" y="1280160"/>
            <a:ext cx="1267097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25788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Finance</a:t>
            </a:r>
            <a:br/>
            <a:r>
              <a:t>Approval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65453" y="1440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67205" y="1280160"/>
            <a:ext cx="1267097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12925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Apply</a:t>
            </a:r>
            <a:br/>
            <a:r>
              <a:t>Changes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952590" y="1440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54342" y="1280160"/>
            <a:ext cx="1267097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00062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Employee</a:t>
            </a:r>
            <a:br/>
            <a:r>
              <a:t>Notification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057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D3C5"/>
                </a:solidFill>
                <a:latin typeface="Inter"/>
              </a:defRPr>
            </a:pPr>
            <a:r>
              <a:t>Bonus Processing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2423160"/>
            <a:ext cx="1267097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Define</a:t>
            </a:r>
            <a:br/>
            <a:r>
              <a:t>Criteria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016905" y="2583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18657" y="2423160"/>
            <a:ext cx="1267097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64377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Calculate</a:t>
            </a:r>
            <a:br/>
            <a:r>
              <a:t>Eligibility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604042" y="2583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05794" y="2423160"/>
            <a:ext cx="1267097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51514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Manager</a:t>
            </a:r>
            <a:br/>
            <a:r>
              <a:t>Recommend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191179" y="2583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92931" y="2423160"/>
            <a:ext cx="1267097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38651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HR</a:t>
            </a:r>
            <a:br/>
            <a:r>
              <a:t>Calibration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6778316" y="2583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80068" y="2423160"/>
            <a:ext cx="1267097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25788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Finance</a:t>
            </a:r>
            <a:br/>
            <a:r>
              <a:t>Approval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8365453" y="2583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67205" y="2423160"/>
            <a:ext cx="1267097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12925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Process</a:t>
            </a:r>
            <a:br/>
            <a:r>
              <a:t>Payment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9952590" y="2583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254342" y="2423160"/>
            <a:ext cx="1267097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00062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Tax</a:t>
            </a:r>
            <a:br/>
            <a:r>
              <a:t>Deduction</a:t>
            </a:r>
          </a:p>
        </p:txBody>
      </p:sp>
      <p:pic>
        <p:nvPicPr>
          <p:cNvPr id="47" name="Picture 46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437"/>
                </a:solidFill>
                <a:latin typeface="Inter"/>
              </a:defRPr>
            </a:pPr>
            <a:r>
              <a:t>M7: Benefits &amp; Expenses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Inter"/>
              </a:defRPr>
            </a:pPr>
            <a:r>
              <a:t>Benefits Enrollment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267097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Open</a:t>
            </a:r>
            <a:br/>
            <a:r>
              <a:t>Enrollment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16905" y="1440179"/>
            <a:ext cx="283463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18657" y="1280160"/>
            <a:ext cx="1267097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64377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View</a:t>
            </a:r>
            <a:br/>
            <a:r>
              <a:t>Plans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04042" y="1440179"/>
            <a:ext cx="283463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05794" y="1280160"/>
            <a:ext cx="1267097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1514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Check</a:t>
            </a:r>
            <a:br/>
            <a:r>
              <a:t>Eligibility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91179" y="1440179"/>
            <a:ext cx="283463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92931" y="1280160"/>
            <a:ext cx="1267097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8651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Select</a:t>
            </a:r>
            <a:br/>
            <a:r>
              <a:t>Plan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778316" y="1440179"/>
            <a:ext cx="283463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80068" y="1280160"/>
            <a:ext cx="1267097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25788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Add</a:t>
            </a:r>
            <a:br/>
            <a:r>
              <a:t>Dependents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65453" y="1440179"/>
            <a:ext cx="283463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67205" y="1280160"/>
            <a:ext cx="1267097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12925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Confirm</a:t>
            </a:r>
            <a:br/>
            <a:r>
              <a:t>Election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952590" y="1440179"/>
            <a:ext cx="283463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54342" y="1280160"/>
            <a:ext cx="1267097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00062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Payroll</a:t>
            </a:r>
            <a:br/>
            <a:r>
              <a:t>Sync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057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Inter"/>
              </a:defRPr>
            </a:pPr>
            <a:r>
              <a:t>Expense Management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2423160"/>
            <a:ext cx="1267097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Submit</a:t>
            </a:r>
            <a:br/>
            <a:r>
              <a:t>Expense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016905" y="2583179"/>
            <a:ext cx="283463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18657" y="2423160"/>
            <a:ext cx="1267097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64377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Upload</a:t>
            </a:r>
            <a:br/>
            <a:r>
              <a:t>Receipts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604042" y="2583179"/>
            <a:ext cx="283463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05794" y="2423160"/>
            <a:ext cx="1267097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51514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Auto-Policy</a:t>
            </a:r>
            <a:br/>
            <a:r>
              <a:t>Check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191179" y="2583179"/>
            <a:ext cx="283463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92931" y="2423160"/>
            <a:ext cx="1267097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38651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Manager</a:t>
            </a:r>
            <a:br/>
            <a:r>
              <a:t>Approval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6778316" y="2583179"/>
            <a:ext cx="283463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80068" y="2423160"/>
            <a:ext cx="1267097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25788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Finance</a:t>
            </a:r>
            <a:br/>
            <a:r>
              <a:t>Review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8365453" y="2583179"/>
            <a:ext cx="283463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67205" y="2423160"/>
            <a:ext cx="1267097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12925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Process</a:t>
            </a:r>
            <a:br/>
            <a:r>
              <a:t>Reimbursement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9952590" y="2583179"/>
            <a:ext cx="283463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254342" y="2423160"/>
            <a:ext cx="1267097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00062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Record</a:t>
            </a:r>
            <a:br/>
            <a:r>
              <a:t>Payment</a:t>
            </a:r>
          </a:p>
        </p:txBody>
      </p:sp>
      <p:pic>
        <p:nvPicPr>
          <p:cNvPr id="47" name="Picture 46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437"/>
                </a:solidFill>
                <a:latin typeface="Inter"/>
              </a:defRPr>
            </a:pPr>
            <a:r>
              <a:t>M8: Contractor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Inter"/>
              </a:defRPr>
            </a:pPr>
            <a:r>
              <a:t>Contractor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267097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Request</a:t>
            </a:r>
            <a:br/>
            <a:r>
              <a:t>Contractor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16905" y="1440179"/>
            <a:ext cx="283463" cy="18288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18657" y="1280160"/>
            <a:ext cx="1267097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64377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Source</a:t>
            </a:r>
            <a:br/>
            <a:r>
              <a:t>Candidates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04042" y="1440179"/>
            <a:ext cx="283463" cy="18288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05794" y="1280160"/>
            <a:ext cx="1267097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1514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Rate</a:t>
            </a:r>
            <a:br/>
            <a:r>
              <a:t>Negotiation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91179" y="1440179"/>
            <a:ext cx="283463" cy="18288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92931" y="1280160"/>
            <a:ext cx="1267097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8651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Legal</a:t>
            </a:r>
            <a:br/>
            <a:r>
              <a:t>Review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778316" y="1440179"/>
            <a:ext cx="283463" cy="18288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80068" y="1280160"/>
            <a:ext cx="1267097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25788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Contract</a:t>
            </a:r>
            <a:br/>
            <a:r>
              <a:t>Signing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65453" y="1440179"/>
            <a:ext cx="283463" cy="18288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67205" y="1280160"/>
            <a:ext cx="1267097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12925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Onboard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952590" y="1440179"/>
            <a:ext cx="283463" cy="18288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54342" y="1280160"/>
            <a:ext cx="1267097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00062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Assign</a:t>
            </a:r>
            <a:br/>
            <a:r>
              <a:t>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057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Inter"/>
              </a:defRPr>
            </a:pPr>
            <a:r>
              <a:t>Contractor Payment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2423160"/>
            <a:ext cx="128016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Submit</a:t>
            </a:r>
            <a:br/>
            <a:r>
              <a:t>Timesheet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029968" y="2583179"/>
            <a:ext cx="329184" cy="18288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77439" y="2423160"/>
            <a:ext cx="128016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2315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Manager</a:t>
            </a:r>
            <a:br/>
            <a:r>
              <a:t>Approval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675887" y="2583179"/>
            <a:ext cx="329184" cy="18288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23359" y="2423160"/>
            <a:ext cx="128016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907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Generate</a:t>
            </a:r>
            <a:br/>
            <a:r>
              <a:t>Invoice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321807" y="2583179"/>
            <a:ext cx="329184" cy="18288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79" y="2423160"/>
            <a:ext cx="128016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499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Finance</a:t>
            </a:r>
            <a:br/>
            <a:r>
              <a:t>Review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6967727" y="2583179"/>
            <a:ext cx="329184" cy="18288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199" y="2423160"/>
            <a:ext cx="128016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1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Process</a:t>
            </a:r>
            <a:br/>
            <a:r>
              <a:t>Payment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8613647" y="2583179"/>
            <a:ext cx="329184" cy="18288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61120" y="2423160"/>
            <a:ext cx="128016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06840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Tax</a:t>
            </a:r>
            <a:br/>
            <a:r>
              <a:t>Documents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Inter"/>
              </a:defRPr>
            </a:pPr>
            <a:r>
              <a:t>Contract Renewal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3566160"/>
            <a:ext cx="128016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Expiry</a:t>
            </a:r>
            <a:br/>
            <a:r>
              <a:t>Alert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2029968" y="3726180"/>
            <a:ext cx="329184" cy="18288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377439" y="3566160"/>
            <a:ext cx="128016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2315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Review</a:t>
            </a:r>
            <a:br/>
            <a:r>
              <a:t>Performance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3675887" y="3726180"/>
            <a:ext cx="329184" cy="18288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23359" y="3566160"/>
            <a:ext cx="128016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907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Negotiate</a:t>
            </a:r>
            <a:br/>
            <a:r>
              <a:t>Terms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5321807" y="3726180"/>
            <a:ext cx="329184" cy="18288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79" y="3566160"/>
            <a:ext cx="128016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1499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Legal</a:t>
            </a:r>
            <a:br/>
            <a:r>
              <a:t>Review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6967727" y="3726180"/>
            <a:ext cx="329184" cy="18288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315199" y="3566160"/>
            <a:ext cx="128016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6091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Sign</a:t>
            </a:r>
            <a:br/>
            <a:r>
              <a:t>Renewal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8613647" y="3726180"/>
            <a:ext cx="329184" cy="18288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961120" y="3566160"/>
            <a:ext cx="128016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06840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Update</a:t>
            </a:r>
            <a:br/>
            <a:r>
              <a:t>Records</a:t>
            </a:r>
          </a:p>
        </p:txBody>
      </p:sp>
      <p:pic>
        <p:nvPicPr>
          <p:cNvPr id="62" name="Picture 61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437"/>
                </a:solidFill>
                <a:latin typeface="Inter"/>
              </a:defRPr>
            </a:pPr>
            <a:r>
              <a:t>M9: Analytics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  <a:latin typeface="Inter"/>
              </a:defRPr>
            </a:pPr>
            <a:r>
              <a:t>Dashboard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28016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Define</a:t>
            </a:r>
            <a:br/>
            <a:r>
              <a:t>KPIs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29968" y="1440179"/>
            <a:ext cx="329184" cy="182880"/>
          </a:xfrm>
          <a:prstGeom prst="rightArrow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7439" y="1280160"/>
            <a:ext cx="128016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5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Configure</a:t>
            </a:r>
            <a:br/>
            <a:r>
              <a:t>Data Sources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75887" y="1440179"/>
            <a:ext cx="329184" cy="182880"/>
          </a:xfrm>
          <a:prstGeom prst="rightArrow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59" y="1280160"/>
            <a:ext cx="128016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7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Build</a:t>
            </a:r>
            <a:br/>
            <a:r>
              <a:t>Dashboard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21807" y="1440179"/>
            <a:ext cx="329184" cy="182880"/>
          </a:xfrm>
          <a:prstGeom prst="rightArrow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79" y="1280160"/>
            <a:ext cx="128016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499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Set</a:t>
            </a:r>
            <a:br/>
            <a:r>
              <a:t>Refresh Rate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67727" y="1440179"/>
            <a:ext cx="329184" cy="182880"/>
          </a:xfrm>
          <a:prstGeom prst="rightArrow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199" y="1280160"/>
            <a:ext cx="128016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1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Assign</a:t>
            </a:r>
            <a:br/>
            <a:r>
              <a:t>Access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613647" y="1440179"/>
            <a:ext cx="329184" cy="182880"/>
          </a:xfrm>
          <a:prstGeom prst="rightArrow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280160"/>
            <a:ext cx="128016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Monitor</a:t>
            </a:r>
            <a:br/>
            <a:r>
              <a:t>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057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  <a:latin typeface="Inter"/>
              </a:defRPr>
            </a:pPr>
            <a:r>
              <a:t>Report Generation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2423160"/>
            <a:ext cx="1267097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Select</a:t>
            </a:r>
            <a:br/>
            <a:r>
              <a:t>Template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016905" y="2583179"/>
            <a:ext cx="283463" cy="182880"/>
          </a:xfrm>
          <a:prstGeom prst="rightArrow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8657" y="2423160"/>
            <a:ext cx="1267097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64377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Set</a:t>
            </a:r>
            <a:br/>
            <a:r>
              <a:t>Parameters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604042" y="2583179"/>
            <a:ext cx="283463" cy="182880"/>
          </a:xfrm>
          <a:prstGeom prst="rightArrow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05794" y="2423160"/>
            <a:ext cx="1267097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1514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Run</a:t>
            </a:r>
            <a:br/>
            <a:r>
              <a:t>Query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191179" y="2583179"/>
            <a:ext cx="283463" cy="182880"/>
          </a:xfrm>
          <a:prstGeom prst="rightArrow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92931" y="2423160"/>
            <a:ext cx="1267097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8651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Generate</a:t>
            </a:r>
            <a:br/>
            <a:r>
              <a:t>Report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778316" y="2583179"/>
            <a:ext cx="283463" cy="182880"/>
          </a:xfrm>
          <a:prstGeom prst="rightArrow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80068" y="2423160"/>
            <a:ext cx="1267097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25788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Review</a:t>
            </a:r>
            <a:br/>
            <a:r>
              <a:t>Data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365453" y="2583179"/>
            <a:ext cx="283463" cy="182880"/>
          </a:xfrm>
          <a:prstGeom prst="rightArrow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67205" y="2423160"/>
            <a:ext cx="1267097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12925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Export/</a:t>
            </a:r>
            <a:br/>
            <a:r>
              <a:t>Share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9952590" y="2583179"/>
            <a:ext cx="283463" cy="182880"/>
          </a:xfrm>
          <a:prstGeom prst="rightArrow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54342" y="2423160"/>
            <a:ext cx="1267097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00062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Schedule</a:t>
            </a:r>
            <a:br/>
            <a:r>
              <a:t>Recurrence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  <a:latin typeface="Inter"/>
              </a:defRPr>
            </a:pPr>
            <a:r>
              <a:t>Predictive Analytics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3566160"/>
            <a:ext cx="128016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Collect</a:t>
            </a:r>
            <a:br/>
            <a:r>
              <a:t>Historical Data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2029968" y="3726180"/>
            <a:ext cx="329184" cy="182880"/>
          </a:xfrm>
          <a:prstGeom prst="rightArrow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377439" y="3566160"/>
            <a:ext cx="128016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2315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Train</a:t>
            </a:r>
            <a:br/>
            <a:r>
              <a:t>Model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3675887" y="3726180"/>
            <a:ext cx="329184" cy="182880"/>
          </a:xfrm>
          <a:prstGeom prst="rightArrow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23359" y="3566160"/>
            <a:ext cx="128016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907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Generate</a:t>
            </a:r>
            <a:br/>
            <a:r>
              <a:t>Predictions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5321807" y="3726180"/>
            <a:ext cx="329184" cy="182880"/>
          </a:xfrm>
          <a:prstGeom prst="rightArrow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79" y="3566160"/>
            <a:ext cx="128016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1499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Risk</a:t>
            </a:r>
            <a:br/>
            <a:r>
              <a:t>Scoring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6967727" y="3726180"/>
            <a:ext cx="329184" cy="182880"/>
          </a:xfrm>
          <a:prstGeom prst="rightArrow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315199" y="3566160"/>
            <a:ext cx="128016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6091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Alert</a:t>
            </a:r>
            <a:br/>
            <a:r>
              <a:t>Stakeholders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8613647" y="3726180"/>
            <a:ext cx="329184" cy="182880"/>
          </a:xfrm>
          <a:prstGeom prst="rightArrow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961120" y="3566160"/>
            <a:ext cx="128016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06840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Action</a:t>
            </a:r>
            <a:br/>
            <a:r>
              <a:t>Plan</a:t>
            </a:r>
          </a:p>
        </p:txBody>
      </p:sp>
      <p:pic>
        <p:nvPicPr>
          <p:cNvPr id="62" name="Picture 61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437"/>
                </a:solidFill>
                <a:latin typeface="Inter"/>
              </a:defRPr>
            </a:pPr>
            <a:r>
              <a:t>M10: System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437"/>
                </a:solidFill>
                <a:latin typeface="Inter"/>
              </a:defRPr>
            </a:pPr>
            <a:r>
              <a:t>User Provisioning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Create</a:t>
            </a:r>
            <a:br/>
            <a:r>
              <a:t>User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29968" y="1440179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7439" y="1280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5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Assign</a:t>
            </a:r>
            <a:br/>
            <a:r>
              <a:t>Role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75887" y="1440179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59" y="1280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7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Set</a:t>
            </a:r>
            <a:br/>
            <a:r>
              <a:t>Permissions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21807" y="1440179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79" y="1280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499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Configure</a:t>
            </a:r>
            <a:br/>
            <a:r>
              <a:t>SSO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67727" y="1440179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199" y="1280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1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Send</a:t>
            </a:r>
            <a:br/>
            <a:r>
              <a:t>Credentials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613647" y="1440179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280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Activate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057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437"/>
                </a:solidFill>
                <a:latin typeface="Inter"/>
              </a:defRPr>
            </a:pPr>
            <a:r>
              <a:t>Tenant Management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2423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Create</a:t>
            </a:r>
            <a:br/>
            <a:r>
              <a:t>Tenant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029968" y="2583179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77439" y="2423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2315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Configure</a:t>
            </a:r>
            <a:br/>
            <a:r>
              <a:t>Settings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675887" y="2583179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23359" y="2423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907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Set Data</a:t>
            </a:r>
            <a:br/>
            <a:r>
              <a:t>Isolation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321807" y="2583179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79" y="2423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499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Brand</a:t>
            </a:r>
            <a:br/>
            <a:r>
              <a:t>Customization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967727" y="2583179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199" y="2423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1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Migrate</a:t>
            </a:r>
            <a:br/>
            <a:r>
              <a:t>Data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613647" y="2583179"/>
            <a:ext cx="329184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61120" y="2423160"/>
            <a:ext cx="12801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6840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Go 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437"/>
                </a:solidFill>
                <a:latin typeface="Inter"/>
              </a:defRPr>
            </a:pPr>
            <a:r>
              <a:t>System Change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3566160"/>
            <a:ext cx="1267097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3584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Submit</a:t>
            </a:r>
            <a:br/>
            <a:r>
              <a:t>Request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2016905" y="3726180"/>
            <a:ext cx="283463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18657" y="3566160"/>
            <a:ext cx="1267097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64377" y="3584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Impact</a:t>
            </a:r>
            <a:br/>
            <a:r>
              <a:t>Assessment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604042" y="3726180"/>
            <a:ext cx="283463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905794" y="3566160"/>
            <a:ext cx="1267097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51514" y="3584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Approval</a:t>
            </a:r>
            <a:br/>
            <a:r>
              <a:t>Chain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5191179" y="3726180"/>
            <a:ext cx="283463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92931" y="3566160"/>
            <a:ext cx="1267097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38651" y="3584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Implement</a:t>
            </a:r>
            <a:br/>
            <a:r>
              <a:t>Change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6778316" y="3726180"/>
            <a:ext cx="283463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0068" y="3566160"/>
            <a:ext cx="1267097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25788" y="3584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Test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8365453" y="3726180"/>
            <a:ext cx="283463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667205" y="3566160"/>
            <a:ext cx="1267097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12925" y="3584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Deploy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9952590" y="3726180"/>
            <a:ext cx="283463" cy="182880"/>
          </a:xfrm>
          <a:prstGeom prst="rightArrow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254342" y="3566160"/>
            <a:ext cx="1267097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300062" y="3584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Monitor</a:t>
            </a:r>
          </a:p>
        </p:txBody>
      </p:sp>
      <p:pic>
        <p:nvPicPr>
          <p:cNvPr id="62" name="Picture 61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437"/>
                </a:solidFill>
                <a:latin typeface="Inter"/>
              </a:defRPr>
            </a:pPr>
            <a:r>
              <a:t>M11: Mobile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6BFF"/>
                </a:solidFill>
                <a:latin typeface="Inter"/>
              </a:defRPr>
            </a:pPr>
            <a:r>
              <a:t>Employee Self-Service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280160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Login /</a:t>
            </a:r>
            <a:br/>
            <a:r>
              <a:t>Biometric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29968" y="1440179"/>
            <a:ext cx="329184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7439" y="1280160"/>
            <a:ext cx="1280160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5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View</a:t>
            </a:r>
            <a:br/>
            <a:r>
              <a:t>Dashboard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75887" y="1440179"/>
            <a:ext cx="329184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59" y="1280160"/>
            <a:ext cx="1280160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7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Quick</a:t>
            </a:r>
            <a:br/>
            <a:r>
              <a:t>Actions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21807" y="1440179"/>
            <a:ext cx="329184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79" y="1280160"/>
            <a:ext cx="1280160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499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Leave</a:t>
            </a:r>
            <a:br/>
            <a:r>
              <a:t>Request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67727" y="1440179"/>
            <a:ext cx="329184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199" y="1280160"/>
            <a:ext cx="1280160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1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View</a:t>
            </a:r>
            <a:br/>
            <a:r>
              <a:t>Payslip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613647" y="1440179"/>
            <a:ext cx="329184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280160"/>
            <a:ext cx="1280160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Update</a:t>
            </a:r>
            <a:br/>
            <a:r>
              <a:t>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057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6BFF"/>
                </a:solidFill>
                <a:latin typeface="Inter"/>
              </a:defRPr>
            </a:pPr>
            <a:r>
              <a:t>Manager Approvals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2423160"/>
            <a:ext cx="1280160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Push</a:t>
            </a:r>
            <a:br/>
            <a:r>
              <a:t>Notification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029968" y="2583179"/>
            <a:ext cx="329184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77439" y="2423160"/>
            <a:ext cx="1280160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2315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Review</a:t>
            </a:r>
            <a:br/>
            <a:r>
              <a:t>Request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675887" y="2583179"/>
            <a:ext cx="329184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23359" y="2423160"/>
            <a:ext cx="1280160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907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View</a:t>
            </a:r>
            <a:br/>
            <a:r>
              <a:t>Details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321807" y="2583179"/>
            <a:ext cx="329184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79" y="2423160"/>
            <a:ext cx="1280160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499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Approve/</a:t>
            </a:r>
            <a:br/>
            <a:r>
              <a:t>Reject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967727" y="2583179"/>
            <a:ext cx="329184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199" y="2423160"/>
            <a:ext cx="1280160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1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Add</a:t>
            </a:r>
            <a:br/>
            <a:r>
              <a:t>Comments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613647" y="2583179"/>
            <a:ext cx="329184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61120" y="2423160"/>
            <a:ext cx="1280160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6840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Notify</a:t>
            </a:r>
            <a:br/>
            <a:r>
              <a:t>Requester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6BFF"/>
                </a:solidFill>
                <a:latin typeface="Inter"/>
              </a:defRPr>
            </a:pPr>
            <a:r>
              <a:t>Time &amp; Attendance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3566160"/>
            <a:ext cx="1280160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Clock In</a:t>
            </a:r>
            <a:br/>
            <a:r>
              <a:t>(GPS)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2029968" y="3726180"/>
            <a:ext cx="329184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77439" y="3566160"/>
            <a:ext cx="1280160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2315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Log</a:t>
            </a:r>
            <a:br/>
            <a:r>
              <a:t>Breaks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675887" y="3726180"/>
            <a:ext cx="329184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023359" y="3566160"/>
            <a:ext cx="1280160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6907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Clock Out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5321807" y="3726180"/>
            <a:ext cx="329184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69279" y="3566160"/>
            <a:ext cx="1280160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1499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Auto-Calc</a:t>
            </a:r>
            <a:br/>
            <a:r>
              <a:t>Hours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6967727" y="3726180"/>
            <a:ext cx="329184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199" y="3566160"/>
            <a:ext cx="1280160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6091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Submit</a:t>
            </a:r>
            <a:br/>
            <a:r>
              <a:t>Timesheet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8613647" y="3726180"/>
            <a:ext cx="329184" cy="182880"/>
          </a:xfrm>
          <a:prstGeom prst="rightArrow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1120" y="3566160"/>
            <a:ext cx="1280160" cy="5029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06840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Manager</a:t>
            </a:r>
            <a:br/>
            <a:r>
              <a:t>Approval</a:t>
            </a:r>
          </a:p>
        </p:txBody>
      </p:sp>
      <p:pic>
        <p:nvPicPr>
          <p:cNvPr id="59" name="Picture 58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437"/>
                </a:solidFill>
                <a:latin typeface="Inter"/>
              </a:defRPr>
            </a:pPr>
            <a:r>
              <a:t>M12: Client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D3C5"/>
                </a:solidFill>
                <a:latin typeface="Inter"/>
              </a:defRPr>
            </a:pPr>
            <a:r>
              <a:t>Client Onboarding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280160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Sign</a:t>
            </a:r>
            <a:br/>
            <a:r>
              <a:t>Contract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29968" y="1440179"/>
            <a:ext cx="329184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7439" y="1280160"/>
            <a:ext cx="1280160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5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Create</a:t>
            </a:r>
            <a:br/>
            <a:r>
              <a:t>Tenant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75887" y="1440179"/>
            <a:ext cx="329184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59" y="1280160"/>
            <a:ext cx="1280160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7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Brand</a:t>
            </a:r>
            <a:br/>
            <a:r>
              <a:t>Setup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21807" y="1440179"/>
            <a:ext cx="329184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79" y="1280160"/>
            <a:ext cx="1280160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499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Data</a:t>
            </a:r>
            <a:br/>
            <a:r>
              <a:t>Migration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67727" y="1440179"/>
            <a:ext cx="329184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199" y="1280160"/>
            <a:ext cx="1280160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19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User</a:t>
            </a:r>
            <a:br/>
            <a:r>
              <a:t>Training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613647" y="1440179"/>
            <a:ext cx="329184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280160"/>
            <a:ext cx="1280160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1298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Go</a:t>
            </a:r>
            <a:br/>
            <a:r>
              <a:t>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057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D3C5"/>
                </a:solidFill>
                <a:latin typeface="Inter"/>
              </a:defRPr>
            </a:pPr>
            <a:r>
              <a:t>Support &amp; SLA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2423160"/>
            <a:ext cx="1267097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Raise</a:t>
            </a:r>
            <a:br/>
            <a:r>
              <a:t>Ticket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016905" y="2583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8657" y="2423160"/>
            <a:ext cx="1267097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64377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Auto</a:t>
            </a:r>
            <a:br/>
            <a:r>
              <a:t>Prioritize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604042" y="2583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05794" y="2423160"/>
            <a:ext cx="1267097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1514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Assign</a:t>
            </a:r>
            <a:br/>
            <a:r>
              <a:t>Agent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191179" y="2583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92931" y="2423160"/>
            <a:ext cx="1267097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8651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Investigate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778316" y="2583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80068" y="2423160"/>
            <a:ext cx="1267097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25788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Resolve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365453" y="2583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67205" y="2423160"/>
            <a:ext cx="1267097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12925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Client</a:t>
            </a:r>
            <a:br/>
            <a:r>
              <a:t>Confirm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9952590" y="2583179"/>
            <a:ext cx="283463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54342" y="2423160"/>
            <a:ext cx="1267097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00062" y="2441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SLA</a:t>
            </a:r>
            <a:br/>
            <a:r>
              <a:t>Tracking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D3C5"/>
                </a:solidFill>
                <a:latin typeface="Inter"/>
              </a:defRPr>
            </a:pPr>
            <a:r>
              <a:t>Client Reporting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3566160"/>
            <a:ext cx="1280160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Select</a:t>
            </a:r>
            <a:br/>
            <a:r>
              <a:t>Report Type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2029968" y="3726180"/>
            <a:ext cx="329184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377439" y="3566160"/>
            <a:ext cx="1280160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2315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Set Date</a:t>
            </a:r>
            <a:br/>
            <a:r>
              <a:t>Range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3675887" y="3726180"/>
            <a:ext cx="329184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23359" y="3566160"/>
            <a:ext cx="1280160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907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Generate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5321807" y="3726180"/>
            <a:ext cx="329184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79" y="3566160"/>
            <a:ext cx="1280160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1499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Review</a:t>
            </a:r>
            <a:br/>
            <a:r>
              <a:t>Data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6967727" y="3726180"/>
            <a:ext cx="329184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315199" y="3566160"/>
            <a:ext cx="1280160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6091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Export</a:t>
            </a:r>
            <a:br/>
            <a:r>
              <a:t>PDF/Excel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8613647" y="3726180"/>
            <a:ext cx="329184" cy="182880"/>
          </a:xfrm>
          <a:prstGeom prst="rightArrow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961120" y="3566160"/>
            <a:ext cx="1280160" cy="5029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06840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Schedule</a:t>
            </a:r>
            <a:br/>
            <a:r>
              <a:t>Auto-Send</a:t>
            </a:r>
          </a:p>
        </p:txBody>
      </p:sp>
      <p:pic>
        <p:nvPicPr>
          <p:cNvPr id="62" name="Picture 61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437"/>
                </a:solidFill>
                <a:latin typeface="Inter"/>
              </a:defRPr>
            </a:pPr>
            <a:r>
              <a:t>M13: Billing &amp; Invoicing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Inter"/>
              </a:defRPr>
            </a:pPr>
            <a:r>
              <a:t>Billing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267097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Track</a:t>
            </a:r>
            <a:br/>
            <a:r>
              <a:t>Usage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16905" y="1440179"/>
            <a:ext cx="283463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18657" y="1280160"/>
            <a:ext cx="1267097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64377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Calculate</a:t>
            </a:r>
            <a:br/>
            <a:r>
              <a:t>Charges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04042" y="1440179"/>
            <a:ext cx="283463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05794" y="1280160"/>
            <a:ext cx="1267097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1514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Apply</a:t>
            </a:r>
            <a:br/>
            <a:r>
              <a:t>Discounts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91179" y="1440179"/>
            <a:ext cx="283463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92931" y="1280160"/>
            <a:ext cx="1267097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8651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Generate</a:t>
            </a:r>
            <a:br/>
            <a:r>
              <a:t>Invoice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778316" y="1440179"/>
            <a:ext cx="283463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80068" y="1280160"/>
            <a:ext cx="1267097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25788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Client</a:t>
            </a:r>
            <a:br/>
            <a:r>
              <a:t>Review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65453" y="1440179"/>
            <a:ext cx="283463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67205" y="1280160"/>
            <a:ext cx="1267097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12925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Process</a:t>
            </a:r>
            <a:br/>
            <a:r>
              <a:t>Payment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952590" y="1440179"/>
            <a:ext cx="283463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54342" y="1280160"/>
            <a:ext cx="1267097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00062" y="1298448"/>
            <a:ext cx="117565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Revenue</a:t>
            </a:r>
            <a:br/>
            <a:r>
              <a:t>Recognition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057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Inter"/>
              </a:defRPr>
            </a:pPr>
            <a:r>
              <a:t>Plan Management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2423160"/>
            <a:ext cx="1280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Create</a:t>
            </a:r>
            <a:br/>
            <a:r>
              <a:t>Plan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029968" y="2583179"/>
            <a:ext cx="329184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77439" y="2423160"/>
            <a:ext cx="1280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2315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Set Pricing</a:t>
            </a:r>
            <a:br/>
            <a:r>
              <a:t>Tiers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675887" y="2583179"/>
            <a:ext cx="329184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23359" y="2423160"/>
            <a:ext cx="1280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907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Define</a:t>
            </a:r>
            <a:br/>
            <a:r>
              <a:t>Features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321807" y="2583179"/>
            <a:ext cx="329184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79" y="2423160"/>
            <a:ext cx="1280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499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Assign to</a:t>
            </a:r>
            <a:br/>
            <a:r>
              <a:t>Clients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6967727" y="2583179"/>
            <a:ext cx="329184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199" y="2423160"/>
            <a:ext cx="1280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19" y="2441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Track</a:t>
            </a:r>
            <a:br/>
            <a:r>
              <a:t>Adoption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Inter"/>
              </a:defRPr>
            </a:pPr>
            <a:r>
              <a:t>Billing Adjustments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3566160"/>
            <a:ext cx="1280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Client</a:t>
            </a:r>
            <a:br/>
            <a:r>
              <a:t>Dispute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2029968" y="3726180"/>
            <a:ext cx="329184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77439" y="3566160"/>
            <a:ext cx="1280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2315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Review</a:t>
            </a:r>
            <a:br/>
            <a:r>
              <a:t>Usage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675887" y="3726180"/>
            <a:ext cx="329184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023359" y="3566160"/>
            <a:ext cx="1280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6907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Calculate</a:t>
            </a:r>
            <a:br/>
            <a:r>
              <a:t>Credit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5321807" y="3726180"/>
            <a:ext cx="329184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69279" y="3566160"/>
            <a:ext cx="1280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1499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Approval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6967727" y="3726180"/>
            <a:ext cx="329184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199" y="3566160"/>
            <a:ext cx="1280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60919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Apply</a:t>
            </a:r>
            <a:br/>
            <a:r>
              <a:t>Adjustment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8613647" y="3726180"/>
            <a:ext cx="329184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1120" y="3566160"/>
            <a:ext cx="12801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06840" y="3584448"/>
            <a:ext cx="1188719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Inter"/>
              </a:defRPr>
            </a:pPr>
            <a:r>
              <a:t>Update</a:t>
            </a:r>
            <a:br/>
            <a:r>
              <a:t>Invoice</a:t>
            </a:r>
          </a:p>
        </p:txBody>
      </p:sp>
      <p:pic>
        <p:nvPicPr>
          <p:cNvPr id="59" name="Picture 58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WORKFLOW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9D3C5"/>
                </a:solidFill>
                <a:latin typeface="Inter"/>
              </a:defRPr>
            </a:pPr>
            <a:r>
              <a:t>85+ Workflows Documented and Ready for Sign-Off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B0BB"/>
                </a:solidFill>
                <a:latin typeface="Inter"/>
              </a:defRPr>
            </a:pPr>
            <a:r>
              <a:t>By approving these workflows, the leadership team confirms that the documented</a:t>
            </a:r>
            <a:br/>
            <a:r>
              <a:t>processes accurately represent the desired business operations for Praxion HROS.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10515600" cy="6858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Chairman /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>Signature: 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>Date: _______________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74720"/>
            <a:ext cx="10515600" cy="6858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HR Director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>Signature: 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>Date: _______________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06240"/>
            <a:ext cx="10515600" cy="6858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IT Director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>Signature: _______________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>Date: 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937760"/>
            <a:ext cx="10515600" cy="6858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Finance Director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>Signature: _______________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>Date: 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669280"/>
            <a:ext cx="10515600" cy="6858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Project Sponsor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>Signature: _______________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>Date: 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400800"/>
            <a:ext cx="10515600" cy="6858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Product Owner (Sabry)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>Signature: _______________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>Date: _______________</a:t>
            </a:r>
          </a:p>
        </p:txBody>
      </p:sp>
      <p:pic>
        <p:nvPicPr>
          <p:cNvPr id="23" name="Picture 22" descr="praxion-icon-in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