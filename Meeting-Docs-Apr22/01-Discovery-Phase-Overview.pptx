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Inter"/>
              </a:defRPr>
            </a:pPr>
            <a:r>
              <a:t>PRAXION HROS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19D3C5"/>
                </a:solidFill>
                <a:latin typeface="Inter"/>
              </a:defRPr>
            </a:pPr>
            <a:r>
              <a:t>Discovery Phase Completion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91840"/>
            <a:ext cx="137160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7280"/>
                </a:solidFill>
                <a:latin typeface="Inter"/>
              </a:defRPr>
            </a:pPr>
            <a:r>
              <a:t>Egybell Leadership Review  |  April 22,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Inter"/>
              </a:defRPr>
            </a:pPr>
            <a:r>
              <a:t>Prepared by PraxionHR Team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axion-icon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B1437"/>
                </a:solidFill>
                <a:latin typeface="Inter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457200" cy="3657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087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F172A"/>
                </a:solidFill>
                <a:latin typeface="Inter"/>
              </a:defRPr>
            </a:pPr>
            <a:r>
              <a:t>Executive Summary &amp; Discovery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38528"/>
            <a:ext cx="457200" cy="3657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84248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84248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F172A"/>
                </a:solidFill>
                <a:latin typeface="Inter"/>
              </a:defRPr>
            </a:pPr>
            <a:r>
              <a:t>The Challenge — Current HR Pain Points at Egybell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14016"/>
            <a:ext cx="457200" cy="3657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9736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59736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F172A"/>
                </a:solidFill>
                <a:latin typeface="Inter"/>
              </a:defRPr>
            </a:pPr>
            <a:r>
              <a:t>The Vision — Praxion HROS 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89504"/>
            <a:ext cx="457200" cy="3657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35224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935224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F172A"/>
                </a:solidFill>
                <a:latin typeface="Inter"/>
              </a:defRPr>
            </a:pPr>
            <a:r>
              <a:t>Platform Architecture — 13 Integrated Modules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64992"/>
            <a:ext cx="457200" cy="3657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1071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1071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F172A"/>
                </a:solidFill>
                <a:latin typeface="Inter"/>
              </a:defRPr>
            </a:pPr>
            <a:r>
              <a:t>Key Findings from Stakeholder Interviews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840480"/>
            <a:ext cx="457200" cy="3657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8620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88620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F172A"/>
                </a:solidFill>
                <a:latin typeface="Inter"/>
              </a:defRPr>
            </a:pPr>
            <a:r>
              <a:t>Discovery Phase Deliverables &amp; Progress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315968"/>
            <a:ext cx="457200" cy="3657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61688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361688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F172A"/>
                </a:solidFill>
                <a:latin typeface="Inter"/>
              </a:defRPr>
            </a:pPr>
            <a:r>
              <a:t>Competitive Positioning vs. Deel, Rippling, BambooHR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791456"/>
            <a:ext cx="457200" cy="3657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837176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837176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F172A"/>
                </a:solidFill>
                <a:latin typeface="Inter"/>
              </a:defRPr>
            </a:pPr>
            <a:r>
              <a:t>Implementation Roadmap — 5 Phases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266944"/>
            <a:ext cx="457200" cy="3657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312664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312664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F172A"/>
                </a:solidFill>
                <a:latin typeface="Inter"/>
              </a:defRPr>
            </a:pPr>
            <a:r>
              <a:t>ROI &amp; Business Impact Projections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742431"/>
            <a:ext cx="457200" cy="3657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788151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788151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F172A"/>
                </a:solidFill>
                <a:latin typeface="Inter"/>
              </a:defRPr>
            </a:pPr>
            <a:r>
              <a:t>Next Steps &amp; Sign-Off Request</a:t>
            </a:r>
          </a:p>
        </p:txBody>
      </p:sp>
      <p:pic>
        <p:nvPicPr>
          <p:cNvPr id="35" name="Picture 34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B1437"/>
                </a:solidFill>
                <a:latin typeface="Inter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2F6BFF"/>
                </a:solidFill>
                <a:latin typeface="Inter"/>
              </a:defRPr>
            </a:pPr>
            <a:r>
              <a:t>Discovery Phase: January — April 2026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0F172A"/>
                </a:solidFill>
                <a:latin typeface="Inter"/>
              </a:defRPr>
            </a:pPr>
            <a:r>
              <a:t>Over 4 months, we conducted comprehensive stakeholder interviews across 6 departments, analyzed current HR operations, mapped 85+ business workflows, and documented complete requirements for a unified HR Operating System.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0F172A"/>
                </a:solidFill>
                <a:latin typeface="Inter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0B1437"/>
                </a:solidFill>
                <a:latin typeface="Inter"/>
              </a:defRPr>
            </a:pPr>
            <a:r>
              <a:t>Key accomplishments: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0F172A"/>
                </a:solidFill>
                <a:latin typeface="Inter"/>
              </a:defRPr>
            </a:pPr>
            <a:r>
              <a:t>• Interviewed HR Operations, Payroll, Recruitment, IT, Legal &amp; Finance teams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0F172A"/>
                </a:solidFill>
                <a:latin typeface="Inter"/>
              </a:defRPr>
            </a:pPr>
            <a:r>
              <a:t>• Documented 13 complete Business Requirements Documents (BRDs)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0F172A"/>
                </a:solidFill>
                <a:latin typeface="Inter"/>
              </a:defRPr>
            </a:pPr>
            <a:r>
              <a:t>• Mapped 85+ end-to-end process workflows with approval chains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0F172A"/>
                </a:solidFill>
                <a:latin typeface="Inter"/>
              </a:defRPr>
            </a:pPr>
            <a:r>
              <a:t>• Created 200+ user stories covering 11 distinct user personas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0F172A"/>
                </a:solidFill>
                <a:latin typeface="Inter"/>
              </a:defRPr>
            </a:pPr>
            <a:r>
              <a:t>• Defined system architecture: multi-tenant, cloud-native, API-first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0F172A"/>
                </a:solidFill>
                <a:latin typeface="Inter"/>
              </a:defRPr>
            </a:pPr>
            <a:r>
              <a:t>• Established brand identity, design system &amp; accessibility standards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0F172A"/>
                </a:solidFill>
                <a:latin typeface="Inter"/>
              </a:defRPr>
            </a:pPr>
            <a:r>
              <a:t>• Benchmarked against Deel, Rippling &amp; BambooHR for feature parity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280160"/>
            <a:ext cx="4114800" cy="8229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37160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Inter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417319"/>
            <a:ext cx="21031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5E8EF"/>
                </a:solidFill>
                <a:latin typeface="Inter"/>
              </a:defRPr>
            </a:pPr>
            <a:r>
              <a:t>Modules Defined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2240280"/>
            <a:ext cx="4114800" cy="8229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233172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Inter"/>
              </a:defRPr>
            </a:pPr>
            <a:r>
              <a:t>200+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377440"/>
            <a:ext cx="21031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5E8EF"/>
                </a:solidFill>
                <a:latin typeface="Inter"/>
              </a:defRPr>
            </a:pPr>
            <a:r>
              <a:t>User Stories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3200400"/>
            <a:ext cx="4114800" cy="82296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329184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Inter"/>
              </a:defRPr>
            </a:pPr>
            <a:r>
              <a:t>85+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337560"/>
            <a:ext cx="21031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5E8EF"/>
                </a:solidFill>
                <a:latin typeface="Inter"/>
              </a:defRPr>
            </a:pPr>
            <a:r>
              <a:t>Workflows Mapped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4160520"/>
            <a:ext cx="4114800" cy="8229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425196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Inter"/>
              </a:defRPr>
            </a:pPr>
            <a:r>
              <a:t>350+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297680"/>
            <a:ext cx="21031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5E8EF"/>
                </a:solidFill>
                <a:latin typeface="Inter"/>
              </a:defRPr>
            </a:pPr>
            <a:r>
              <a:t>Features Identified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5120640"/>
            <a:ext cx="4114800" cy="8229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5212079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5257800"/>
            <a:ext cx="21031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5E8EF"/>
                </a:solidFill>
                <a:latin typeface="Inter"/>
              </a:defRPr>
            </a:pPr>
            <a:r>
              <a:t>Depts Interviewed · 11 Questionnaires</a:t>
            </a:r>
          </a:p>
        </p:txBody>
      </p:sp>
      <p:pic>
        <p:nvPicPr>
          <p:cNvPr id="20" name="Picture 19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Inter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280"/>
                </a:solidFill>
                <a:latin typeface="Inter"/>
              </a:defRPr>
            </a:pPr>
            <a:r>
              <a:t>Current HR Operations at Egybell — Why Change Is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14630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4864" cy="14630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9D3C5"/>
                </a:solidFill>
                <a:latin typeface="Inter"/>
              </a:defRPr>
            </a:pPr>
            <a:r>
              <a:t>Manual Processes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5E8EF"/>
                </a:solidFill>
                <a:latin typeface="Inter"/>
              </a:defRPr>
            </a:pPr>
            <a:r>
              <a:t>Employee records maintained in Excel spreadsheets and paper files. Data entry is duplicated across departments. No automation for approvals, notifications, or status updates.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120640" cy="14630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" cy="14630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9D3C5"/>
                </a:solidFill>
                <a:latin typeface="Inter"/>
              </a:defRPr>
            </a:pPr>
            <a:r>
              <a:t>Scattered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5E8EF"/>
                </a:solidFill>
                <a:latin typeface="Inter"/>
              </a:defRPr>
            </a:pPr>
            <a:r>
              <a:t>HR data lives in 5+ disconnected tools — email, Excel, paper forms, WhatsApp groups, shared drives. No single source of truth. Reporting requires manual data gathering from multiple sources.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154680"/>
            <a:ext cx="5120640" cy="14630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154680"/>
            <a:ext cx="54864" cy="14630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918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9D3C5"/>
                </a:solidFill>
                <a:latin typeface="Inter"/>
              </a:defRPr>
            </a:pPr>
            <a:r>
              <a:t>Payroll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5760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5E8EF"/>
                </a:solidFill>
                <a:latin typeface="Inter"/>
              </a:defRPr>
            </a:pPr>
            <a:r>
              <a:t>Monthly payroll is a 5-day manual process. Tax calculations, social insurance deductions, and overtime done by hand. High risk of errors and compliance violations.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154680"/>
            <a:ext cx="5120640" cy="14630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154680"/>
            <a:ext cx="54864" cy="14630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2918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9D3C5"/>
                </a:solidFill>
                <a:latin typeface="Inter"/>
              </a:defRPr>
            </a:pPr>
            <a:r>
              <a:t>No Self-Service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5760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5E8EF"/>
                </a:solidFill>
                <a:latin typeface="Inter"/>
              </a:defRPr>
            </a:pPr>
            <a:r>
              <a:t>Employees must visit HR for every request — leave applications, letter requests, payslip queries. HR team spends 60%+ of time on routine inquiries instead of strategic 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46320"/>
            <a:ext cx="5120640" cy="14630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846320"/>
            <a:ext cx="54864" cy="14630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9834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9D3C5"/>
                </a:solidFill>
                <a:latin typeface="Inter"/>
              </a:defRPr>
            </a:pPr>
            <a:r>
              <a:t>Compliance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4924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5E8EF"/>
                </a:solidFill>
                <a:latin typeface="Inter"/>
              </a:defRPr>
            </a:pPr>
            <a:r>
              <a:t>Egyptian labor law changes are tracked manually. No automated alerts for contract renewals, probation periods, or regulatory deadlines. Audit trails are incomplete.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846320"/>
            <a:ext cx="5120640" cy="14630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846320"/>
            <a:ext cx="54864" cy="14630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9834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9D3C5"/>
                </a:solidFill>
                <a:latin typeface="Inter"/>
              </a:defRPr>
            </a:pPr>
            <a:r>
              <a:t>No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34924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5E8EF"/>
                </a:solidFill>
                <a:latin typeface="Inter"/>
              </a:defRPr>
            </a:pPr>
            <a:r>
              <a:t>Leadership has no real-time visibility into headcount, turnover, costs, or workforce trends. Monthly reports take 2-3 days to compile manually and are often outdated.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58000"/>
            <a:ext cx="12344400" cy="30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i="1">
                <a:solidFill>
                  <a:srgbClr val="888888"/>
                </a:solidFill>
              </a:rPr>
              <a:t>Source: HR Operations interviews (Feb 2026), 11 function questionnaires + 6 department deep-dives. Specific figures are current-state estimates, not measured baselines.</a:t>
            </a:r>
          </a:p>
        </p:txBody>
      </p:sp>
      <p:pic>
        <p:nvPicPr>
          <p:cNvPr id="30" name="Picture 29" descr="praxion-icon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Inter"/>
              </a:defRPr>
            </a:pPr>
            <a:r>
              <a:t>One Platform. Every HR Function.</a:t>
            </a:r>
            <a:br/>
            <a:r>
              <a:t>Complete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280"/>
                </a:solidFill>
                <a:latin typeface="Inter"/>
              </a:defRPr>
            </a:pPr>
            <a:r>
              <a:t>Praxion HROS will transform Egybell from fragmented, manual HR operations into a fully digital,</a:t>
            </a:r>
            <a:br/>
            <a:r>
              <a:t>automated, multi-tenant HR operating system — purpose-built for the Egyptian &amp; MENA market.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2560320" cy="30175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256032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83279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9D3C5"/>
                </a:solidFill>
                <a:latin typeface="Inter"/>
              </a:defRPr>
            </a:pPr>
            <a:r>
              <a:t>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Inter"/>
              </a:defRPr>
            </a:pPr>
            <a:r>
              <a:t>Reduction in</a:t>
            </a:r>
            <a:br/>
            <a:r>
              <a:t>Manual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Automate approvals, notifications,</a:t>
            </a:r>
            <a:br/>
            <a:r>
              <a:t>data entry, and reporting workflows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3108960"/>
            <a:ext cx="2560320" cy="30175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3108960"/>
            <a:ext cx="256032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3383279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9D3C5"/>
                </a:solidFill>
                <a:latin typeface="Inter"/>
              </a:defRPr>
            </a:pPr>
            <a:r>
              <a:t>Real-Time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93192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Inter"/>
              </a:defRPr>
            </a:pPr>
            <a:r>
              <a:t>Analytics &amp;</a:t>
            </a:r>
            <a:br/>
            <a:r>
              <a:t>Dashboards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466344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Live KPIs, headcount, turnover,</a:t>
            </a:r>
            <a:br/>
            <a:r>
              <a:t>payroll costs — always up to 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108960"/>
            <a:ext cx="2560320" cy="30175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108960"/>
            <a:ext cx="256032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383279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9D3C5"/>
                </a:solidFill>
                <a:latin typeface="Inter"/>
              </a:defRPr>
            </a:pPr>
            <a:r>
              <a:t>Built for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3192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Inter"/>
              </a:defRPr>
            </a:pPr>
            <a:r>
              <a:t>Egyptian Labor</a:t>
            </a:r>
            <a:br/>
            <a:r>
              <a:t>Law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66344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Configurable PDPL, social insurance, tax rules, and contract management — reviewed quarterly with legal counsel</a:t>
            </a:r>
            <a:br/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3108960"/>
            <a:ext cx="2560320" cy="30175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3108960"/>
            <a:ext cx="256032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3383279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9D3C5"/>
                </a:solidFill>
                <a:latin typeface="Inter"/>
              </a:defRPr>
            </a:pPr>
            <a:r>
              <a:t>Unlimited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93192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Inter"/>
              </a:defRPr>
            </a:pPr>
            <a:r>
              <a:t>Multi-Tenant</a:t>
            </a:r>
            <a:br/>
            <a:r>
              <a:t>Client Scaling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466344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Egybell manages all clients from</a:t>
            </a:r>
            <a:br/>
            <a:r>
              <a:t>one platform with full data isolation</a:t>
            </a:r>
          </a:p>
        </p:txBody>
      </p:sp>
      <p:pic>
        <p:nvPicPr>
          <p:cNvPr id="26" name="Picture 25" descr="praxion-icon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B1437"/>
                </a:solidFill>
                <a:latin typeface="Inter"/>
              </a:defRPr>
            </a:pPr>
            <a:r>
              <a:t>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280"/>
                </a:solidFill>
                <a:latin typeface="Inter"/>
              </a:defRPr>
            </a:pPr>
            <a:r>
              <a:t>13 Integrated Modules — Grouped by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3200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98448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FOUNDATION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280160"/>
            <a:ext cx="4221327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1280160"/>
            <a:ext cx="4221327" cy="36576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371600"/>
            <a:ext cx="3947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M1: Core HRIS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627631"/>
            <a:ext cx="3947007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Inter"/>
              </a:defRPr>
            </a:pPr>
            <a:r>
              <a:t>Employee records, org structure,</a:t>
            </a:r>
            <a:br/>
            <a:r>
              <a:t>documents, audit trails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47407" y="1280160"/>
            <a:ext cx="4221327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47407" y="1280160"/>
            <a:ext cx="4221327" cy="36576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4567" y="1371600"/>
            <a:ext cx="3947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M10: System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4567" y="1627631"/>
            <a:ext cx="3947007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Inter"/>
              </a:defRPr>
            </a:pPr>
            <a:r>
              <a:t>Users, roles, SSO, MFA,</a:t>
            </a:r>
            <a:br/>
            <a:r>
              <a:t>integrations, 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331720"/>
            <a:ext cx="1828800" cy="3200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50008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PEOPLE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331720"/>
            <a:ext cx="2019223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2331720"/>
            <a:ext cx="2019223" cy="36576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2423160"/>
            <a:ext cx="1744903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M2: Recruitment &amp; 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679191"/>
            <a:ext cx="1744903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Inter"/>
              </a:defRPr>
            </a:pPr>
            <a:r>
              <a:t>Job postings, candidates,</a:t>
            </a:r>
            <a:br/>
            <a:r>
              <a:t>interviews, offers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45303" y="2331720"/>
            <a:ext cx="2019223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45303" y="2331720"/>
            <a:ext cx="2019223" cy="36576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2463" y="2423160"/>
            <a:ext cx="1744903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M3: Onboarding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2463" y="2679191"/>
            <a:ext cx="1744903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Inter"/>
              </a:defRPr>
            </a:pPr>
            <a:r>
              <a:t>Checklists, provisioning,</a:t>
            </a:r>
            <a:br/>
            <a:r>
              <a:t>orientation, offboarding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47407" y="2331720"/>
            <a:ext cx="2019223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47407" y="2331720"/>
            <a:ext cx="2019223" cy="36576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84567" y="2423160"/>
            <a:ext cx="1744903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M4: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4567" y="2679191"/>
            <a:ext cx="1744903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Inter"/>
              </a:defRPr>
            </a:pPr>
            <a:r>
              <a:t>Goals, reviews, 360 feedback,</a:t>
            </a:r>
            <a:br/>
            <a:r>
              <a:t>KPIs, development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49511" y="2331720"/>
            <a:ext cx="2019223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49511" y="2331720"/>
            <a:ext cx="2019223" cy="36576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86671" y="2423160"/>
            <a:ext cx="1744903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M5: Training &amp; LMS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6671" y="2679191"/>
            <a:ext cx="1744903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Inter"/>
              </a:defRPr>
            </a:pPr>
            <a:r>
              <a:t>Courses, compliance,</a:t>
            </a:r>
            <a:br/>
            <a:r>
              <a:t>certificates, learning paths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383279"/>
            <a:ext cx="1828800" cy="3200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401568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MONEY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3383279"/>
            <a:ext cx="2753258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0" y="3383279"/>
            <a:ext cx="2753258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80360" y="3474720"/>
            <a:ext cx="2478938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M6: Payroll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3730752"/>
            <a:ext cx="2478938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Inter"/>
              </a:defRPr>
            </a:pPr>
            <a:r>
              <a:t>Salary, tax, social insurance,</a:t>
            </a:r>
            <a:br/>
            <a:r>
              <a:t>payslips, bank transfers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79338" y="3383279"/>
            <a:ext cx="2753258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9338" y="3383279"/>
            <a:ext cx="2753258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16498" y="3474720"/>
            <a:ext cx="2478938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M7: Benefits &amp; Expenses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16498" y="3730752"/>
            <a:ext cx="2478938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Inter"/>
              </a:defRPr>
            </a:pPr>
            <a:r>
              <a:t>Enrollment, plans,</a:t>
            </a:r>
            <a:br/>
            <a:r>
              <a:t>expense claims, reimbursement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15476" y="3383279"/>
            <a:ext cx="2753258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15476" y="3383279"/>
            <a:ext cx="2753258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52636" y="3474720"/>
            <a:ext cx="2478938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M8: Contractors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52636" y="3730752"/>
            <a:ext cx="2478938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Inter"/>
              </a:defRPr>
            </a:pPr>
            <a:r>
              <a:t>Contracts, rates, timesheets,</a:t>
            </a:r>
            <a:br/>
            <a:r>
              <a:t>invoices, compliance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4434840"/>
            <a:ext cx="18288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453127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INTELLIGENCE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4434840"/>
            <a:ext cx="8625535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0" y="4434840"/>
            <a:ext cx="862553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80360" y="4526279"/>
            <a:ext cx="83512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M9: Analytics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360" y="4782312"/>
            <a:ext cx="835121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Inter"/>
              </a:defRPr>
            </a:pPr>
            <a:r>
              <a:t>Dashboards, KPIs, predictive</a:t>
            </a:r>
            <a:br/>
            <a:r>
              <a:t>analytics, workforce planning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5486400"/>
            <a:ext cx="18288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5504688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ACCESS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5486400"/>
            <a:ext cx="2753258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0" y="5486400"/>
            <a:ext cx="2753258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80360" y="5577840"/>
            <a:ext cx="2478938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M11: Mobile App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80360" y="5833872"/>
            <a:ext cx="2478938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Inter"/>
              </a:defRPr>
            </a:pPr>
            <a:r>
              <a:t>Self-service on the go,</a:t>
            </a:r>
            <a:br/>
            <a:r>
              <a:t>approvals, notifications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79338" y="5486400"/>
            <a:ext cx="2753258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79338" y="5486400"/>
            <a:ext cx="2753258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16498" y="5577840"/>
            <a:ext cx="2478938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M12: Client Portal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16498" y="5833872"/>
            <a:ext cx="2478938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Inter"/>
              </a:defRPr>
            </a:pPr>
            <a:r>
              <a:t>Multi-tenant, white-label,</a:t>
            </a:r>
            <a:br/>
            <a:r>
              <a:t>SLA management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15476" y="5486400"/>
            <a:ext cx="2753258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615476" y="5486400"/>
            <a:ext cx="2753258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52636" y="5577840"/>
            <a:ext cx="2478938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M13: Billing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52636" y="5833872"/>
            <a:ext cx="2478938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Inter"/>
              </a:defRPr>
            </a:pPr>
            <a:r>
              <a:t>Usage tracking, invoicing,</a:t>
            </a:r>
            <a:br/>
            <a:r>
              <a:t>revenue, subscriptions</a:t>
            </a:r>
          </a:p>
        </p:txBody>
      </p:sp>
      <p:pic>
        <p:nvPicPr>
          <p:cNvPr id="66" name="Picture 65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B1437"/>
                </a:solidFill>
                <a:latin typeface="Inter"/>
              </a:defRPr>
            </a:pPr>
            <a:r>
              <a:t>MULTI-TENANT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280"/>
                </a:solidFill>
                <a:latin typeface="Inter"/>
              </a:defRPr>
            </a:pPr>
            <a:r>
              <a:t>Egybell as Provider — Managing Multiple Client Companies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371600"/>
            <a:ext cx="5760720" cy="12801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0" y="1463040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EGYBELL — Platform Provider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920240"/>
            <a:ext cx="5394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B0BB"/>
                </a:solidFill>
                <a:latin typeface="Inter"/>
              </a:defRPr>
            </a:pPr>
            <a:r>
              <a:t>Centralized HR operations • Cross-client analytics • Platform administration</a:t>
            </a:r>
            <a:br/>
            <a:r>
              <a:t>Billing management • Compliance monitoring • SLA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2011680" cy="14630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17373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Client A</a:t>
            </a:r>
            <a:br/>
            <a:r>
              <a:t>Manufacturing</a:t>
            </a:r>
            <a:br/>
            <a:r>
              <a:t>150 employees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3108960"/>
            <a:ext cx="2011680" cy="14630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200400"/>
            <a:ext cx="17373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Client B</a:t>
            </a:r>
            <a:br/>
            <a:r>
              <a:t>Technology</a:t>
            </a:r>
            <a:br/>
            <a:r>
              <a:t>80 employees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3108960"/>
            <a:ext cx="2011680" cy="14630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3200400"/>
            <a:ext cx="17373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Client C</a:t>
            </a:r>
            <a:br/>
            <a:r>
              <a:t>Retail</a:t>
            </a:r>
            <a:br/>
            <a:r>
              <a:t>300 employees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3108960"/>
            <a:ext cx="2011680" cy="14630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3200400"/>
            <a:ext cx="17373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Client D</a:t>
            </a:r>
            <a:br/>
            <a:r>
              <a:t>Healthcare</a:t>
            </a:r>
            <a:br/>
            <a:r>
              <a:t>120 employees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3108960"/>
            <a:ext cx="2011680" cy="14630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3200400"/>
            <a:ext cx="17373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Client E</a:t>
            </a:r>
            <a:br/>
            <a:r>
              <a:t>Finance</a:t>
            </a:r>
            <a:br/>
            <a:r>
              <a:t>200 employees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B1437"/>
                </a:solidFill>
                <a:latin typeface="Inter"/>
              </a:defRPr>
            </a:pPr>
            <a:r>
              <a:t>Key Multi-Tenant Capabilities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57800"/>
            <a:ext cx="26060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257800"/>
            <a:ext cx="260604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349240"/>
            <a:ext cx="2331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Inter"/>
              </a:defRPr>
            </a:pPr>
            <a:r>
              <a:t>Data Isolation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669280"/>
            <a:ext cx="2331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Database-level Row-Level Security (RLS). Cross-tenant access is structurally blocked by RLS policies, validated by automated tests and pentest before each phase go-live.</a:t>
            </a:r>
            <a:br/>
            <a:r>
              <a:t/>
            </a:r>
            <a:br/>
            <a: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5257800"/>
            <a:ext cx="26060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66160" y="5257800"/>
            <a:ext cx="260604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5349240"/>
            <a:ext cx="2331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Inter"/>
              </a:defRPr>
            </a:pPr>
            <a:r>
              <a:t>White-Label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5669280"/>
            <a:ext cx="2331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Custom branding per client —</a:t>
            </a:r>
            <a:br/>
            <a:r>
              <a:t>logos, colors, domains. Employees</a:t>
            </a:r>
            <a:br/>
            <a:r>
              <a:t>see their company, not Egybell.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257800"/>
            <a:ext cx="26060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5257800"/>
            <a:ext cx="260604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5349240"/>
            <a:ext cx="2331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Inter"/>
              </a:defRPr>
            </a:pPr>
            <a:r>
              <a:t>Custom Workflows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669280"/>
            <a:ext cx="2331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Each client can have unique approval</a:t>
            </a:r>
            <a:br/>
            <a:r>
              <a:t>chains, policies, pay structures,</a:t>
            </a:r>
            <a:br/>
            <a:r>
              <a:t>and benefits configurations.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5257800"/>
            <a:ext cx="26060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5257800"/>
            <a:ext cx="260604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5349240"/>
            <a:ext cx="2331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Inter"/>
              </a:defRPr>
            </a:pPr>
            <a:r>
              <a:t>Centralized 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5669280"/>
            <a:ext cx="2331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Egybell manages all tenants from</a:t>
            </a:r>
            <a:br/>
            <a:r>
              <a:t>one dashboard. Bulk operations,</a:t>
            </a:r>
            <a:br/>
            <a:r>
              <a:t>cross-client reporting, SLA monitoring.</a:t>
            </a:r>
          </a:p>
        </p:txBody>
      </p:sp>
      <p:pic>
        <p:nvPicPr>
          <p:cNvPr id="34" name="Picture 33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B1437"/>
                </a:solidFill>
                <a:latin typeface="Inter"/>
              </a:defRPr>
            </a:pPr>
            <a:r>
              <a:t>DISCOVERY PHASE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280"/>
                </a:solidFill>
                <a:latin typeface="Inter"/>
              </a:defRPr>
            </a:pPr>
            <a:r>
              <a:t>All Planned Deliverables Completed Successfully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3200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8016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Inter"/>
              </a:defRPr>
            </a:pPr>
            <a:r>
              <a:t>13 Business Requirements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72768"/>
            <a:ext cx="4846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Complete BRDs for every module (M1–M13) covering functional requirements, business rules, data models, and acceptance criteria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3200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29844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Inter"/>
              </a:defRPr>
            </a:pPr>
            <a:r>
              <a:t>System Architecture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572768"/>
            <a:ext cx="4846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Full technical architecture — multi-tenant design, API specifications, database schema, security model, infrastructure topology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377439"/>
            <a:ext cx="3200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35000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3172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Inter"/>
              </a:defRPr>
            </a:pPr>
            <a:r>
              <a:t>User Access Policy &amp;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24327"/>
            <a:ext cx="4846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Role-based access control (RBAC) with 11 user types, permission mappings, SSO/MFA strategy, and data visibility rules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377439"/>
            <a:ext cx="3200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35000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33172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Inter"/>
              </a:defRPr>
            </a:pPr>
            <a:r>
              <a:t>Brand Guidelines &amp; Design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624327"/>
            <a:ext cx="4846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Visual identity (colors, typography, logo usage), component library, design tokens, spacing system, accessibility standards (WCAG 2.1 AA)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428999"/>
            <a:ext cx="3200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0156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383279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Inter"/>
              </a:defRPr>
            </a:pPr>
            <a:r>
              <a:t>Workflows Reference (85+ Flows)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675887"/>
            <a:ext cx="4846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End-to-end process maps for every module — approval chains, decision points, exception handling, SLA requirements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428999"/>
            <a:ext cx="3200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40156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383279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Inter"/>
              </a:defRPr>
            </a:pPr>
            <a:r>
              <a:t>User Journey Maps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675887"/>
            <a:ext cx="4846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Complete user journeys for all 11 personas across key scenarios — from employee self-service to admin workflows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480559"/>
            <a:ext cx="3200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453127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43484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Inter"/>
              </a:defRPr>
            </a:pPr>
            <a:r>
              <a:t>User Stories Master (200+ Stories)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727448"/>
            <a:ext cx="4846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Categorized by module and persona in 'As a… I want… So that…' format with acceptance criteria and priority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480559"/>
            <a:ext cx="3200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453127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43484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Inter"/>
              </a:defRPr>
            </a:pPr>
            <a:r>
              <a:t>Feature Breakdown (350+ Features)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727448"/>
            <a:ext cx="4846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Detailed feature list categorized by module, phase, and priority (MoSCoW) with effort estimates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532120"/>
            <a:ext cx="3200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50468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54864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Inter"/>
              </a:defRPr>
            </a:pPr>
            <a:r>
              <a:t>Discovery Questionnaires (11 Depts)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5779008"/>
            <a:ext cx="4846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Structured interviews covering HR Ops, Payroll, Recruitment, IT, Legal, Finance, L&amp;D, Performance, Benefits, Operations, Analytics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5532120"/>
            <a:ext cx="3200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550468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54864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Inter"/>
              </a:defRPr>
            </a:pPr>
            <a:r>
              <a:t>Implementation Roadmap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5779008"/>
            <a:ext cx="4846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5-phase delivery plan (Q3 2026 – Q3 2027) with milestones, dependencies, resource requirements, and risk factors</a:t>
            </a:r>
          </a:p>
        </p:txBody>
      </p:sp>
      <p:pic>
        <p:nvPicPr>
          <p:cNvPr id="45" name="Picture 44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B1437"/>
                </a:solidFill>
                <a:latin typeface="Inter"/>
              </a:defRPr>
            </a:pPr>
            <a:r>
              <a:t>KEY FINDINGS FROM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280"/>
                </a:solidFill>
                <a:latin typeface="Inter"/>
              </a:defRPr>
            </a:pPr>
            <a:r>
              <a:t>Critical Insights from 6 Department Interviews &amp; Process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34924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4864" cy="155448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417319"/>
            <a:ext cx="457200" cy="4572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35607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44751"/>
            <a:ext cx="4297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1437"/>
                </a:solidFill>
                <a:latin typeface="Inter"/>
              </a:defRPr>
            </a:pPr>
            <a:r>
              <a:t>Payroll Is the #1 Pain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83080"/>
            <a:ext cx="42976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Monthly payroll takes 5 days of manual work. Tax calculations, social insurance deductions, and overtime are all done in Excel. Errors average 3-5% per cycle, causing employee dissatisfaction and compliance risk.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280160"/>
            <a:ext cx="534924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280160"/>
            <a:ext cx="54864" cy="155448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1417319"/>
            <a:ext cx="4572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435607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444751"/>
            <a:ext cx="4297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1437"/>
                </a:solidFill>
                <a:latin typeface="Inter"/>
              </a:defRPr>
            </a:pPr>
            <a:r>
              <a:t>Multi-Tenant Isolation Is Non-Negotiable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783080"/>
            <a:ext cx="42976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Egybell's clients will not adopt the platform without guaranteed data isolation. Each client must have zero visibility into other clients' data. This is a legal and trust requirement.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63239"/>
            <a:ext cx="534924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063239"/>
            <a:ext cx="54864" cy="15544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200399"/>
            <a:ext cx="457200" cy="4572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18687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227832"/>
            <a:ext cx="4297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1437"/>
                </a:solidFill>
                <a:latin typeface="Inter"/>
              </a:defRPr>
            </a:pPr>
            <a:r>
              <a:t>Mobile Access Is Essential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566159"/>
            <a:ext cx="42976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40%+ of Egybell's managed employees are field workers without desktop access. Leave requests, payslip viewing, and time tracking must work on mobile devices natively.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063239"/>
            <a:ext cx="534924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3063239"/>
            <a:ext cx="54864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7960" y="3200399"/>
            <a:ext cx="4572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218687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227832"/>
            <a:ext cx="4297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1437"/>
                </a:solidFill>
                <a:latin typeface="Inter"/>
              </a:defRPr>
            </a:pPr>
            <a:r>
              <a:t>Arabic/RTL Is a Must-Have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566159"/>
            <a:ext cx="42976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All interfaces must support Arabic with proper RTL layout. Many Egybell clients have Arabic-only employees. Bilingual (AR/EN) switching must be seamless throughout the platform.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846320"/>
            <a:ext cx="534924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846320"/>
            <a:ext cx="54864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4983480"/>
            <a:ext cx="45720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001768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010912"/>
            <a:ext cx="4297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1437"/>
                </a:solidFill>
                <a:latin typeface="Inter"/>
              </a:defRPr>
            </a:pPr>
            <a:r>
              <a:t>Egyptian Social Insurance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349240"/>
            <a:ext cx="42976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Direct integration with the Egyptian Social Insurance Authority is needed. Current manual calculations are error-prone. Auto-calculation of Form 2 and Form 6 is a top request from Payroll.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4846320"/>
            <a:ext cx="534924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4846320"/>
            <a:ext cx="54864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37960" y="4983480"/>
            <a:ext cx="457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5001768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010912"/>
            <a:ext cx="4297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1437"/>
                </a:solidFill>
                <a:latin typeface="Inter"/>
              </a:defRPr>
            </a:pPr>
            <a:r>
              <a:t>Self-Service Will Transform HR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5349240"/>
            <a:ext cx="42976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HR staff spend 60%+ of their time answering routine employee queries (leave balances, payslip requests, letter generation). A self-service portal will free HR to focus on strategic initiatives.</a:t>
            </a:r>
          </a:p>
        </p:txBody>
      </p:sp>
      <p:pic>
        <p:nvPicPr>
          <p:cNvPr id="40" name="Picture 39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B1437"/>
                </a:solidFill>
                <a:latin typeface="Inter"/>
              </a:defRPr>
            </a:pPr>
            <a:r>
              <a:t>COMPETITIVE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280"/>
                </a:solidFill>
                <a:latin typeface="Inter"/>
              </a:defRPr>
            </a:pPr>
            <a:r>
              <a:t>How Praxion HROS Compares to Global Leaders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1280160"/>
            <a:ext cx="19659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1325880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Praxion HROS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3560" y="1280160"/>
            <a:ext cx="19659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0" y="1325880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Deel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280160"/>
            <a:ext cx="19659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325880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Rippling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21240" y="1280160"/>
            <a:ext cx="19659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21240" y="1325880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BambooHR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74519"/>
            <a:ext cx="256032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39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Egyptian Labor Law Native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874519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892807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3560" y="1874519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1892807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E8EF"/>
                </a:solidFill>
                <a:latin typeface="Inter"/>
              </a:defRPr>
            </a:pPr>
            <a:r>
              <a:t>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874519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892807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E8EF"/>
                </a:solidFill>
                <a:latin typeface="Inter"/>
              </a:defRPr>
            </a:pPr>
            <a:r>
              <a:t>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21240" y="1874519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1892807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E8EF"/>
                </a:solidFill>
                <a:latin typeface="Inter"/>
              </a:defRPr>
            </a:pPr>
            <a:r>
              <a:t>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258568"/>
            <a:ext cx="2560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304287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Arabic / RTL Interface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2258568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276856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2258568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60" y="2276856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E8EF"/>
                </a:solidFill>
                <a:latin typeface="Inter"/>
              </a:defRPr>
            </a:pPr>
            <a:r>
              <a:t>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258568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276856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E8EF"/>
                </a:solidFill>
                <a:latin typeface="Inter"/>
              </a:defRPr>
            </a:pPr>
            <a:r>
              <a:t>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21240" y="2258568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2276856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E8EF"/>
                </a:solidFill>
                <a:latin typeface="Inter"/>
              </a:defRPr>
            </a:pPr>
            <a:r>
              <a:t>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2642615"/>
            <a:ext cx="256032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2688335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Egybell-Operated Multi-Tenant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0" y="2642615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2660903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60" y="2642615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23560" y="2660903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E8EF"/>
                </a:solidFill>
                <a:latin typeface="Inter"/>
              </a:defRPr>
            </a:pPr>
            <a:r>
              <a:t>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2642615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2660903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E8EF"/>
                </a:solidFill>
                <a:latin typeface="Inter"/>
              </a:defRPr>
            </a:pPr>
            <a:r>
              <a:t>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21240" y="2642615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21240" y="2660903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E8EF"/>
                </a:solidFill>
                <a:latin typeface="Inter"/>
              </a:defRPr>
            </a:pPr>
            <a:r>
              <a:t>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026663"/>
            <a:ext cx="2560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3072383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Egyptian Social Insurance (Form 2/6)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0" y="3026663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0" y="3044951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23560" y="3026663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23560" y="3044951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E8EF"/>
                </a:solidFill>
                <a:latin typeface="Inter"/>
              </a:defRPr>
            </a:pPr>
            <a:r>
              <a:t>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3026663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3044951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E8EF"/>
                </a:solidFill>
                <a:latin typeface="Inter"/>
              </a:defRPr>
            </a:pPr>
            <a:r>
              <a:t>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21240" y="3026663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21240" y="3044951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E8EF"/>
                </a:solidFill>
                <a:latin typeface="Inter"/>
              </a:defRPr>
            </a:pPr>
            <a:r>
              <a:t>○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3410711"/>
            <a:ext cx="256032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3456431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MENA Payroll Compliance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0" y="3410711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0" y="3428999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23560" y="3410711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23560" y="3428999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72400" y="3410711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0" y="3428999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E8EF"/>
                </a:solidFill>
                <a:latin typeface="Inter"/>
              </a:defRPr>
            </a:pPr>
            <a:r>
              <a:t>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921240" y="3410711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21240" y="3428999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E8EF"/>
                </a:solidFill>
                <a:latin typeface="Inter"/>
              </a:defRPr>
            </a:pPr>
            <a:r>
              <a:t>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3794760"/>
            <a:ext cx="2560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" y="38404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Full HRIS Suite (13 Modules)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74720" y="3794760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74720" y="3813048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23560" y="3794760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23560" y="3813048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72400" y="3794760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0" y="3813048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921240" y="3794760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921240" y="3813048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1520" y="4178808"/>
            <a:ext cx="256032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2960" y="4224528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AI-Powered Analytics*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74720" y="4178808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74720" y="4197096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◐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23560" y="4178808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23560" y="4197096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72400" y="4178808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72400" y="4197096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21240" y="4178808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21240" y="4197096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E8EF"/>
                </a:solidFill>
                <a:latin typeface="Inter"/>
              </a:defRPr>
            </a:pPr>
            <a:r>
              <a:t>○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31520" y="4562856"/>
            <a:ext cx="2560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2960" y="4608576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Mobile-First Design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74720" y="4562856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474720" y="4581144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23560" y="4562856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23560" y="4581144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72400" y="4562856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772400" y="4581144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921240" y="4562856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921240" y="4581144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31520" y="4946904"/>
            <a:ext cx="256032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2960" y="4992624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White-Label Client Portal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474720" y="4946904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474720" y="4965192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23560" y="4946904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623560" y="4965192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772400" y="4946904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772400" y="4965192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E8EF"/>
                </a:solidFill>
                <a:latin typeface="Inter"/>
              </a:defRPr>
            </a:pPr>
            <a:r>
              <a:t>○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921240" y="4946904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921240" y="4965192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E8EF"/>
                </a:solidFill>
                <a:latin typeface="Inter"/>
              </a:defRPr>
            </a:pPr>
            <a:r>
              <a:t>○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31520" y="5330952"/>
            <a:ext cx="2560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22960" y="5376672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PDPL Data Protection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0" y="5330952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474720" y="534924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623560" y="5330952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623560" y="534924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E8EF"/>
                </a:solidFill>
                <a:latin typeface="Inter"/>
              </a:defRPr>
            </a:pPr>
            <a:r>
              <a:t>○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772400" y="5330952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772400" y="534924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E8EF"/>
                </a:solidFill>
                <a:latin typeface="Inter"/>
              </a:defRPr>
            </a:pPr>
            <a:r>
              <a:t>○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921240" y="5330952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921240" y="534924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E8EF"/>
                </a:solidFill>
                <a:latin typeface="Inter"/>
              </a:defRPr>
            </a:pPr>
            <a:r>
              <a:t>○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31520" y="5715000"/>
            <a:ext cx="256032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22960" y="57607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Self-Service Employee Portal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474720" y="5715000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474720" y="5733288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623560" y="5715000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623560" y="5733288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772400" y="5715000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772400" y="5733288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921240" y="5715000"/>
            <a:ext cx="1965960" cy="36576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921240" y="5733288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31520" y="6099048"/>
            <a:ext cx="2560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22960" y="6144768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API-First Architecture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474720" y="6099048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474720" y="6117336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623560" y="6099048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623560" y="6117336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772400" y="6099048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772400" y="6117336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921240" y="6099048"/>
            <a:ext cx="1965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921240" y="6117336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●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31520" y="64922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● = Native/Built-in     ○ = Not available / requires third-party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</a:rPr>
              <a:t>● = Native/Built-in   ◐ = Planned for Praxion roadmap (asterisked row)   ○ = Not available / requires third-party</a:t>
            </a:r>
          </a:p>
        </p:txBody>
      </p:sp>
      <p:pic>
        <p:nvPicPr>
          <p:cNvPr id="134" name="Picture 133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Inter"/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280"/>
                </a:solidFill>
                <a:latin typeface="Inter"/>
              </a:defRPr>
            </a:pPr>
            <a:r>
              <a:t>5 Phases Over 15 Months — From Foundation to Full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463040" cy="82296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Inter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Q3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2194560"/>
            <a:ext cx="54864" cy="2286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40" y="1371600"/>
            <a:ext cx="9052560" cy="8229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0" y="1371600"/>
            <a:ext cx="54864" cy="82296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417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Foundation: Core HRIS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69164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Employee database, org structure, user management,</a:t>
            </a:r>
            <a:br/>
            <a:r>
              <a:t>RBAC, SSO/MFA, audit logging, tenant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44475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9D3C5"/>
                </a:solidFill>
                <a:latin typeface="Inter"/>
              </a:defRPr>
            </a:pPr>
            <a:r>
              <a:t>M1 + M10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23160"/>
            <a:ext cx="1463040" cy="8229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1460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Inter"/>
              </a:defRPr>
            </a:pPr>
            <a: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83464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Q4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246120"/>
            <a:ext cx="54864" cy="228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77440" y="2423160"/>
            <a:ext cx="9052560" cy="8229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77440" y="2423160"/>
            <a:ext cx="54864" cy="8229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2468879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People: Recruitment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274320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ATS, job postings, candidate pipeline, onboarding</a:t>
            </a:r>
            <a:br/>
            <a:r>
              <a:t>checklists, offboarding, goals, reviews, 360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49631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F6BFF"/>
                </a:solidFill>
                <a:latin typeface="Inter"/>
              </a:defRPr>
            </a:pPr>
            <a:r>
              <a:t>M2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474720"/>
            <a:ext cx="1463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56616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Inter"/>
              </a:defRPr>
            </a:pPr>
            <a: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8620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Q1 2027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17320" y="4297680"/>
            <a:ext cx="54864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77440" y="3474720"/>
            <a:ext cx="9052560" cy="8229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77440" y="347472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06040" y="3520439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Money: Payroll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3794759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Salary processing, tax, social insurance, payslips,</a:t>
            </a:r>
            <a:br/>
            <a:r>
              <a:t>benefits enrollment, expense mgmt, LMS,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54787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C3AED"/>
                </a:solidFill>
                <a:latin typeface="Inter"/>
              </a:defRPr>
            </a:pPr>
            <a:r>
              <a:t>M6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526279"/>
            <a:ext cx="146304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617719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Inter"/>
              </a:defRPr>
            </a:pPr>
            <a:r>
              <a:t>PHASE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937759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Q2 2027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17320" y="5349240"/>
            <a:ext cx="54864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77440" y="4526279"/>
            <a:ext cx="9052560" cy="8229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77440" y="4526279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40" y="4571999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Intelligence: Contractors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6040" y="4846319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Contractor lifecycle, timesheets, invoicing, dashboards,</a:t>
            </a:r>
            <a:br/>
            <a:r>
              <a:t>predictive analytics, native mobile 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599431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59E0B"/>
                </a:solidFill>
                <a:latin typeface="Inter"/>
              </a:defRPr>
            </a:pPr>
            <a:r>
              <a:t>M8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577840"/>
            <a:ext cx="146304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669279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Inter"/>
              </a:defRPr>
            </a:pPr>
            <a:r>
              <a:t>PHASE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98932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Q3 2027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5577840"/>
            <a:ext cx="9052560" cy="8229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77440" y="5577840"/>
            <a:ext cx="54864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06040" y="5623559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Scale: Client Portal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6040" y="5897879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Multi-tenant portal, white-label, SLA management,</a:t>
            </a:r>
            <a:br/>
            <a:r>
              <a:t>usage billing, invoicing, platform launch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65099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0B981"/>
                </a:solidFill>
                <a:latin typeface="Inter"/>
              </a:defRPr>
            </a:pPr>
            <a:r>
              <a:t>M12</a:t>
            </a:r>
          </a:p>
        </p:txBody>
      </p:sp>
      <p:pic>
        <p:nvPicPr>
          <p:cNvPr id="49" name="Picture 48" descr="praxion-icon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B1437"/>
                </a:solidFill>
                <a:latin typeface="Inter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280"/>
                </a:solidFill>
                <a:latin typeface="Inter"/>
              </a:defRPr>
            </a:pPr>
            <a:r>
              <a:t>Modern, Scalable, Cloud-Native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3492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349240" cy="41148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4983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Next.js 14+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7830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React framework with server-side rendering, app router, and edge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2402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Type-safe across the entire codebase — fewer runtime errors, safer refactors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Tailwind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697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Utility-first CSS with custom design tokens for consistent styling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React 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1546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Server state management with caching, pagination, and real-time sync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280160"/>
            <a:ext cx="53492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280160"/>
            <a:ext cx="5349240" cy="4114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344168"/>
            <a:ext cx="4983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7830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Node.js / Express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7830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High-performance API server with middleware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2402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2402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Enterprise-grade database with Row-Level Security for multi-tenancy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6974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Supabase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697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Backend-as-a-service with real-time subscriptions, auth, and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1546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Redis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1546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In-memory caching for sessions, rate limiting, and background jobs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886200"/>
            <a:ext cx="53492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886200"/>
            <a:ext cx="5349240" cy="41148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950208"/>
            <a:ext cx="4983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Infrastructure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3891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Vercel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3891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Edge deployment with automatic scaling, preview environments, and CI/CD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463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AWS S3 + CloudFront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8463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Document storage and CDN for global content 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035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Docker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53035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Containerized services for consistent dev/staging/production environments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7607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GitHub Actions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57607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Automated testing, linting, and deployment pipelines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3886200"/>
            <a:ext cx="53492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80" y="3886200"/>
            <a:ext cx="534924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950208"/>
            <a:ext cx="4983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Security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3891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SSO + MFA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43891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Single Sign-On (Google, Microsoft, Apple) with multi-factor authentication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8463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RBAC + RLS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48463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Role-based access control with database-level row isolation per tenant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3035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PDPL Compliance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53035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Egyptian Personal Data Protection Law — encryption at rest and in transit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57607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Inter"/>
              </a:defRPr>
            </a:pPr>
            <a:r>
              <a:t>WCAG 2.1 AA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57607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Inter"/>
              </a:defRPr>
            </a:pPr>
            <a:r>
              <a:t>Full accessibility compliance — screen readers, keyboard nav, RTL support</a:t>
            </a:r>
          </a:p>
        </p:txBody>
      </p:sp>
      <p:pic>
        <p:nvPicPr>
          <p:cNvPr id="48" name="Picture 47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B1437"/>
                </a:solidFill>
                <a:latin typeface="Inter"/>
              </a:defRPr>
            </a:pPr>
            <a:r>
              <a:t>TRANSFORMATION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280"/>
                </a:solidFill>
                <a:latin typeface="Inter"/>
              </a:defRPr>
            </a:pPr>
            <a:r>
              <a:t>Before vs. After — How Praxion Changes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4924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349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BEFORE — Current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349240" cy="5486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365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F4444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84248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Employee records in Excel files and paper folders — no central database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5349240" cy="5486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24327"/>
            <a:ext cx="365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F4444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24327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Payroll takes 5 days per month with manual calculations and 3-5% error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5349240" cy="5486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64408"/>
            <a:ext cx="365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F4444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64408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Onboarding requires 15+ paper forms, multiple department visits over 3 days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79"/>
            <a:ext cx="5349240" cy="5486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04487"/>
            <a:ext cx="365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F4444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04487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Leave requests via WhatsApp or email — no tracking, no audit trail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80560"/>
            <a:ext cx="5349240" cy="5486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44568"/>
            <a:ext cx="365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F4444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544568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Monthly HR reports compiled manually over 2-3 days, often outdated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120640"/>
            <a:ext cx="5349240" cy="5486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84648"/>
            <a:ext cx="365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F4444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84648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No visibility into workforce trends — headcount, turnover, costs are guesses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60719"/>
            <a:ext cx="5349240" cy="5486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824727"/>
            <a:ext cx="365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F4444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824727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Compliance tracked in spreadsheets — missed deadlines and audit failures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371600"/>
            <a:ext cx="53492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417320"/>
            <a:ext cx="5349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AFTER — With Praxion HROS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920240"/>
            <a:ext cx="5349240" cy="5486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1984248"/>
            <a:ext cx="365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1984248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Unified digital employee profiles — single source of truth, instant access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560320"/>
            <a:ext cx="5349240" cy="5486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2624327"/>
            <a:ext cx="365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624327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Automated payroll in 2 hours — tax, social insurance, payslips auto-generated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200400"/>
            <a:ext cx="5349240" cy="5486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264408"/>
            <a:ext cx="365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264408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Digital onboarding portal — pre-boarding, e-signatures, auto-provisioning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840479"/>
            <a:ext cx="5349240" cy="5486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904487"/>
            <a:ext cx="365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3904487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Self-service leave requests with instant manager notifications and tracking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480560"/>
            <a:ext cx="5349240" cy="5486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544568"/>
            <a:ext cx="365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4544568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Real-time dashboards — live KPIs, automated reports, scheduled delivery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5120640"/>
            <a:ext cx="5349240" cy="5486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5184648"/>
            <a:ext cx="365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5184648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Predictive analytics — turnover risk, hiring forecasts, compensation insights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5760719"/>
            <a:ext cx="5349240" cy="5486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5824727"/>
            <a:ext cx="365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5824727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Inter"/>
              </a:defRPr>
            </a:pPr>
            <a:r>
              <a:t>Automated compliance — alerts, contract renewals, regulatory deadline tracking</a:t>
            </a:r>
          </a:p>
        </p:txBody>
      </p:sp>
      <p:pic>
        <p:nvPicPr>
          <p:cNvPr id="50" name="Picture 49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Inter"/>
              </a:defRPr>
            </a:pPr>
            <a:r>
              <a:t>ROI &amp;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280"/>
                </a:solidFill>
                <a:latin typeface="Inter"/>
              </a:defRPr>
            </a:pPr>
            <a:r>
              <a:t>Projected Returns from Platform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606040" cy="32918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60604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9D3C5"/>
                </a:solidFill>
                <a:latin typeface="Inter"/>
              </a:defRPr>
            </a:pPr>
            <a:r>
              <a:t>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Less Manual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2402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Automation frees ~250 HR-hours/month</a:t>
            </a:r>
            <a:br/>
            <a:r>
              <a:t>(≈1.5 FTE) for strategic work.</a:t>
            </a:r>
            <a:br/>
            <a:r>
              <a:t>Indicative $65–90K/yr capacity.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463040"/>
            <a:ext cx="2606040" cy="32918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463040"/>
            <a:ext cx="2606040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73736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F6BFF"/>
                </a:solidFill>
                <a:latin typeface="Inter"/>
              </a:defRPr>
            </a:pPr>
            <a:r>
              <a:t>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56032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Faster 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108960"/>
            <a:ext cx="22402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Multi-day paper process → Day-1</a:t>
            </a:r>
            <a:br/>
            <a:r>
              <a:t>digital readiness; ~2 days sooner</a:t>
            </a:r>
            <a:br/>
            <a:r>
              <a:t>per hire (indicative).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463040"/>
            <a:ext cx="2606040" cy="32918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463040"/>
            <a:ext cx="26060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73736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7C3AED"/>
                </a:solidFill>
                <a:latin typeface="Inter"/>
              </a:defRPr>
            </a:pPr>
            <a:r>
              <a:t>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6032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Payroll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08960"/>
            <a:ext cx="22402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rPr>
                <a:solidFill/>
              </a:rPr>
              <a:t>Auto-calculated tax, social insurance, overtime, deductions — validated by parallel-run against current process for 2–3 cycles.</a:t>
            </a:r>
            <a:br/>
            <a:r>
              <a:rPr>
                <a:solidFill/>
              </a:rPr>
              <a:t/>
            </a:r>
            <a:br/>
            <a:r>
              <a:rPr>
                <a:solidFill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463040"/>
            <a:ext cx="2606040" cy="32918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463040"/>
            <a:ext cx="26060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173736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0B981"/>
                </a:solidFill>
                <a:latin typeface="Inter"/>
              </a:defRPr>
            </a:pPr>
            <a:r>
              <a:t>Real-Time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56032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108960"/>
            <a:ext cx="22402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Automated alerts for labor law,</a:t>
            </a:r>
            <a:br/>
            <a:r>
              <a:t>renewals, probation, deadlines —</a:t>
            </a:r>
            <a:br/>
            <a:r>
              <a:t>avoids penalty exposure.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2064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9D3C5"/>
                </a:solidFill>
                <a:latin typeface="Inter"/>
              </a:defRPr>
            </a:pPr>
            <a:r>
              <a:t>Additional Projected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7784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B0BB"/>
                </a:solidFill>
                <a:latin typeface="Inter"/>
              </a:defRPr>
            </a:pPr>
            <a:r>
              <a:t>• Self-service reduces HR inquiries ~60% — ~120 hrs/month reclaimed    • Recruitment cycle 45d → 20d: cost-per-hire savings + roles filled ~3 wks sooner</a:t>
            </a:r>
            <a:br/>
            <a:r>
              <a:t/>
            </a:r>
            <a:br/>
            <a:r>
              <a:t/>
            </a:r>
          </a:p>
        </p:txBody>
      </p:sp>
      <p:pic>
        <p:nvPicPr>
          <p:cNvPr id="27" name="Picture 26" descr="praxion-icon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B1437"/>
                </a:solidFill>
                <a:latin typeface="Inter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280"/>
                </a:solidFill>
                <a:latin typeface="Inter"/>
              </a:defRPr>
            </a:pPr>
            <a:r>
              <a:t>Program-Level Actions to Move to Phase 1 Development (team-formation steps in Org Chart deck)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44168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737360"/>
            <a:ext cx="54864" cy="429768"/>
          </a:xfrm>
          <a:prstGeom prst="rect">
            <a:avLst/>
          </a:prstGeom>
          <a:solidFill>
            <a:srgbClr val="E5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280160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1437"/>
                </a:solidFill>
                <a:latin typeface="Inter"/>
              </a:defRPr>
            </a:pPr>
            <a:r>
              <a:t>Approve Discovery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00200"/>
            <a:ext cx="7772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Review and formally sign off on all discovery phase outputs — BRDs, architecture, workflows, user stories, and roadmap. This clears the gate for Phase 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1353312"/>
            <a:ext cx="1828800" cy="32004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1371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9D3C5"/>
                </a:solidFill>
                <a:latin typeface="Inter"/>
              </a:defRPr>
            </a:pPr>
            <a:r>
              <a:t>Immediate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67128"/>
            <a:ext cx="457200" cy="4572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31136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624328"/>
            <a:ext cx="54864" cy="429768"/>
          </a:xfrm>
          <a:prstGeom prst="rect">
            <a:avLst/>
          </a:prstGeom>
          <a:solidFill>
            <a:srgbClr val="E5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167128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1437"/>
                </a:solidFill>
                <a:latin typeface="Inter"/>
              </a:defRPr>
            </a:pPr>
            <a:r>
              <a:t>Confirm Phase 1 Scope &amp;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487168"/>
            <a:ext cx="7772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Finalize scope for Core HRIS (M1) + System Admin (M10). Assign Phase 1 team: Product Owner (Sabry), Technical Lead, 3 Developers, UX Designer, QA Engineer, shared DevOps. Team scales to ~10 builders by Phase 3.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40280"/>
            <a:ext cx="1828800" cy="32004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25856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6BFF"/>
                </a:solidFill>
                <a:latin typeface="Inter"/>
              </a:defRPr>
            </a:pPr>
            <a:r>
              <a:t>Week of Apr 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054096"/>
            <a:ext cx="4572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18103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3511296"/>
            <a:ext cx="54864" cy="429768"/>
          </a:xfrm>
          <a:prstGeom prst="rect">
            <a:avLst/>
          </a:prstGeom>
          <a:solidFill>
            <a:srgbClr val="E5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054096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1437"/>
                </a:solidFill>
                <a:latin typeface="Inter"/>
              </a:defRPr>
            </a:pPr>
            <a:r>
              <a:t>Kick Off UI/UX Design Sprint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374136"/>
            <a:ext cx="7772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2-week design sprint to create the master layout, component library, and key screen designs for M1. Design must be approved before development starts.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3127248"/>
            <a:ext cx="1828800" cy="32004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3145536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437"/>
                </a:solidFill>
                <a:latin typeface="Inter"/>
              </a:defRPr>
            </a:pPr>
            <a:r>
              <a:t>May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941064"/>
            <a:ext cx="4572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005072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" y="4398264"/>
            <a:ext cx="54864" cy="429768"/>
          </a:xfrm>
          <a:prstGeom prst="rect">
            <a:avLst/>
          </a:prstGeom>
          <a:solidFill>
            <a:srgbClr val="E5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3941064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1437"/>
                </a:solidFill>
                <a:latin typeface="Inter"/>
              </a:defRPr>
            </a:pPr>
            <a:r>
              <a:t>Set Up Development Environment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261104"/>
            <a:ext cx="7772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Provision infrastructure — Vercel project, Supabase instance, GitHub repo, CI/CD pipelines, staging and production environments.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4014216"/>
            <a:ext cx="1828800" cy="32004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4032504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C3AED"/>
                </a:solidFill>
                <a:latin typeface="Inter"/>
              </a:defRPr>
            </a:pPr>
            <a:r>
              <a:t>May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828031"/>
            <a:ext cx="457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8920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" y="5285231"/>
            <a:ext cx="54864" cy="429768"/>
          </a:xfrm>
          <a:prstGeom prst="rect">
            <a:avLst/>
          </a:prstGeom>
          <a:solidFill>
            <a:srgbClr val="E5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4828031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1437"/>
                </a:solidFill>
                <a:latin typeface="Inter"/>
              </a:defRPr>
            </a:pPr>
            <a:r>
              <a:t>Begin Phase 1 Development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148071"/>
            <a:ext cx="7772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Start Sprint 1 of Core HRIS development. 2-week sprint cycles with bi-weekly demos to stakeholders. Target: MVP by end of Q3 2026.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4901183"/>
            <a:ext cx="1828800" cy="32004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4919471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Inter"/>
              </a:defRPr>
            </a:pPr>
            <a:r>
              <a:t>July 2026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71500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779008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715000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1437"/>
                </a:solidFill>
                <a:latin typeface="Inter"/>
              </a:defRPr>
            </a:pPr>
            <a:r>
              <a:t>Establish Governance Cadence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6035040"/>
            <a:ext cx="7772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Weekly status reports, bi-weekly sprint reviews, monthly steering committee meetings. Set up Slack/Teams channels for real-time communication.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0" y="5788152"/>
            <a:ext cx="1828800" cy="32004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0" y="5806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9E0B"/>
                </a:solidFill>
                <a:latin typeface="Inter"/>
              </a:defRPr>
            </a:pPr>
            <a:r>
              <a:t>Ongoing</a:t>
            </a:r>
          </a:p>
        </p:txBody>
      </p:sp>
      <p:pic>
        <p:nvPicPr>
          <p:cNvPr id="46" name="Picture 45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Inter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9D3C5"/>
                </a:solidFill>
                <a:latin typeface="Inter"/>
              </a:defRPr>
            </a:pPr>
            <a: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840480"/>
            <a:ext cx="2103120" cy="36576"/>
          </a:xfrm>
          <a:prstGeom prst="rect">
            <a:avLst/>
          </a:prstGeom>
          <a:solidFill>
            <a:srgbClr val="30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280"/>
                </a:solidFill>
                <a:latin typeface="Inter"/>
              </a:defRPr>
            </a:pPr>
            <a:r>
              <a:t>mohamed.sabry@praxionhr.com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Inter"/>
              </a:defRPr>
            </a:pPr>
            <a:r>
              <a:t>PraxionHR  |  April 2026</a:t>
            </a:r>
          </a:p>
        </p:txBody>
      </p:sp>
      <p:pic>
        <p:nvPicPr>
          <p:cNvPr id="10" name="Picture 9" descr="praxion-icon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