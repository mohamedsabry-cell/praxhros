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64592" cy="3108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591221" y="617220"/>
            <a:ext cx="0" cy="502919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155680" y="1120139"/>
            <a:ext cx="435541" cy="25146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0720138" y="1120139"/>
            <a:ext cx="435542" cy="25146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20138" y="617219"/>
            <a:ext cx="0" cy="50292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20138" y="365759"/>
            <a:ext cx="435542" cy="25146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155680" y="365759"/>
            <a:ext cx="435541" cy="25146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100815" y="81381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1155680" y="617220"/>
            <a:ext cx="435541" cy="25146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508925" y="534924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1155680" y="868680"/>
            <a:ext cx="0" cy="50292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77955" y="1293876"/>
            <a:ext cx="155448" cy="1554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0720138" y="617219"/>
            <a:ext cx="435542" cy="251461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56130" y="553211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155680" y="365759"/>
            <a:ext cx="0" cy="502921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100815" y="310895"/>
            <a:ext cx="109728" cy="109728"/>
          </a:xfrm>
          <a:prstGeom prst="ellipse">
            <a:avLst/>
          </a:prstGeom>
          <a:solidFill>
            <a:srgbClr val="A6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858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Praxion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202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80F2E6"/>
                </a:solidFill>
                <a:latin typeface="Calibri"/>
              </a:rPr>
              <a:t>PHASE-1 MOBILIZATION PLAN  ·  TECH LEAD SESSION  · 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Let's build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Praxion HROS.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DE9"/>
                </a:solidFill>
                <a:latin typeface="Calibri"/>
              </a:rPr>
              <a:t>11 months  ·  10 modules  ·  6 squads  ·  5 functional tiers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KICK-OFF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15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14 Mar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6692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8978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8  ·  P0 → P7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6692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897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Sabry 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PRX-MOB-P1-001  ·  v1.0  ·  Internal —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01 · MOBILIZATION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The plan in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801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280160"/>
            <a:ext cx="2194560" cy="109728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0B143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0B1437"/>
                </a:solidFill>
                <a:latin typeface="Calibri"/>
              </a:rPr>
              <a:t>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432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15 May '26 → 14 Mar '27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12801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2344" y="1280160"/>
            <a:ext cx="2194560" cy="10972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55448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0B1437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2F6BFF"/>
                </a:solidFill>
                <a:latin typeface="Calibri"/>
              </a:rPr>
              <a:t>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7432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Phase-1 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5775" y="12801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65775" y="1280160"/>
            <a:ext cx="2194560" cy="10972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5" y="155448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0B1437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5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19D3C5"/>
                </a:solidFill>
                <a:latin typeface="Calibri"/>
              </a:rPr>
              <a:t>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5" y="27432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P0 Mobilise → P7 Go-live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9208" y="12801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9208" y="1280160"/>
            <a:ext cx="21945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55448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0B1437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7C3AED"/>
                </a:solidFill>
                <a:latin typeface="Calibri"/>
              </a:rPr>
              <a:t>SQUADS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7432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Cross-functional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2801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280160"/>
            <a:ext cx="219456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55448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0B1437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59E0B"/>
                </a:solidFill>
                <a:latin typeface="Calibri"/>
              </a:rPr>
              <a:t>TIERS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7432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Functional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74720"/>
            <a:ext cx="112471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474720"/>
            <a:ext cx="109728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6118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7C3AED"/>
                </a:solidFill>
                <a:latin typeface="Calibri"/>
              </a:rPr>
              <a:t>WHAT WE COMMIT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97763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Functional delivery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7024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One integrated HR operating system — Foundation · People · Money · Intelligence ·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397763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Statutory-correct payroll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427024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SIA, ETA and PDP Law 151/2020 built in, not bolted 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5487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Mobile-first for 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4748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Arabic + English ESS on day one — 60% of workforce unlocked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475487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Compliance by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504748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Audit trail · RBAC · DPIA on every module before go-live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F6BFF"/>
                </a:solidFill>
                <a:latin typeface="Calibri"/>
              </a:rPr>
              <a:t>Three golden threads throughout Phase-1:   1) Ship monthly, learn weekly    2) Real payroll is the pacemaker    3) Field-worker test = go/no-go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02 ·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13 integrated modules — grouped by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188720"/>
            <a:ext cx="4806543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1188720"/>
            <a:ext cx="4806543" cy="7315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48840" y="138988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3898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389888"/>
            <a:ext cx="40293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Core HRIS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719072"/>
            <a:ext cx="453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Employee records · org · docs ·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7951" y="1188720"/>
            <a:ext cx="4806543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27951" y="1188720"/>
            <a:ext cx="4806543" cy="7315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65111" y="138988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5111" y="13898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1183" y="1389888"/>
            <a:ext cx="40293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System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5111" y="1719072"/>
            <a:ext cx="4532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Users · roles · SSO · MFA ·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19456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9456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2194560"/>
            <a:ext cx="2348407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0" y="2194560"/>
            <a:ext cx="2348407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48840" y="239572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3957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2395728"/>
            <a:ext cx="15711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Recruitment &amp; 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724912"/>
            <a:ext cx="2074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Job postings · interviews · offers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9815" y="2194560"/>
            <a:ext cx="2348407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9815" y="2194560"/>
            <a:ext cx="2348407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06975" y="239572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6975" y="23957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3047" y="2395728"/>
            <a:ext cx="15711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Onboarding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6975" y="2724912"/>
            <a:ext cx="2074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Checklists · provisioning · offboarding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27951" y="2194560"/>
            <a:ext cx="2348407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27951" y="2194560"/>
            <a:ext cx="2348407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65111" y="239572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5111" y="23957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41183" y="2395728"/>
            <a:ext cx="15711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5111" y="2724912"/>
            <a:ext cx="2074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Goals · reviews · 360 · KPIs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86087" y="2194560"/>
            <a:ext cx="2348407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86087" y="2194560"/>
            <a:ext cx="2348407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23247" y="239572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3247" y="23957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9319" y="2395728"/>
            <a:ext cx="15711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Training &amp; LMS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3247" y="2724912"/>
            <a:ext cx="20740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Courses · compliance · certificates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20040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20040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1680" y="3200400"/>
            <a:ext cx="3167786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0" y="3200400"/>
            <a:ext cx="3167786" cy="7315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148840" y="340156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48840" y="34015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24912" y="3401568"/>
            <a:ext cx="23905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Payroll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48840" y="3730752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Salary · tax · SIA · payslips · bank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89194" y="3200400"/>
            <a:ext cx="3167786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89194" y="3200400"/>
            <a:ext cx="3167786" cy="7315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26354" y="340156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26354" y="34015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2426" y="3401568"/>
            <a:ext cx="23905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Benefits &amp; Expenses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26354" y="3730752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Enrolment · claims · reimbursement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66708" y="3200400"/>
            <a:ext cx="3167786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66708" y="3200400"/>
            <a:ext cx="3167786" cy="7315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703868" y="340156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3868" y="34015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79940" y="3401568"/>
            <a:ext cx="23905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Contractors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03868" y="3730752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Contracts · timesheets · invoices  (P2)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20624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20624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680" y="4206240"/>
            <a:ext cx="9722815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011680" y="4206240"/>
            <a:ext cx="972281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148840" y="4407407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48840" y="4407407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24912" y="4407407"/>
            <a:ext cx="8945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Analytics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8840" y="4736592"/>
            <a:ext cx="9448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Dashboards · KPIs · predictive · workforce planning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21208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21208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011680" y="5212080"/>
            <a:ext cx="3167786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11680" y="5212080"/>
            <a:ext cx="3167786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148840" y="541324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48840" y="54132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4912" y="5413248"/>
            <a:ext cx="23905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Mobile App (ESS)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48840" y="5742432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Self-service · approvals · notifications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289194" y="5212080"/>
            <a:ext cx="3167786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289194" y="5212080"/>
            <a:ext cx="3167786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426354" y="541324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26354" y="54132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02426" y="5413248"/>
            <a:ext cx="23905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Client Portal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26354" y="5742432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Multi-tenant · white-label  (P2)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566708" y="5212080"/>
            <a:ext cx="3167786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66708" y="5212080"/>
            <a:ext cx="3167786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8703868" y="5413248"/>
            <a:ext cx="50292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03868" y="54132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79940" y="5413248"/>
            <a:ext cx="23905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Billing &amp; Invoicing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03868" y="5742432"/>
            <a:ext cx="28934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Usage · invoices · subscriptions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A99"/>
                </a:solidFill>
                <a:latin typeface="Consolas"/>
              </a:rPr>
              <a:t>Phase-1 scope = 10 modules (M1, M10, M2, M3, M4, M5, M6, M7, M9, M11) · M8, M12, M13 sequenced to Phase-2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03 · DESIGN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Why we group by function, not by build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40680" cy="45720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OLD VIEW — BUILD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Tier 1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M1, M10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7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Tier 2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4027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M6, M2, M3, M11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Tier 3 Module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3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M4, M5, M7, M9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71799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Tier 4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79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M8, M12, M13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3444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234440"/>
            <a:ext cx="54406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34416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NEW VIEW — FUNCTIONAL TIERS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901951"/>
            <a:ext cx="1645920" cy="274320"/>
          </a:xfrm>
          <a:prstGeom prst="roundRect">
            <a:avLst>
              <a:gd name="adj" fmla="val 4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90195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6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7451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M1 · M10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267711"/>
            <a:ext cx="1645920" cy="274320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26771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6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4027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M2 · M3 · M4 · M5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633471"/>
            <a:ext cx="1645920" cy="274320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63347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6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0603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M6 · M7 · M8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999231"/>
            <a:ext cx="1645920" cy="274320"/>
          </a:xfrm>
          <a:prstGeom prst="roundRect">
            <a:avLst>
              <a:gd name="adj" fmla="val 4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99923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6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97179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364991"/>
            <a:ext cx="1645920" cy="274320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36499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6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33755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M11 · M12 · M13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40480"/>
            <a:ext cx="3730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023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C3AED"/>
                </a:solidFill>
                <a:latin typeface="Calibri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480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Matches operating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8920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HR leaders already think in People / Money / Experience — our system mirrors their mental model.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3840480"/>
            <a:ext cx="3730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15968" y="3840480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568" y="4023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C3AED"/>
                </a:solidFill>
                <a:latin typeface="Calibri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4480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Squads own tiers end-to-end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48920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A tier-aligned squad owns data model, UI, workflow and compliance for their domain — not a horizontal slice.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3840480"/>
            <a:ext cx="3730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74736" y="3840480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03336" y="4023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7C3AED"/>
                </a:solidFill>
                <a:latin typeface="Calibri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4480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Speaks to executives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489204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CFO owns Money tier outcomes. CHRO owns People tier. CIO owns Foundation. Clean accountability.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7C3AED"/>
                </a:solidFill>
                <a:latin typeface="Calibri"/>
              </a:rPr>
              <a:t>Build order inside each tier is still Phase-1 → Phase-2. Functional grouping is how we think. Sequencing is how we ship.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04 · PHASE-1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8 gates over 11 months — P0 Mobilise → P7 Go-live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74552" cy="54864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827" y="2057400"/>
            <a:ext cx="512064" cy="512064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827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MOBILISE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1437"/>
                </a:solidFill>
                <a:latin typeface="Consolas"/>
              </a:rPr>
              <a:t>Apr – May 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4w</a:t>
            </a:r>
          </a:p>
        </p:txBody>
      </p:sp>
      <p:sp>
        <p:nvSpPr>
          <p:cNvPr id="13" name="Oval 12"/>
          <p:cNvSpPr/>
          <p:nvPr/>
        </p:nvSpPr>
        <p:spPr>
          <a:xfrm>
            <a:off x="2315146" y="2057400"/>
            <a:ext cx="512064" cy="512064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5146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6519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6519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2A5E"/>
                </a:solidFill>
                <a:latin typeface="Consolas"/>
              </a:rPr>
              <a:t>May – Jul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6519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8w</a:t>
            </a:r>
          </a:p>
        </p:txBody>
      </p:sp>
      <p:sp>
        <p:nvSpPr>
          <p:cNvPr id="18" name="Oval 17"/>
          <p:cNvSpPr/>
          <p:nvPr/>
        </p:nvSpPr>
        <p:spPr>
          <a:xfrm>
            <a:off x="3724465" y="2057400"/>
            <a:ext cx="512064" cy="51206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4465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838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5838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2F6BFF"/>
                </a:solidFill>
                <a:latin typeface="Consolas"/>
              </a:rPr>
              <a:t>Jul – Sep 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8w</a:t>
            </a:r>
          </a:p>
        </p:txBody>
      </p:sp>
      <p:sp>
        <p:nvSpPr>
          <p:cNvPr id="23" name="Oval 22"/>
          <p:cNvSpPr/>
          <p:nvPr/>
        </p:nvSpPr>
        <p:spPr>
          <a:xfrm>
            <a:off x="5133784" y="2057400"/>
            <a:ext cx="512064" cy="51206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3784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5157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MONEY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5157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9D3C5"/>
                </a:solidFill>
                <a:latin typeface="Consolas"/>
              </a:rPr>
              <a:t>Sep – Nov '26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5157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8w</a:t>
            </a:r>
          </a:p>
        </p:txBody>
      </p:sp>
      <p:sp>
        <p:nvSpPr>
          <p:cNvPr id="28" name="Oval 27"/>
          <p:cNvSpPr/>
          <p:nvPr/>
        </p:nvSpPr>
        <p:spPr>
          <a:xfrm>
            <a:off x="6543103" y="2057400"/>
            <a:ext cx="512064" cy="512064"/>
          </a:xfrm>
          <a:prstGeom prst="ellipse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3103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476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6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5A8FFF"/>
                </a:solidFill>
                <a:latin typeface="Consolas"/>
              </a:rPr>
              <a:t>Nov '26 – Jan '27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6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8w</a:t>
            </a:r>
          </a:p>
        </p:txBody>
      </p:sp>
      <p:sp>
        <p:nvSpPr>
          <p:cNvPr id="33" name="Oval 32"/>
          <p:cNvSpPr/>
          <p:nvPr/>
        </p:nvSpPr>
        <p:spPr>
          <a:xfrm>
            <a:off x="7952422" y="205740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2422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3794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ACCESS + INTEL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3794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59E0B"/>
                </a:solidFill>
                <a:latin typeface="Consolas"/>
              </a:rPr>
              <a:t>Jan – Feb '27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3794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4w</a:t>
            </a:r>
          </a:p>
        </p:txBody>
      </p:sp>
      <p:sp>
        <p:nvSpPr>
          <p:cNvPr id="38" name="Oval 37"/>
          <p:cNvSpPr/>
          <p:nvPr/>
        </p:nvSpPr>
        <p:spPr>
          <a:xfrm>
            <a:off x="9361741" y="205740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1741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3113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HARDEN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3113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7C3AED"/>
                </a:solidFill>
                <a:latin typeface="Consolas"/>
              </a:rPr>
              <a:t>Feb – Mar '27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3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3.5w</a:t>
            </a:r>
          </a:p>
        </p:txBody>
      </p:sp>
      <p:sp>
        <p:nvSpPr>
          <p:cNvPr id="43" name="Oval 42"/>
          <p:cNvSpPr/>
          <p:nvPr/>
        </p:nvSpPr>
        <p:spPr>
          <a:xfrm>
            <a:off x="10707052" y="1993392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07052" y="199339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2432" y="15544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GO-LIVE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2432" y="2926080"/>
            <a:ext cx="1409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22C55E"/>
                </a:solidFill>
                <a:latin typeface="Consolas"/>
              </a:rPr>
              <a:t>14 Mar '27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2432" y="3154680"/>
            <a:ext cx="14093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B7A99"/>
                </a:solidFill>
                <a:latin typeface="Consolas"/>
              </a:rPr>
              <a:t>D-Day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6118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GATE OUTCOMES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88620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886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3886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MOBILISE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3886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Charter · RACI · squads · environments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388620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3886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38862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DESIGN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3886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Functional spec · data model · UX · NFRs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48056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480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FOUNDATION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M1 Core HRIS · M10 System Admin · SSO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26480" y="448056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4480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MONEY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M6 Payroll parallel run · M7 Benefits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07492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074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" y="5074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PEOPLE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1720" y="5074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M2 ATS · M3 Onboarding · M4 Perf · M5 LMS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0" y="507492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5074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5074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ACCESS + INTEL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01000" y="5074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M11 Mobile ESS · M9 Analytics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66928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669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669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HARDEN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2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UAT · pen-test · DPIA · load · dry-run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26480" y="5669280"/>
            <a:ext cx="457200" cy="27432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0" y="5669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5669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0B1437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0100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Cutover · hypercare · 30-day warranty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05 · FOUNDATION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M1 Core HRIS + M10 System Admin — the platform spine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74320"/>
            <a:ext cx="2103120" cy="41148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74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79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914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53312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533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533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Core HRIS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3533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0B1437"/>
                </a:solidFill>
                <a:latin typeface="Consolas"/>
              </a:rPr>
              <a:t>P2 · 15 Jul – 15 Sep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83664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HRIS Lead · 2 eng, 1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883664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Employee / org / position / contract / doc / audit entities · JML workflows · import from Excel + paper · HRIS API v1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79776"/>
            <a:ext cx="7498079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79776"/>
            <a:ext cx="91440" cy="1463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944368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443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94436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System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9443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0B1437"/>
                </a:solidFill>
                <a:latin typeface="Consolas"/>
              </a:rPr>
              <a:t>P2 · 15 Jul – 15 Sep '26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826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47472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CISO + HRIS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28269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4747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Identity · RBAC roles &amp; permissions · SSO (SAML+OIDC) · MFA · audit log · backup/restore · 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188720"/>
            <a:ext cx="354787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188720"/>
            <a:ext cx="3547872" cy="7315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59" y="137160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0B1437"/>
                </a:solidFill>
                <a:latin typeface="Calibri"/>
              </a:rPr>
              <a:t>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169164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Active Directory / SSO IdP · email relay · file store (S3-compatible) · observability stack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926080"/>
            <a:ext cx="354787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2926080"/>
            <a:ext cx="354787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59" y="31089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EF4444"/>
                </a:solidFill>
                <a:latin typeface="Calibri"/>
              </a:rPr>
              <a:t>RISKS TO 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342900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Data migration from legacy Excel/paper · role model too permissive · SSO IdP not ready on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4663440"/>
            <a:ext cx="3547872" cy="155448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59" y="4828031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TIER KPI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512064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M1: 100% employee data loaded with &lt; 0.5% error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M10: SSO live · RBAC audited · zero P1 security issues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06 · PEOPLE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M2 – M5 — talent lifecycle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74320"/>
            <a:ext cx="2103120" cy="41148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74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7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9144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53312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533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533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Recruitment &amp; 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3533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2F6BFF"/>
                </a:solidFill>
                <a:latin typeface="Consolas"/>
              </a:rPr>
              <a:t>P4 · Nov – Dec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83664"/>
            <a:ext cx="20116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Talent &amp; Dev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883664"/>
            <a:ext cx="50292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Requisition → offer · careers page · interview scorecards · offer letters · talent 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04872"/>
            <a:ext cx="749807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04872"/>
            <a:ext cx="9144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569464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56946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56946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56946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2F6BFF"/>
                </a:solidFill>
                <a:latin typeface="Consolas"/>
              </a:rPr>
              <a:t>P4 · Nov – Dec '26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907791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099815"/>
            <a:ext cx="20116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Talent &amp; Dev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907791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099815"/>
            <a:ext cx="50292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Day-1 journeys · checklist · provisioning triggers · digital document pack · offboarding checklist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21024"/>
            <a:ext cx="749807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621024"/>
            <a:ext cx="9144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3785615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785615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785615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85615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2F6BFF"/>
                </a:solidFill>
                <a:latin typeface="Consolas"/>
              </a:rPr>
              <a:t>P4 · Dec '26 – Jan '27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1239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315968"/>
            <a:ext cx="20116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Talent &amp; Dev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2394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315968"/>
            <a:ext cx="50292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Goals/OKRs · check-ins · annual review · 360 feedback · calibration · competency library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37176"/>
            <a:ext cx="749807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837176"/>
            <a:ext cx="91440" cy="1143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" y="5001768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00176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00176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Training &amp; LMS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5001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2F6BFF"/>
                </a:solidFill>
                <a:latin typeface="Consolas"/>
              </a:rPr>
              <a:t>P4 · Dec '26 – Jan '27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400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532120"/>
            <a:ext cx="201168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Talent &amp; Dev Lead + Product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34009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532120"/>
            <a:ext cx="5029200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Course catalogue · enrolments · completions · certificates · compliance training tracking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1188720"/>
            <a:ext cx="354787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1188720"/>
            <a:ext cx="3547872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59" y="137160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INTEGRATIONS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59" y="169164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Job boards (LinkedIn, Wuzzuf) · e-signature for offers · video interview · SCORM for LMS content · email + SMS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83879" y="2926080"/>
            <a:ext cx="354787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83879" y="2926080"/>
            <a:ext cx="354787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59" y="31089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EF4444"/>
                </a:solidFill>
                <a:latin typeface="Calibri"/>
              </a:rPr>
              <a:t>RISKS TO WATCH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59" y="342900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Scope creep on M4 (360 is big) · SCORM content sourcing delays · email deliverability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83879" y="4663440"/>
            <a:ext cx="3547872" cy="155448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59" y="4828031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TIER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59" y="512064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Offer → Day-1 onboarding ready: 15d → 7d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100% compliance training tracked with certificates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07 · MONEY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M6 Payroll + M7 Benefits / Expenses — the pacemaker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74320"/>
            <a:ext cx="2103120" cy="41148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74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7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91440" cy="13258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53312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5331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533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Payroll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3533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19D3C5"/>
                </a:solidFill>
                <a:latin typeface="Consolas"/>
              </a:rPr>
              <a:t>P3 · 15 Sep – 15 Nov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916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83664"/>
            <a:ext cx="20116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Payroll Lead · 2 eng + external auditor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883664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Egyptian statutory payroll · SIA + ETA filing · payslip generation · bank transfer files · variable pay · parallel run x3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24328"/>
            <a:ext cx="749807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24328"/>
            <a:ext cx="91440" cy="13258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788920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7889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7889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Benefits &amp; Expenses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7889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19D3C5"/>
                </a:solidFill>
                <a:latin typeface="Consolas"/>
              </a:rPr>
              <a:t>P3 · 15 Oct – 15 Nov '26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272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19272"/>
            <a:ext cx="20116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Payroll Lead + HR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127248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319272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Benefit enrolment · plan library · expense claims · reimbursement workflow · receipt capture (mobile)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59935"/>
            <a:ext cx="7498079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059935"/>
            <a:ext cx="91440" cy="13258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224527"/>
            <a:ext cx="640080" cy="292608"/>
          </a:xfrm>
          <a:prstGeom prst="roundRect">
            <a:avLst>
              <a:gd name="adj" fmla="val 3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24527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224527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Contractors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224527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19D3C5"/>
                </a:solidFill>
                <a:latin typeface="Consolas"/>
              </a:rPr>
              <a:t>P2 (Phase 2, 2027)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62855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OWNER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754879"/>
            <a:ext cx="20116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B1437"/>
                </a:solidFill>
                <a:latin typeface="Calibri"/>
              </a:rPr>
              <a:t>Deferred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562855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6B7A99"/>
                </a:solidFill>
                <a:latin typeface="Calibri"/>
              </a:rPr>
              <a:t>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54879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Contracts · timesheets · invoices · misclassification controls — NOT in Phase 1 scope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1188720"/>
            <a:ext cx="354787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1188720"/>
            <a:ext cx="3547872" cy="7315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59" y="137160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19D3C5"/>
                </a:solidFill>
                <a:latin typeface="Calibri"/>
              </a:rPr>
              <a:t>INTEGRATIONS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59" y="169164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SIA API (statutory filings) · ETA e-receipts · banking file formats (CIB, NBE, QNB) · mobile OCR for receipts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2926080"/>
            <a:ext cx="3547872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9" y="2926080"/>
            <a:ext cx="354787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59" y="310896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EF4444"/>
                </a:solidFill>
                <a:latin typeface="Calibri"/>
              </a:rPr>
              <a:t>RISKS TO WATCH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342900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SIA API availability uncertain · bank file format sign-off per bank · ETA schema changes · parallel run reveals legacy errors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83879" y="4663440"/>
            <a:ext cx="3547872" cy="155448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59" y="4828031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TIER KPI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59" y="5120640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Payroll accuracy ≥ 99.9% at cut-over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Cycle time per entity: 6d → 1d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 late statutory filings / 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08 · INTELLIGENCE + ACCESS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M9 Analytics + M11 Mobile — how the org sees and reaches 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632704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632704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5084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INTELLIGENCE  ·  M9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Dashboards · KPIs · workforce planning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8716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P5 · Jan – Feb '27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Delivery window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21868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Dashboards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8328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12 pre-built HR dashboards (heads, costs, attrition, attendance, diversity, comp, training, ESS, payroll, onboarding, perf, recruitment)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95020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Self-serve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Report builder — drag-drop fields, save, schedule, email distribution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68172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Workforce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Heads by unit + scenario planning (±% headcount, ±% comp) — planning cycle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41324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Predictive (stretch)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49011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Attrition risk score per employee — if we have 6+ months of historical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188720"/>
            <a:ext cx="5632704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188720"/>
            <a:ext cx="563270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298448"/>
            <a:ext cx="5084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ACCESS  ·  M11 MOBILE + M13 BILLING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874519"/>
            <a:ext cx="50840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Arabic-first mobile ESS · the 60% unlock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24688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237744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P5 · Jan – Feb '27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633472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Delivery window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30815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990088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iOS + Android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246120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Native-shell + RN core · biometric unlock · push notifications · Arabic &amp; English</a:t>
            </a:r>
          </a:p>
        </p:txBody>
      </p:sp>
      <p:sp>
        <p:nvSpPr>
          <p:cNvPr id="36" name="Oval 35"/>
          <p:cNvSpPr/>
          <p:nvPr/>
        </p:nvSpPr>
        <p:spPr>
          <a:xfrm>
            <a:off x="6675120" y="369417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3602736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ESS MVP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858768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Payslips · leave balances · leave request · attendance punch · directory · profile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430682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4215384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Manager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471416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Approve / reject · team view · absence overview · comp statement</a:t>
            </a:r>
          </a:p>
        </p:txBody>
      </p:sp>
      <p:sp>
        <p:nvSpPr>
          <p:cNvPr id="42" name="Oval 41"/>
          <p:cNvSpPr/>
          <p:nvPr/>
        </p:nvSpPr>
        <p:spPr>
          <a:xfrm>
            <a:off x="6675120" y="491947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4828032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Field-worker mode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084064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Low-literacy UI · offline timesheet + expense · photo-first · voice notes (stretch)</a:t>
            </a:r>
          </a:p>
        </p:txBody>
      </p:sp>
      <p:sp>
        <p:nvSpPr>
          <p:cNvPr id="45" name="Oval 44"/>
          <p:cNvSpPr/>
          <p:nvPr/>
        </p:nvSpPr>
        <p:spPr>
          <a:xfrm>
            <a:off x="6675120" y="553212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5440680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1437"/>
                </a:solidFill>
                <a:latin typeface="Calibri"/>
              </a:rPr>
              <a:t>M13 Billing (internal)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696712"/>
            <a:ext cx="4901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Usage tracking · subscription accounting — goes with M11 to enable internal invoicing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09 · TEAM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6 squads, tier-aligned, shared platform spine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3075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14173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364992" cy="320040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364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PLATFORM SQUAD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HRIS Lead /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M1 · M10 · shared data model · API ·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B1437"/>
                </a:solidFill>
                <a:latin typeface="Consolas"/>
              </a:rPr>
              <a:t>3 eng · 1 QA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73075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73152" cy="14173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1325880"/>
            <a:ext cx="3364992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25880"/>
            <a:ext cx="3364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TALENT SQUAD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73736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Talent &amp; Dev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93392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M2 Recruitment · M3 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59152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F6BFF"/>
                </a:solidFill>
                <a:latin typeface="Consolas"/>
              </a:rPr>
              <a:t>2 eng · 1 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373075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73152" cy="1417320"/>
          </a:xfrm>
          <a:prstGeom prst="rect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1325880"/>
            <a:ext cx="3364992" cy="320040"/>
          </a:xfrm>
          <a:prstGeom prst="roundRect">
            <a:avLst>
              <a:gd name="adj" fmla="val 35000"/>
            </a:avLst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325880"/>
            <a:ext cx="3364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GROWTH SQUAD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73736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Talent &amp; Dev Lead (shared)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993392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M4 Performance · M5 Training / 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359152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A8FFF"/>
                </a:solidFill>
                <a:latin typeface="Consolas"/>
              </a:rPr>
              <a:t>2 eng · 1 QA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43200"/>
            <a:ext cx="373075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743200"/>
            <a:ext cx="73152" cy="14173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2880360"/>
            <a:ext cx="3364992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80360"/>
            <a:ext cx="3364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PAYROLL SQUAD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29184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547872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M6 Payroll · M7 Benefits &amp; Expenses · SIA/ETA/bank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913632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9D3C5"/>
                </a:solidFill>
                <a:latin typeface="Consolas"/>
              </a:rPr>
              <a:t>3 eng · 1 QA · external auditor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2743200"/>
            <a:ext cx="373075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274320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0560" y="2880360"/>
            <a:ext cx="3364992" cy="320040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2880360"/>
            <a:ext cx="3364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INSIGHTS SQUAD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29184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Product + UX (shared)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547872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M9 Analytics · dashboards · reporting infra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913632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7C3AED"/>
                </a:solidFill>
                <a:latin typeface="Consolas"/>
              </a:rPr>
              <a:t>1 eng · 1 data eng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743200"/>
            <a:ext cx="373075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274320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21040" y="2880360"/>
            <a:ext cx="3364992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880360"/>
            <a:ext cx="3364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EXPERIENCE SQUAD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291840"/>
            <a:ext cx="3364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Product + UX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547872"/>
            <a:ext cx="3364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M11 Mobile ESS · design system · M13 Billing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913632"/>
            <a:ext cx="3364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59E0B"/>
                </a:solidFill>
                <a:latin typeface="Consolas"/>
              </a:rPr>
              <a:t>2 eng · 1 designer · 1 QA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2976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4074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SHARED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6817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Delivery + QA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8920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Sprint cadence · release train · UAT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46817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Security + Privacy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48920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RBAC · DPIA · pen-test · audit 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6817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Change + Training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8920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Comms · champions · training pathways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6817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Data + Migration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48920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Legacy extract · cleanse · load · reconcile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458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HEADCOUNT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57332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80F2E6"/>
                </a:solidFill>
                <a:latin typeface="Calibri"/>
              </a:rPr>
              <a:t>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943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13 FTE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14600" y="57332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80F2E6"/>
                </a:solidFill>
                <a:latin typeface="Calibri"/>
              </a:rPr>
              <a:t>Leads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14600" y="5943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97680" y="57332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80F2E6"/>
                </a:solidFill>
                <a:latin typeface="Calibri"/>
              </a:rPr>
              <a:t>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80" y="5943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80759" y="57332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80F2E6"/>
                </a:solidFill>
                <a:latin typeface="Calibri"/>
              </a:rPr>
              <a:t>QA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59" y="5943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57332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80F2E6"/>
                </a:solidFill>
                <a:latin typeface="Calibri"/>
              </a:rPr>
              <a:t>UX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5943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57332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50">
                <a:solidFill>
                  <a:srgbClr val="80F2E6"/>
                </a:solidFill>
                <a:latin typeface="Calibri"/>
              </a:rPr>
              <a:t>Ext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46920" y="5943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+3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10 · RACI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Who does what across the programme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80F2E6"/>
                </a:solidFill>
                <a:latin typeface="Calibri"/>
              </a:rPr>
              <a:t>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6391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11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1179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Sponsor/CEO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830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3398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PD (Sabry)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3049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5617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HRIS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269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837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Payroll Lead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7488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0056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Talent Lead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29707" y="1188720"/>
            <a:ext cx="1177355" cy="384048"/>
          </a:xfrm>
          <a:prstGeom prst="roundRect">
            <a:avLst>
              <a:gd name="adj" fmla="val 8000"/>
            </a:avLst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02275" y="1188720"/>
            <a:ext cx="12322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572768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57276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Charter &amp;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36391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19329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8611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51548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1179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830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83768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3398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33049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15987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5617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269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48206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7837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97488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80426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0056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29707" y="157276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12645" y="163677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02275" y="163677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1975104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197510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Data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36391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519329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68611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751548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1179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00830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83768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3398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33049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215987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05617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65269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448206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37837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97488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680426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70056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29707" y="197510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912645" y="203911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502275" y="203911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237744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2377440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cut-over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136391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519329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0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68611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751548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41179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00830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983768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73398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33049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215987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05617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65269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448206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37837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297488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680426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70056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529707" y="237744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12645" y="244144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02275" y="244144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2779776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2779776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Statutory filings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136391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519329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0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68611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751548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41179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600830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983768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73398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33049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215987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05617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65269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448206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37837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297488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680426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70056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529707" y="277977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912645" y="284378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02275" y="284378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57200" y="3182112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0080" y="318211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DPIA + security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136391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519329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108960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368611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4751548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341179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00830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983768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573398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833049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7215987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05617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65269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448206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37837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297488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9680426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70056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0529707" y="318211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912645" y="324612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502275" y="324612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7200" y="3584448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0080" y="358444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SSO / identity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136391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3519329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108960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368611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4751548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341179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600830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983768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573398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833049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215987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805617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065269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8448206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037837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297488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9680426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270056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0529707" y="3584448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0912645" y="3648456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502275" y="3648456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57200" y="3986784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" y="39867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Module UAT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136391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3519329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108960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368611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4751548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341179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00830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5983768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573398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833049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7215987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805617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065269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8448206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037837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297488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680426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270056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0529707" y="3986784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10912645" y="4050792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502275" y="4050792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57200" y="438912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40080" y="4389120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Training &amp; change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3136391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3519329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108960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4368611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4751548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341179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5600830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5983768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573398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833049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7215987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05617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8065269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8448206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037837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297488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9680426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270056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0529707" y="4389120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0912645" y="4453128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502275" y="4453128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57200" y="4791456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40080" y="4791456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Budget &amp; burn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3136391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3519329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108960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368611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4751548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341179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600830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5983768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5573398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6833049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7215987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805617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065269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8448206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037837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297488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ounded Rectangle 224"/>
          <p:cNvSpPr/>
          <p:nvPr/>
        </p:nvSpPr>
        <p:spPr>
          <a:xfrm>
            <a:off x="9680426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270056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0529707" y="4791456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10912645" y="4855464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502275" y="4855464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57200" y="5193792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40080" y="519379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Steerco reporting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136391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3519329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108960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4368611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4751548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341179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600830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5983768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5573398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833049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7215987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805617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8065269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8448206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037837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9297488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9680426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270056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0529707" y="5193792"/>
            <a:ext cx="1177355" cy="384048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10912645" y="5257800"/>
            <a:ext cx="411480" cy="256031"/>
          </a:xfrm>
          <a:prstGeom prst="roundRect">
            <a:avLst>
              <a:gd name="adj" fmla="val 45000"/>
            </a:avLst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0502275" y="5257800"/>
            <a:ext cx="1232219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57200" y="568756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A99"/>
                </a:solidFill>
                <a:latin typeface="Consolas"/>
              </a:rPr>
              <a:t>R = Responsible  ·  A = Accountable  ·  C = Consulted  ·  I = Informed   (standard RACI — one A per activity)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11 · WAYS OF WORKING —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Ceremonies · meetings · reporting rhythm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53312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533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3533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3533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2F6BFF"/>
                </a:solidFill>
                <a:latin typeface="Consolas"/>
              </a:rPr>
              <a:t>09:15 Cairo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91640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Squad stand-up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8424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Each squad · blockers · focus for the 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188720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188720"/>
            <a:ext cx="73152" cy="11887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1353312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3533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13533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1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135331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19D3C5"/>
                </a:solidFill>
                <a:latin typeface="Consolas"/>
              </a:rPr>
              <a:t>Mon 10:00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691640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Programme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1984248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All leads + PD · cross-squad dependencies · risks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87168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487168"/>
            <a:ext cx="73152" cy="11887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265176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WEEKLY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30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6517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19D3C5"/>
                </a:solidFill>
                <a:latin typeface="Consolas"/>
              </a:rPr>
              <a:t>Fri 17:00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990087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Exec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82696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PD → CEO + sponsors · one-pager · by Friday EOD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2487168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2487168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27648" y="2651760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BI-WEEKLY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4927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2 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26517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F59E0B"/>
                </a:solidFill>
                <a:latin typeface="Consolas"/>
              </a:rPr>
              <a:t>Alternating Thu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2990087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Sprint review + planning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282696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Demo · retro · next-sprint commitments · per squad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785615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785615"/>
            <a:ext cx="73152" cy="11887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3950207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95020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MONTHLY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395020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2 hr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395020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0B1437"/>
                </a:solidFill>
                <a:latin typeface="Consolas"/>
              </a:rPr>
              <a:t>Last Wed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288536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Steerco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581144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CEO · CFO · CHRO · CIO · decisions + escalations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3785615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3785615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27648" y="3950207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395020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MONTHLY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4927" y="395020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1 hr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9488" y="395020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7C3AED"/>
                </a:solidFill>
                <a:latin typeface="Consolas"/>
              </a:rPr>
              <a:t>Second Tue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4288536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Architecture council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4581144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HRIS Lead · Payroll Lead · CISO · cross-cutting design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084064"/>
            <a:ext cx="11265407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084064"/>
            <a:ext cx="73152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0080" y="5248655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24865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QUARTERLY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524865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A99"/>
                </a:solidFill>
                <a:latin typeface="Consolas"/>
              </a:rPr>
              <a:t>3 hr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9488" y="524865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 i="0">
                <a:solidFill>
                  <a:srgbClr val="22C55E"/>
                </a:solidFill>
                <a:latin typeface="Consolas"/>
              </a:rPr>
              <a:t>End of quarter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586983"/>
            <a:ext cx="10899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Review 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879592"/>
            <a:ext cx="10899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External HR + payroll + legal reviewers · compliance read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12 · ENVIRONMENTS &amp;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 build, test, ship — and what runs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1579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157984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914400" cy="29260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Per-squad sandboxes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Ephemeral · fast feedback · feature branches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1188720"/>
            <a:ext cx="21579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4912" y="1188720"/>
            <a:ext cx="2157984" cy="7315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53512" y="1371600"/>
            <a:ext cx="914400" cy="292608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13716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1737360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05740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Shared · cross-squad wiring · contract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1188720"/>
            <a:ext cx="21579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92624" y="1188720"/>
            <a:ext cx="215798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21224" y="1371600"/>
            <a:ext cx="914400" cy="292608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1224" y="13716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1737360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User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205740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Business verification · signed-off scripts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336" y="1188720"/>
            <a:ext cx="21579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0336" y="1188720"/>
            <a:ext cx="2157984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8936" y="1371600"/>
            <a:ext cx="914400" cy="292608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13716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PRE-PROD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1737360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Dry-run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205740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Mirror of prod · parallel payroll runs · data drills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8048" y="1188720"/>
            <a:ext cx="2157984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8048" y="1188720"/>
            <a:ext cx="2157984" cy="73152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56648" y="1371600"/>
            <a:ext cx="914400" cy="292608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137160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1737360"/>
            <a:ext cx="1700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2057400"/>
            <a:ext cx="1700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Cutover 14 Mar '27 · hypercare 30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926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STACK — PROPOSED (for tech-lead review)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291840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29184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33375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33375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Node.js + TypeScript · NestJS framework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9392" y="3291840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9392" y="329184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3983" y="33375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Frontend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0992" y="33375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React + TypeScript · Tailwind · shadcn/ui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1583" y="3291840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01583" y="329184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5" y="33375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Mobile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3184" y="33375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React Native (shared core) · native shell for biometrics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822191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822191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386791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3867911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PostgreSQL 16 · row-level RBAC · partitioning for payroll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79392" y="3822191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79392" y="3822191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43983" y="386791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Cache / queue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50992" y="3867911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Redis · BullMQ for async workflows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01583" y="3822191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01583" y="3822191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6175" y="386791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3184" y="3867911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S3-compatible (MinIO on-prem option)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52544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4352544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" y="43982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Identity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439826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Keycloak (SSO / SAML / OIDC) · MFA · SCIM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79392" y="4352544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79392" y="4352544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43983" y="43982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Observability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50992" y="439826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Grafana + Loki + Tempo · Sentry for errors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01583" y="4352544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01583" y="4352544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66175" y="43982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CI / CD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73184" y="439826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GitHub Actions · ArgoCD · preview envs per PR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882896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4882896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" y="492861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Code quality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0" y="492861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ESLint · Prettier · SonarQube · Trivy · Snyk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79392" y="4882896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79392" y="4882896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43983" y="492861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Docs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50992" y="492861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Backstage for service catalogue · ADRs in-repo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01583" y="4882896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01583" y="4882896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66175" y="492861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alibri"/>
              </a:rPr>
              <a:t>PM / issues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73184" y="492861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Jira (aligned to Phase-1 Tracker WBS)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13 · DATA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Legacy → Praxion HROS — one reconciled source of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240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3716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200">
                <a:solidFill>
                  <a:srgbClr val="0B1437"/>
                </a:solidFill>
                <a:latin typeface="Calibri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7C3AED"/>
                </a:solidFill>
                <a:latin typeface="Consolas"/>
              </a:rPr>
              <a:t>Excel · paper ·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51760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Scanning · OCR · CSV export · interview-led gap fill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188720"/>
            <a:ext cx="2240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13716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37160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0574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200">
                <a:solidFill>
                  <a:srgbClr val="0B1437"/>
                </a:solidFill>
                <a:latin typeface="Calibri"/>
              </a:rPr>
              <a:t>STANDARDISE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774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7C3AED"/>
                </a:solidFill>
                <a:latin typeface="Consolas"/>
              </a:rPr>
              <a:t>Canonical schemas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651760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Employee ID · unit · contract · pay element taxonomy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188720"/>
            <a:ext cx="2240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3716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37160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0574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200">
                <a:solidFill>
                  <a:srgbClr val="0B1437"/>
                </a:solidFill>
                <a:latin typeface="Calibri"/>
              </a:rPr>
              <a:t>CLEANSE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3774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7C3AED"/>
                </a:solidFill>
                <a:latin typeface="Consolas"/>
              </a:rPr>
              <a:t>Fix before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2651760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Dupes · missing fields · format · cross-field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1188720"/>
            <a:ext cx="2240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13716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37160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0574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200">
                <a:solidFill>
                  <a:srgbClr val="0B1437"/>
                </a:solidFill>
                <a:latin typeface="Calibri"/>
              </a:rPr>
              <a:t>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3774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7C3AED"/>
                </a:solidFill>
                <a:latin typeface="Consolas"/>
              </a:rPr>
              <a:t>Staging → Praxion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2651760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Per-module loaders · idempotent · dry-run + commit phases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1188720"/>
            <a:ext cx="22402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07040" y="13716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371600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05740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spc="200">
                <a:solidFill>
                  <a:srgbClr val="0B1437"/>
                </a:solidFill>
                <a:latin typeface="Calibri"/>
              </a:rPr>
              <a:t>RECONCILE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37744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7C3AED"/>
                </a:solidFill>
                <a:latin typeface="Consolas"/>
              </a:rPr>
              <a:t>Validate + sign-off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2651760"/>
            <a:ext cx="19110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Reconciliation reports · owner sign-off · error 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74720"/>
            <a:ext cx="112471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474720"/>
            <a:ext cx="73152" cy="1463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6118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MIGRATION REHEARSAL SCHEDULE — 3 DRY 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9319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Dry run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F6BFF"/>
                </a:solidFill>
                <a:latin typeface="Consolas"/>
              </a:rPr>
              <a:t>15 Dec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4988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Extract → load · 1 small entity · fix gaps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9319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Dry run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F6BFF"/>
                </a:solidFill>
                <a:latin typeface="Consolas"/>
              </a:rPr>
              <a:t>15 Jan 2027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4988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All entities · parallel payroll run · reconcile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9319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Dry run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224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F6BFF"/>
                </a:solidFill>
                <a:latin typeface="Consolas"/>
              </a:rPr>
              <a:t>15 Feb 2027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4988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Full rehearsal · cutover script · rollback drill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12064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230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DATA VOLUMES — ESTIMATED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80F2E6"/>
                </a:solidFill>
                <a:latin typeface="Calibri"/>
              </a:rPr>
              <a:t>Employees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7424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~50,000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44368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80F2E6"/>
                </a:solidFill>
                <a:latin typeface="Calibri"/>
              </a:rPr>
              <a:t>Pay elements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44368" y="57424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~150 per entity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7216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80F2E6"/>
                </a:solidFill>
                <a:latin typeface="Calibri"/>
              </a:rPr>
              <a:t>Historical payroll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7216" y="57424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24 months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70064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80F2E6"/>
                </a:solidFill>
                <a:latin typeface="Calibri"/>
              </a:rPr>
              <a:t>Documents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0064" y="57424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~400,000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2912" y="553212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80F2E6"/>
                </a:solidFill>
                <a:latin typeface="Calibri"/>
              </a:rPr>
              <a:t>Entities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2912" y="57424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~30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14 · INTEGRATION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External systems we connect to — with owners and deadlines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32588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325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325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Q4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645920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01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Legal + Payroll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901952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Statutory social-insurance filings (Form 2, Form 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188720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1188720"/>
            <a:ext cx="73152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3" y="1325880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325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1" y="1325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3" y="1645920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ETA e-receipts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1901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1901952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Electronic tax receipts · withholding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221992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221992"/>
            <a:ext cx="73152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" y="2359152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3591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3591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Q1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679192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Banking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93522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2935224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Salary transfer file formats (CIB, NBE, QNB, HSBC)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2221992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221992"/>
            <a:ext cx="73152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18503" y="2359152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3" y="23591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1" y="23591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onsolas"/>
              </a:rPr>
              <a:t>Q1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3" y="2679192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PDP DPIA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3" y="293522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Legal + CISO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9831" y="2935224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Data Protection Impact Assessment · Law 151/2020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255264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255264"/>
            <a:ext cx="73152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1792" y="3392424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392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33924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onsolas"/>
              </a:rPr>
              <a:t>Feb 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3712464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Pen-test vendor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39684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CISO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3968496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External security assessment before go-live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3912" y="3255264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53912" y="3255264"/>
            <a:ext cx="73152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18503" y="3392424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8503" y="3392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2951" y="33924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onsolas"/>
              </a:rPr>
              <a:t>Q3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8503" y="3712464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SSO IdP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8503" y="396849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CIO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9831" y="3968496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SAML/OIDC identity provider (Azure AD / Okta)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288536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4288536"/>
            <a:ext cx="73152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1792" y="4425696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44256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4425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Q4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4745736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Job boards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" y="50017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Talent Lead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5001768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LinkedIn · Wuzzuf · indeed API integration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53912" y="4288536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53912" y="4288536"/>
            <a:ext cx="73152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18503" y="4425696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18503" y="44256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02951" y="44256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Q4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8503" y="4745736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E-signature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18503" y="50017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Talent Lead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99831" y="5001768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DocuSign or equivalent for offers + contracts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321808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5321808"/>
            <a:ext cx="73152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1792" y="5458968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5458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6240" y="54589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Q1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5779008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SCORM content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6035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Talent Lead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03120" y="603504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LMS-standard compliance training content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53912" y="5321808"/>
            <a:ext cx="55778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53912" y="5321808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318503" y="5458968"/>
            <a:ext cx="118872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18503" y="5458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 spc="15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02951" y="54589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onsolas"/>
              </a:rPr>
              <a:t>Q1 2027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18503" y="5779008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SMS / push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18503" y="60350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A99"/>
                </a:solidFill>
                <a:latin typeface="Consolas"/>
              </a:rPr>
              <a:t>Product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99831" y="603504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Notification channels for mobile ESS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15 · WAYS OF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Definition of Ready · Definition of Done · PR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30752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30752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DEFINITION OF READY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920240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User story has acceptance criteria written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78608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Dependencies identified + green-lit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36975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45535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Designs attached (where UI involved)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895343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03903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Test cases outlined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553711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62271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Estimate agreed by squad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12079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20639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Compliance touchpoints flagged (PII, audit, statutory)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188720"/>
            <a:ext cx="3730752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1188720"/>
            <a:ext cx="3730752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29844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DEFINITION OF DONE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1920240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182880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Code merged to main · passing CI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578608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48716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Unit + integration tests green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236975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145535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Accessibility check passed (WCAG 2.1 AA)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3895343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803903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Arabic + English strings in place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4553711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462271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Observability instrumentation added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0" y="5212079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5120639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Docs updated · changelog entry · demo'd in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1188720"/>
            <a:ext cx="3730752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1188720"/>
            <a:ext cx="3730752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29844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PR STANDARDS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0" y="1920240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182880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Conventional commits · semantic PR titles</a:t>
            </a:r>
          </a:p>
        </p:txBody>
      </p:sp>
      <p:sp>
        <p:nvSpPr>
          <p:cNvPr id="42" name="Oval 41"/>
          <p:cNvSpPr/>
          <p:nvPr/>
        </p:nvSpPr>
        <p:spPr>
          <a:xfrm>
            <a:off x="8412480" y="2578608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248716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&lt; 400 LOC per PR · else break up</a:t>
            </a:r>
          </a:p>
        </p:txBody>
      </p:sp>
      <p:sp>
        <p:nvSpPr>
          <p:cNvPr id="44" name="Oval 43"/>
          <p:cNvSpPr/>
          <p:nvPr/>
        </p:nvSpPr>
        <p:spPr>
          <a:xfrm>
            <a:off x="8412480" y="3236975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145535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≥ 2 approvals · 1 from another squad for cross-cut</a:t>
            </a:r>
          </a:p>
        </p:txBody>
      </p:sp>
      <p:sp>
        <p:nvSpPr>
          <p:cNvPr id="46" name="Oval 45"/>
          <p:cNvSpPr/>
          <p:nvPr/>
        </p:nvSpPr>
        <p:spPr>
          <a:xfrm>
            <a:off x="8412480" y="3895343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3803903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All checks green before merge</a:t>
            </a:r>
          </a:p>
        </p:txBody>
      </p:sp>
      <p:sp>
        <p:nvSpPr>
          <p:cNvPr id="48" name="Oval 47"/>
          <p:cNvSpPr/>
          <p:nvPr/>
        </p:nvSpPr>
        <p:spPr>
          <a:xfrm>
            <a:off x="8412480" y="4553711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1080" y="4462271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Squashed commit on merge · auto-linked to Jira ticket</a:t>
            </a:r>
          </a:p>
        </p:txBody>
      </p:sp>
      <p:sp>
        <p:nvSpPr>
          <p:cNvPr id="50" name="Oval 49"/>
          <p:cNvSpPr/>
          <p:nvPr/>
        </p:nvSpPr>
        <p:spPr>
          <a:xfrm>
            <a:off x="8412480" y="5212079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5120639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ADR filed for architectural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16 · 30 / 60 /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The first 90 days of Phase-1 — P0 Mobilise + start of P1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30752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30752" cy="685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FIRST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15 May – 15 Jun 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80">
                <a:solidFill>
                  <a:srgbClr val="2F6BFF"/>
                </a:solidFill>
                <a:latin typeface="Calibri"/>
              </a:rPr>
              <a:t>ALIGN · TEAM · ENVIRONMENTS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5059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7744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Charter &amp; RACI signed by all leads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5351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88036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6 squads staffed · leads in seat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5643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Dev + Int environments stood 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5935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Jira project live · WBS loaded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6227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Kick-off all-hands (Cairo, onsite)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6519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9204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Vendor contracts signed (pen-test, auditor)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68112"/>
            <a:ext cx="128016" cy="12801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94959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Decision log started · ADR #1-5 filed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188720"/>
            <a:ext cx="3730752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188720"/>
            <a:ext cx="3730752" cy="6858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DAYS 31 –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15544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15 Jun – 15 Jul '26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20116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80">
                <a:solidFill>
                  <a:srgbClr val="19D3C5"/>
                </a:solidFill>
                <a:latin typeface="Calibri"/>
              </a:rPr>
              <a:t>DESIGN · DATA MODEL · DEPENDENCIES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45059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37744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Functional spec for M1, M10 signed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95351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88036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Canonical data model v1 reviewed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45643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38328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SSO IdP procurement kicked 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95935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388620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SIA API access request raised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446227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438912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Migration extract scripts drafted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96519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489204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Design system v1 live in Figma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5468112"/>
            <a:ext cx="128016" cy="12801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5394959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First customer councils (pilot entity)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1188720"/>
            <a:ext cx="3730752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1188720"/>
            <a:ext cx="37307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40">
                <a:solidFill>
                  <a:srgbClr val="FFFFFF"/>
                </a:solidFill>
                <a:latin typeface="Calibri"/>
              </a:rPr>
              <a:t>DAYS 61 – 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15544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15 Jul – 15 Aug '26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0116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80">
                <a:solidFill>
                  <a:srgbClr val="F59E0B"/>
                </a:solidFill>
                <a:latin typeface="Calibri"/>
              </a:rPr>
              <a:t>FOUNDATION BUILD STARTS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245059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41080" y="237744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M1 Core HRIS sprint 1-2 complete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295351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288036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M10 SSO + RBAC sprint 1 complete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345643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338328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First internal demo (week 8)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395935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1080" y="388620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Dry-run migration in staging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446227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438912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Compliance kick-off: DPIA scoping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496519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489204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Field-worker journey prototyped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5468112"/>
            <a:ext cx="128016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5394959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First steerco reporting cycle complete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17 · RISKS &amp; 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could derail Phase-1 — and how we're pre-empting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91440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Data migration from legacy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HIGH ·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5166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Excel + paper + WhatsApp → structured HRIS; dirty data is the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51663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2C55E"/>
                </a:solidFill>
                <a:latin typeface="Calibri"/>
              </a:rPr>
              <a:t>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2"/>
            <a:ext cx="51663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3 dry runs · staging reconciliation · owner sign-off per 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188720"/>
            <a:ext cx="55778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188720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13258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Payroll accuracy at cut-over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325880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13258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MED ·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691640"/>
            <a:ext cx="5166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Legacy calculations may have undocumented quirks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057400"/>
            <a:ext cx="51663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2C55E"/>
                </a:solidFill>
                <a:latin typeface="Calibri"/>
              </a:rPr>
              <a:t>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267712"/>
            <a:ext cx="51663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3 parallel runs · external auditor sign-off · rollback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788920"/>
            <a:ext cx="55778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88920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26079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Field-worker adoption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2926079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926079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HIGH · 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291839"/>
            <a:ext cx="5166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60% of users have no desktop, mixed literacy, Arabic-only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657600"/>
            <a:ext cx="51663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2C55E"/>
                </a:solidFill>
                <a:latin typeface="Calibri"/>
              </a:rPr>
              <a:t>MITIGATION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67911"/>
            <a:ext cx="51663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Mobile-first ESS · voice notes · champions on the ground · multilingual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2788920"/>
            <a:ext cx="55778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79" y="2788920"/>
            <a:ext cx="91440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2926079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Scope aggression vs. team size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2926079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2926079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HIGH · 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79" y="3291839"/>
            <a:ext cx="5166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6-lead programme delivering 10 modules in 11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3657600"/>
            <a:ext cx="51663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2C55E"/>
                </a:solidFill>
                <a:latin typeface="Calibri"/>
              </a:rPr>
              <a:t>MITIGATION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79" y="3867911"/>
            <a:ext cx="51663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Ruthless scope discipline · stretch items clearly marked · fortnightly reprioritisation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389120"/>
            <a:ext cx="55778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389120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5262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External API availability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4526280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5262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MED · 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892040"/>
            <a:ext cx="5166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SIA, ETA, banking: if any of these slip, payroll slips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257800"/>
            <a:ext cx="51663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2C55E"/>
                </a:solidFill>
                <a:latin typeface="Calibri"/>
              </a:rPr>
              <a:t>MITIGATION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68112"/>
            <a:ext cx="51663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Raise access requests in P0 · mock layers + adapters · escalation via Legal/Finance sponsors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79" y="4389120"/>
            <a:ext cx="557784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79" y="4389120"/>
            <a:ext cx="91440" cy="1508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79" y="452628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Key-person concentration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0" y="4526280"/>
            <a:ext cx="1325880" cy="292608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4526280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 spc="120">
                <a:solidFill>
                  <a:srgbClr val="FFFFFF"/>
                </a:solidFill>
                <a:latin typeface="Calibri"/>
              </a:rPr>
              <a:t>MED · MED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79" y="4892040"/>
            <a:ext cx="5166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Small team · illness or attrition in core squad delays gates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79" y="5257800"/>
            <a:ext cx="51663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22C55E"/>
                </a:solidFill>
                <a:latin typeface="Calibri"/>
              </a:rPr>
              <a:t>MITIGATION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79" y="5468112"/>
            <a:ext cx="51663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Cross-training plan · pair-programming · external bench agreements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18 · SUCCESS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we'll know Phase-1 worked — KPIs by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8892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Go-live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F6BFF"/>
                </a:solidFill>
                <a:latin typeface="Calibri"/>
              </a:rPr>
              <a:t>14 Mar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No slip &gt;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Scope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38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F6BFF"/>
                </a:solidFill>
                <a:latin typeface="Calibri"/>
              </a:rPr>
              <a:t>100% of Phase-1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5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All 10 modules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8678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Defect escape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F6BFF"/>
                </a:solidFill>
                <a:latin typeface="Calibri"/>
              </a:rPr>
              <a:t>&lt; 2 P1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After 30-day hypercare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188720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188720"/>
            <a:ext cx="278892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2984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MONEY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18288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084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9D3C5"/>
                </a:solidFill>
                <a:latin typeface="Calibri"/>
              </a:rPr>
              <a:t>≥ 99.9%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5786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vs. parallel-run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90779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Cycle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1638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9D3C5"/>
                </a:solidFill>
                <a:latin typeface="Calibri"/>
              </a:rPr>
              <a:t>6d → 1d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6575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Per entity, per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8678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Statutory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42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9D3C5"/>
                </a:solidFill>
                <a:latin typeface="Calibri"/>
              </a:rPr>
              <a:t>0 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736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SIA + ETA filings / month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188720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188720"/>
            <a:ext cx="27889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2984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PEOPLE 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18288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Offer → Day-1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084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59E0B"/>
                </a:solidFill>
                <a:latin typeface="Calibri"/>
              </a:rPr>
              <a:t>15d → 7d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786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Onboarding time-to-ready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90779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1638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59E0B"/>
                </a:solidFill>
                <a:latin typeface="Calibri"/>
              </a:rPr>
              <a:t>≥ 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Core-role completion pre-GL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8678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Manager adoption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42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59E0B"/>
                </a:solidFill>
                <a:latin typeface="Calibri"/>
              </a:rPr>
              <a:t>≥ 75%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36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Requests via system, not email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1188720"/>
            <a:ext cx="278892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8280" y="1188720"/>
            <a:ext cx="27889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12984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FFFF"/>
                </a:solidFill>
                <a:latin typeface="Calibri"/>
              </a:rPr>
              <a:t>ACCESS TIER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18288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ESS activation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08483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C3AED"/>
                </a:solidFill>
                <a:latin typeface="Calibri"/>
              </a:rPr>
              <a:t>≥ 85%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5786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Within 90d post-go-live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90779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Arabic usage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1638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C3AED"/>
                </a:solidFill>
                <a:latin typeface="Calibri"/>
              </a:rPr>
              <a:t>≥ 40%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6575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Of mobile sessions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98678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Uptime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24281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C3AED"/>
                </a:solidFill>
                <a:latin typeface="Calibri"/>
              </a:rPr>
              <a:t>99.9%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73659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Excluding planned maintenance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989320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A99"/>
                </a:solidFill>
                <a:latin typeface="Consolas"/>
              </a:rPr>
              <a:t>Full KPI register with monthly targets lives in /Roadmap/Praxion-Phase1-Tracker.xlsx · updated each steerco cycle.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 ·  Phase-1 Mobilization  ·  PRX-MOB-P1-001 v1.0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64592" cy="3108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911546" y="731520"/>
            <a:ext cx="0" cy="457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515600" y="1188720"/>
            <a:ext cx="395946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0119653" y="1188720"/>
            <a:ext cx="395947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119653" y="731520"/>
            <a:ext cx="0" cy="457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119653" y="502920"/>
            <a:ext cx="395947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0" y="502920"/>
            <a:ext cx="395946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460736" y="90525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0515600" y="731520"/>
            <a:ext cx="395946" cy="2286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829250" y="649224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515600" y="960120"/>
            <a:ext cx="0" cy="4572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437876" y="1339596"/>
            <a:ext cx="155448" cy="1554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0119653" y="731520"/>
            <a:ext cx="395947" cy="2286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055645" y="667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0515600" y="502920"/>
            <a:ext cx="0" cy="4572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460736" y="448056"/>
            <a:ext cx="109728" cy="109728"/>
          </a:xfrm>
          <a:prstGeom prst="ellipse">
            <a:avLst/>
          </a:prstGeom>
          <a:solidFill>
            <a:srgbClr val="A6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80F2E6"/>
                </a:solidFill>
                <a:latin typeface="Calibri"/>
              </a:rPr>
              <a:t>20  ·  DECISION &amp;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09728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Let's align, then mobilise.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17520"/>
            <a:ext cx="54864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154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WHAT WE'RE ASKING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437"/>
                </a:solidFill>
                <a:latin typeface="Calibri"/>
              </a:rPr>
              <a:t>From Head of Technicals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4041648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97763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Endorse tech stack &amp; environments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5195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Or flag deltas before kick-off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4498848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4348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Confirm squad model + leads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70915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6 squads · tier-aligned · shared services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4956048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48920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Green-light P0 Mobilise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16635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Charter · RACI · vendors · 15 May kick-off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" y="5413248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53492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Sign off data + integration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62355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3 dry runs · SIA/ETA/bank early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017520"/>
            <a:ext cx="50292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154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WHAT HAPPENS 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B1437"/>
                </a:solidFill>
                <a:latin typeface="Calibri"/>
              </a:rPr>
              <a:t>Next 14 days</a:t>
            </a:r>
          </a:p>
        </p:txBody>
      </p:sp>
      <p:sp>
        <p:nvSpPr>
          <p:cNvPr id="40" name="Oval 39"/>
          <p:cNvSpPr/>
          <p:nvPr/>
        </p:nvSpPr>
        <p:spPr>
          <a:xfrm>
            <a:off x="6629400" y="404164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397763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This week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25195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Tech-lead session · capture deltas · finalise stack</a:t>
            </a:r>
          </a:p>
        </p:txBody>
      </p:sp>
      <p:sp>
        <p:nvSpPr>
          <p:cNvPr id="43" name="Oval 42"/>
          <p:cNvSpPr/>
          <p:nvPr/>
        </p:nvSpPr>
        <p:spPr>
          <a:xfrm>
            <a:off x="6629400" y="449884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44348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Week of 22 Apr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70915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Board sign-off meeting · endorse Phase-1 plan</a:t>
            </a:r>
          </a:p>
        </p:txBody>
      </p:sp>
      <p:sp>
        <p:nvSpPr>
          <p:cNvPr id="46" name="Oval 45"/>
          <p:cNvSpPr/>
          <p:nvPr/>
        </p:nvSpPr>
        <p:spPr>
          <a:xfrm>
            <a:off x="6629400" y="495604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8920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Week of 29 Apr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16635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Hiring + vendor contracts finalised</a:t>
            </a:r>
          </a:p>
        </p:txBody>
      </p:sp>
      <p:sp>
        <p:nvSpPr>
          <p:cNvPr id="49" name="Oval 48"/>
          <p:cNvSpPr/>
          <p:nvPr/>
        </p:nvSpPr>
        <p:spPr>
          <a:xfrm>
            <a:off x="6629400" y="541324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03720" y="534924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15 May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5623559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Phase-1 kick-off · all-hands Cairo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PRX-MOB-P1-001  ·  v1.0  ·  Owner: Project Director — Praxion HROS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