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64592" cy="28346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548640"/>
            <a:ext cx="320040" cy="320040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75720" y="640080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0" y="914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xi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242744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1031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80F2E6"/>
                </a:solidFill>
                <a:latin typeface="Calibri"/>
              </a:rPr>
              <a:t>EXECUTIVE ROADMAP  ·  BOARD REVIEW  ·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From discovery to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go-live in 11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FEDE9"/>
                </a:solidFill>
                <a:latin typeface="Calibri"/>
              </a:rPr>
              <a:t>13 modules  ·  11 phase gates  ·  Target production launch 14 March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KICK-OFF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15 Apr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GO-LIVE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14 Mar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STABILISATION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Through Jun '27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6692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PORTAL 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897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30 Sep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PRX-ROAD-001  ·  v2.0  ·  Internal — Restricted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01 ·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Five functional tiers — 13 modules regrouped by operating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28016" cy="8686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80">
                <a:solidFill>
                  <a:srgbClr val="0B1437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Identity · records · platform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89888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1568" y="1499616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499616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389888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Core HRIS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7528" y="1389888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77256" y="1499616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6" y="1499616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M10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1389888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System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39696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39696"/>
            <a:ext cx="128016" cy="8686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24942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80">
                <a:solidFill>
                  <a:srgbClr val="2F6BFF"/>
                </a:solidFill>
                <a:latin typeface="Calibri"/>
              </a:rP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59689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Hire · onboard · develop · retain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2340864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01568" y="2450592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450592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340864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Recruitment / 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7528" y="2340864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77256" y="2450592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77256" y="2450592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alibri"/>
              </a:rPr>
              <a:t>M3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8" y="2340864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43216" y="2340864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52944" y="2450592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2450592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alibri"/>
              </a:rPr>
              <a:t>M4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2340864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18904" y="2340864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28632" y="2450592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8632" y="2450592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alibri"/>
              </a:rP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8984" y="2340864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Training / LMS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090672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090672"/>
            <a:ext cx="128016" cy="8686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80">
                <a:solidFill>
                  <a:srgbClr val="19D3C5"/>
                </a:solidFill>
                <a:latin typeface="Calibri"/>
              </a:rPr>
              <a:t>MONEY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354787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Pay · benefits · contractors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3291840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01568" y="3401568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1568" y="3401568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alibri"/>
              </a:rPr>
              <a:t>M6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3291840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Payroll &amp; Comp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67528" y="3291840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77256" y="3401568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77256" y="3401568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alibri"/>
              </a:rPr>
              <a:t>M7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7608" y="3291840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Benefits &amp; Expenses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43216" y="3291840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52944" y="3401568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401568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alibri"/>
              </a:rPr>
              <a:t>M8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3296" y="3291840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Contractor Mgmt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041648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041648"/>
            <a:ext cx="128016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15137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80">
                <a:solidFill>
                  <a:srgbClr val="7C3AED"/>
                </a:solidFill>
                <a:latin typeface="Calibri"/>
              </a:rPr>
              <a:t>INTELLIGENCE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9884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Analytics · reporting · insight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0" y="4242816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401568" y="4352544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01568" y="4352544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7C3AED"/>
                </a:solidFill>
                <a:latin typeface="Calibri"/>
              </a:rPr>
              <a:t>M9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1920" y="4242816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Analytics &amp; Reports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992624"/>
            <a:ext cx="112745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4992624"/>
            <a:ext cx="128016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510235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180">
                <a:solidFill>
                  <a:srgbClr val="F59E0B"/>
                </a:solidFill>
                <a:latin typeface="Calibri"/>
              </a:rPr>
              <a:t>ACCESS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44982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How users reach the platform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291840" y="5193792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401568" y="5303520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01568" y="5303520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M11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0" y="5193792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Mobile ESS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367528" y="5193792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477256" y="5303520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77256" y="5303520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M12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07608" y="5193792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Client Portal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43216" y="5193792"/>
            <a:ext cx="1965960" cy="46634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552944" y="5303520"/>
            <a:ext cx="45720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5303520"/>
            <a:ext cx="457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M13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83296" y="5193792"/>
            <a:ext cx="123443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Billing &amp; Invoicing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Tiers reflect how the platform operates day-to-day — not the order we build them. Build sequencing is on the next slide.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Executive Roadmap · PRX-ROAD-001 v2.0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02 · PROGRAMME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11 phase gates from mobilisation to scaled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All user stories written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73152" cy="10058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PHASE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Each with exit criteria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23444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11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KICK-OFF → GO-LIVE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15 Apr '26 → 14 Mar '27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234440"/>
            <a:ext cx="73152" cy="1005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34416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Q3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82880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CLIENT PORTAL 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0299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3 external clients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688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PHASE GATES  ·  TIER-1 DELIVERABLE  ·  TARGET 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59"/>
            <a:ext cx="11274552" cy="36576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951" y="3931919"/>
            <a:ext cx="219456" cy="219456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Mobilise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15 Apr '26</a:t>
            </a:r>
          </a:p>
        </p:txBody>
      </p:sp>
      <p:sp>
        <p:nvSpPr>
          <p:cNvPr id="33" name="Oval 32"/>
          <p:cNvSpPr/>
          <p:nvPr/>
        </p:nvSpPr>
        <p:spPr>
          <a:xfrm>
            <a:off x="1884910" y="3931919"/>
            <a:ext cx="219456" cy="219456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82159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E2A5E"/>
                </a:solidFill>
                <a:latin typeface="Calibri"/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0447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Discover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2159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15 Jun '26</a:t>
            </a:r>
          </a:p>
        </p:txBody>
      </p:sp>
      <p:sp>
        <p:nvSpPr>
          <p:cNvPr id="37" name="Oval 36"/>
          <p:cNvSpPr/>
          <p:nvPr/>
        </p:nvSpPr>
        <p:spPr>
          <a:xfrm>
            <a:off x="2909870" y="3931919"/>
            <a:ext cx="219456" cy="21945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07118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F6BFF"/>
                </a:solidFill>
                <a:latin typeface="Calibri"/>
              </a:rP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5406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Foundations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7118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15 Aug '26</a:t>
            </a:r>
          </a:p>
        </p:txBody>
      </p:sp>
      <p:sp>
        <p:nvSpPr>
          <p:cNvPr id="41" name="Oval 40"/>
          <p:cNvSpPr/>
          <p:nvPr/>
        </p:nvSpPr>
        <p:spPr>
          <a:xfrm>
            <a:off x="3879965" y="3877055"/>
            <a:ext cx="329184" cy="32918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2077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F6BFF"/>
                </a:solidFill>
                <a:latin typeface="Calibri"/>
              </a:rPr>
              <a:t>P3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0365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Core build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2077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30 Nov '26</a:t>
            </a:r>
          </a:p>
        </p:txBody>
      </p:sp>
      <p:sp>
        <p:nvSpPr>
          <p:cNvPr id="45" name="Oval 44"/>
          <p:cNvSpPr/>
          <p:nvPr/>
        </p:nvSpPr>
        <p:spPr>
          <a:xfrm>
            <a:off x="4959788" y="3931919"/>
            <a:ext cx="219456" cy="21945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7037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9D3C5"/>
                </a:solidFill>
                <a:latin typeface="Calibri"/>
              </a:rPr>
              <a:t>P4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5325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Module build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7037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31 Jan '27</a:t>
            </a:r>
          </a:p>
        </p:txBody>
      </p:sp>
      <p:sp>
        <p:nvSpPr>
          <p:cNvPr id="49" name="Oval 48"/>
          <p:cNvSpPr/>
          <p:nvPr/>
        </p:nvSpPr>
        <p:spPr>
          <a:xfrm>
            <a:off x="5984748" y="393191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81996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P5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00284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Harden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81996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15 Feb '27</a:t>
            </a:r>
          </a:p>
        </p:txBody>
      </p:sp>
      <p:sp>
        <p:nvSpPr>
          <p:cNvPr id="53" name="Oval 52"/>
          <p:cNvSpPr/>
          <p:nvPr/>
        </p:nvSpPr>
        <p:spPr>
          <a:xfrm>
            <a:off x="7009707" y="393191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6955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P6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5243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UAT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6955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07 Mar '27</a:t>
            </a:r>
          </a:p>
        </p:txBody>
      </p:sp>
      <p:sp>
        <p:nvSpPr>
          <p:cNvPr id="57" name="Oval 56"/>
          <p:cNvSpPr/>
          <p:nvPr/>
        </p:nvSpPr>
        <p:spPr>
          <a:xfrm>
            <a:off x="7979802" y="3877055"/>
            <a:ext cx="329184" cy="3291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1914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P7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50202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GO-LIVE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1914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14 Mar '27</a:t>
            </a:r>
          </a:p>
        </p:txBody>
      </p:sp>
      <p:sp>
        <p:nvSpPr>
          <p:cNvPr id="61" name="Oval 60"/>
          <p:cNvSpPr/>
          <p:nvPr/>
        </p:nvSpPr>
        <p:spPr>
          <a:xfrm>
            <a:off x="9059625" y="3931919"/>
            <a:ext cx="219456" cy="21945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56874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2C55E"/>
                </a:solidFill>
                <a:latin typeface="Calibri"/>
              </a:rPr>
              <a:t>P8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75162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Hypercare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56874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14 Apr '27</a:t>
            </a:r>
          </a:p>
        </p:txBody>
      </p:sp>
      <p:sp>
        <p:nvSpPr>
          <p:cNvPr id="65" name="Oval 64"/>
          <p:cNvSpPr/>
          <p:nvPr/>
        </p:nvSpPr>
        <p:spPr>
          <a:xfrm>
            <a:off x="10084585" y="3931919"/>
            <a:ext cx="219456" cy="21945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81833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9D3C5"/>
                </a:solidFill>
                <a:latin typeface="Calibri"/>
              </a:rPr>
              <a:t>P9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00121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Optimise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81833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30 Jun '27</a:t>
            </a:r>
          </a:p>
        </p:txBody>
      </p:sp>
      <p:sp>
        <p:nvSpPr>
          <p:cNvPr id="69" name="Oval 68"/>
          <p:cNvSpPr/>
          <p:nvPr/>
        </p:nvSpPr>
        <p:spPr>
          <a:xfrm>
            <a:off x="11054680" y="3877055"/>
            <a:ext cx="329184" cy="32918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06792" y="2971800"/>
            <a:ext cx="102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F6BFF"/>
                </a:solidFill>
                <a:latin typeface="Calibri"/>
              </a:rPr>
              <a:t>P10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25080" y="3218688"/>
            <a:ext cx="988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Scale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06792" y="4434840"/>
            <a:ext cx="1024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30 Sep '27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TIER-1 DELIVERABLES BY PHASE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376672"/>
            <a:ext cx="64008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39495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P0–P1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34440" y="5394959"/>
            <a:ext cx="2880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Charter · Functional spec · Data model · NFRs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06240" y="5376672"/>
            <a:ext cx="64008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6240" y="539495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P2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83479" y="5394959"/>
            <a:ext cx="2880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Identity · API gateway · CI/CD · Observability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55279" y="5376672"/>
            <a:ext cx="64008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55279" y="5394959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P3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19" y="5394959"/>
            <a:ext cx="2880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Core HRIS · Payroll · Onboarding · ESS web + mobile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5971032"/>
            <a:ext cx="64008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989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P4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34440" y="5989320"/>
            <a:ext cx="2880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ATS · Performance · LMS · Benefits · Contractor · Analytics v1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06240" y="5971032"/>
            <a:ext cx="64008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0" y="5989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P5–P6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3479" y="5989320"/>
            <a:ext cx="2880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Pen-test · DR drill · UAT · 3× migration rehearsal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55279" y="5971032"/>
            <a:ext cx="64008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955279" y="5989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P8–P10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32519" y="5989320"/>
            <a:ext cx="28803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Hypercare · Perf tuning · Analytics v2 · Client Portal GA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Executive Roadmap · PRX-ROAD-001 v2.0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03 · MODULE SWIM 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13 modules · grouped by tier · sequenced across 7 quarters</a:t>
            </a:r>
          </a:p>
        </p:txBody>
      </p:sp>
      <p:sp>
        <p:nvSpPr>
          <p:cNvPr id="7" name="Oval 6"/>
          <p:cNvSpPr/>
          <p:nvPr/>
        </p:nvSpPr>
        <p:spPr>
          <a:xfrm>
            <a:off x="8961120" y="393192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62288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Build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393192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85248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0" y="393192"/>
            <a:ext cx="164592" cy="16459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8208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Enhance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0" y="39319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31168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Future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051560"/>
            <a:ext cx="8211312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051560"/>
            <a:ext cx="2606040" cy="36576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143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0F2E6"/>
                </a:solidFill>
                <a:latin typeface="Calibri"/>
              </a:rPr>
              <a:t>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Q2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6284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Q3 '26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6284" y="1417319"/>
            <a:ext cx="0" cy="3922777"/>
          </a:xfrm>
          <a:prstGeom prst="line">
            <a:avLst/>
          </a:prstGeom>
          <a:ln w="9525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09329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Q4 '26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09329" y="1417319"/>
            <a:ext cx="0" cy="3922777"/>
          </a:xfrm>
          <a:prstGeom prst="line">
            <a:avLst/>
          </a:prstGeom>
          <a:ln w="9525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2373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Q1 '27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2373" y="1417319"/>
            <a:ext cx="0" cy="3922777"/>
          </a:xfrm>
          <a:prstGeom prst="line">
            <a:avLst/>
          </a:prstGeom>
          <a:ln w="9525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55418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Q2 '27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55418" y="1417319"/>
            <a:ext cx="0" cy="3922777"/>
          </a:xfrm>
          <a:prstGeom prst="line">
            <a:avLst/>
          </a:prstGeom>
          <a:ln w="9525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28462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Q3 '27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28462" y="1417319"/>
            <a:ext cx="0" cy="3922777"/>
          </a:xfrm>
          <a:prstGeom prst="line">
            <a:avLst/>
          </a:prstGeom>
          <a:ln w="9525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101507" y="1143000"/>
            <a:ext cx="11730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Q4 '27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01507" y="1417319"/>
            <a:ext cx="0" cy="3922777"/>
          </a:xfrm>
          <a:prstGeom prst="line">
            <a:avLst/>
          </a:prstGeom>
          <a:ln w="9525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2373" y="1417319"/>
            <a:ext cx="0" cy="3922777"/>
          </a:xfrm>
          <a:prstGeom prst="line">
            <a:avLst/>
          </a:prstGeom>
          <a:ln w="19050">
            <a:solidFill>
              <a:srgbClr val="B4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79461" y="1417319"/>
            <a:ext cx="0" cy="4014217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85101" y="749807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101" y="749807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00">
                <a:solidFill>
                  <a:srgbClr val="FFFFFF"/>
                </a:solidFill>
                <a:latin typeface="Calibri"/>
              </a:rPr>
              <a:t>GO-LIVE 14 Mar '27</a:t>
            </a:r>
          </a:p>
        </p:txBody>
      </p:sp>
      <p:sp>
        <p:nvSpPr>
          <p:cNvPr id="35" name="Isosceles Triangle 34"/>
          <p:cNvSpPr/>
          <p:nvPr/>
        </p:nvSpPr>
        <p:spPr>
          <a:xfrm rot="10800000">
            <a:off x="7506309" y="996695"/>
            <a:ext cx="146304" cy="109728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1417319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1719072"/>
            <a:ext cx="10817352" cy="3017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2020824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322576"/>
            <a:ext cx="10817352" cy="3017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2624328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2926080"/>
            <a:ext cx="10817352" cy="3017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227832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529584"/>
            <a:ext cx="10817352" cy="3017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831335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133087"/>
            <a:ext cx="10817352" cy="3017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434840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736592"/>
            <a:ext cx="10817352" cy="3017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038344"/>
            <a:ext cx="1081735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57200" y="1417319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" y="1719072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7200" y="2020824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57200" y="2322576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57200" y="2624328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200" y="2926080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3227832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" y="3529584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" y="3831335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7200" y="4133087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7200" y="4434840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7200" y="4736592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" y="5038344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7200" y="5340096"/>
            <a:ext cx="10817352" cy="0"/>
          </a:xfrm>
          <a:prstGeom prst="line">
            <a:avLst/>
          </a:prstGeom>
          <a:ln w="635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57200" y="1444751"/>
            <a:ext cx="54864" cy="246888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85216" y="1481328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" y="1481328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" y="1463039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Core HRIS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05502" y="1490472"/>
            <a:ext cx="2463393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168896" y="1490472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iamond 68"/>
          <p:cNvSpPr/>
          <p:nvPr/>
        </p:nvSpPr>
        <p:spPr>
          <a:xfrm>
            <a:off x="7244268" y="1467611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520809" y="1490472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1746504"/>
            <a:ext cx="54864" cy="246888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85216" y="1783080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6" y="1783080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136" y="1764792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System Admin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70893" y="1792224"/>
            <a:ext cx="1524957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995851" y="1792224"/>
            <a:ext cx="586522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iamond 76"/>
          <p:cNvSpPr/>
          <p:nvPr/>
        </p:nvSpPr>
        <p:spPr>
          <a:xfrm>
            <a:off x="6188528" y="1769363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582373" y="1792224"/>
            <a:ext cx="4692178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200" y="2048255"/>
            <a:ext cx="54864" cy="24688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85216" y="2084831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5216" y="2084831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136" y="2066543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Recruitment / ATS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95851" y="2093976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168896" y="2093976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7244268" y="2071116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520809" y="2093976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7200" y="2350008"/>
            <a:ext cx="54864" cy="24688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5216" y="2386584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" y="2386584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8136" y="2368296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Onboarding / Offboard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174720" y="2395728"/>
            <a:ext cx="1994175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168896" y="2395728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iamond 92"/>
          <p:cNvSpPr/>
          <p:nvPr/>
        </p:nvSpPr>
        <p:spPr>
          <a:xfrm>
            <a:off x="7244268" y="2372868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520809" y="2395728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57200" y="2651760"/>
            <a:ext cx="54864" cy="24688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85216" y="2688336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5216" y="2688336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8136" y="2670048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Performance / KPIs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995851" y="2697480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168896" y="2697480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iamond 100"/>
          <p:cNvSpPr/>
          <p:nvPr/>
        </p:nvSpPr>
        <p:spPr>
          <a:xfrm>
            <a:off x="7244268" y="2674620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520809" y="2697480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57200" y="2953512"/>
            <a:ext cx="54864" cy="24688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85216" y="2990088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5216" y="2990088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8136" y="2971800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Training / LMS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995851" y="2999232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168896" y="2999232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iamond 108"/>
          <p:cNvSpPr/>
          <p:nvPr/>
        </p:nvSpPr>
        <p:spPr>
          <a:xfrm>
            <a:off x="7244268" y="2976372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520809" y="2999232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3255263"/>
            <a:ext cx="54864" cy="24688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85216" y="3291839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5216" y="3291839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88136" y="3273551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Payroll &amp; Comp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705502" y="3300984"/>
            <a:ext cx="2463393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7168896" y="3300984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iamond 116"/>
          <p:cNvSpPr/>
          <p:nvPr/>
        </p:nvSpPr>
        <p:spPr>
          <a:xfrm>
            <a:off x="7244268" y="3278124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520809" y="3300984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57200" y="3557015"/>
            <a:ext cx="54864" cy="24688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585216" y="3593591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85216" y="3593591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8136" y="3575303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Benefits &amp; Expenses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95851" y="3602736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168896" y="3602736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iamond 124"/>
          <p:cNvSpPr/>
          <p:nvPr/>
        </p:nvSpPr>
        <p:spPr>
          <a:xfrm>
            <a:off x="7244268" y="3579876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520809" y="3602736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57200" y="3858768"/>
            <a:ext cx="54864" cy="24688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85216" y="3895344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85216" y="3895344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6" y="3877055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Contractor Mgmt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95851" y="3904487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168896" y="3904487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iamond 132"/>
          <p:cNvSpPr/>
          <p:nvPr/>
        </p:nvSpPr>
        <p:spPr>
          <a:xfrm>
            <a:off x="7244268" y="3881627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520809" y="3904487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57200" y="4160520"/>
            <a:ext cx="54864" cy="246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585216" y="4197096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85216" y="4197096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8136" y="4178807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Analytics &amp; Reports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995851" y="4206240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168896" y="4206240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Diamond 140"/>
          <p:cNvSpPr/>
          <p:nvPr/>
        </p:nvSpPr>
        <p:spPr>
          <a:xfrm>
            <a:off x="7244268" y="4183379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520809" y="4206240"/>
            <a:ext cx="2580698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0101507" y="4206240"/>
            <a:ext cx="1173044" cy="155448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57200" y="4462272"/>
            <a:ext cx="54864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585216" y="4498848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85216" y="4498848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88136" y="4480559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Mobile App (ESS)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409329" y="4507992"/>
            <a:ext cx="1759566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168896" y="4507992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Diamond 149"/>
          <p:cNvSpPr/>
          <p:nvPr/>
        </p:nvSpPr>
        <p:spPr>
          <a:xfrm>
            <a:off x="7244268" y="4485131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520809" y="4507992"/>
            <a:ext cx="3753742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57200" y="4764024"/>
            <a:ext cx="54864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585216" y="4800600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85216" y="4800600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88136" y="4782312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Client Portal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693853" y="4809744"/>
            <a:ext cx="821131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9514985" y="4809744"/>
            <a:ext cx="351913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Diamond 157"/>
          <p:cNvSpPr/>
          <p:nvPr/>
        </p:nvSpPr>
        <p:spPr>
          <a:xfrm>
            <a:off x="9590357" y="4786883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866898" y="4809744"/>
            <a:ext cx="1407653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57200" y="5065776"/>
            <a:ext cx="54864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585216" y="5102352"/>
            <a:ext cx="411480" cy="173736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85216" y="5102352"/>
            <a:ext cx="4114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M13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88136" y="5084064"/>
            <a:ext cx="1472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Billing &amp; Invoicing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107331" y="5111496"/>
            <a:ext cx="821131" cy="15544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8928462" y="5111496"/>
            <a:ext cx="586522" cy="155448"/>
          </a:xfrm>
          <a:prstGeom prst="roundRect">
            <a:avLst>
              <a:gd name="adj" fmla="val 3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Diamond 165"/>
          <p:cNvSpPr/>
          <p:nvPr/>
        </p:nvSpPr>
        <p:spPr>
          <a:xfrm>
            <a:off x="9121140" y="5088636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9514985" y="5111496"/>
            <a:ext cx="1759566" cy="15544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5522976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Grouped by functional tier: Foundation (M1/M10) · People (M2–M5) · Money (M6–M8) · Intelligence (M9) · Access (M11–M13). Post go-live enhancement runs continuous across all lanes.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Executive Roadmap · PRX-ROAD-001 v2.0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04 · PRODUCT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the platform will do for users — by time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075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Apr 2026 – Mar 2027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3055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Employee system of record + org chart + JML 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Monthly Egyptian payroll + statutory reports + payslips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7647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ATS: requisitions → offer · Onboarding journeys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9943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Performance / OKRs · Learning catalogue · Benefits &amp; expenses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2239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3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Pre-built HR dashboards · ESS web +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234440"/>
            <a:ext cx="3657600" cy="5486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3075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527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Apr 2027 – Dec 2027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213055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Client Portal GA · multi-tenant client onboarding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95351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834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Multi-country payroll (GCC) · variable pay · comp-review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77647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6576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Self-serve report builder · scheduled distribution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459943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4480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Continuous check-ins · calibration · competency frameworks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542239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5303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Offline mobile for timesheets / expenses · biometric unlock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123444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3075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527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2028 and beyond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13055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201168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AI-assisted org design · predictive attrition · skills graph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2953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2834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 screening &amp; ranking · video-interview analytics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77647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36576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Talent marketplace · succession planning · equity / LTI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459943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4805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Natural-language analytics · benchmarking datasets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54223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5303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Agentic HR chatbot · life-event journeys · voice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3550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12 product pillars  ·  55+ capabilities in NOW  ·  Pillar detail: PRX-ROAD-001 Sheet 3 (Product)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Executive Roadmap · PRX-ROAD-001 v2.0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05 · WHAT COULD MOVE THE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Top programme risks &amp; external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07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80F2E6"/>
                </a:solidFill>
                <a:latin typeface="Calibri"/>
              </a:rPr>
              <a:t>PROGRAMME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FEDE9"/>
                </a:solidFill>
                <a:latin typeface="Consolas"/>
              </a:rPr>
              <a:t>LIKELIHOOD ·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54864" cy="59435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65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Scope aggression vs. team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128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6 people delivering 13 modules in 11 months — velocity assumption must 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148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167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48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67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" y="269748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78892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Data migration from legacy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900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Excel + paper + WhatsApp → structured HRIS; 3 rehearsals scheduled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9443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9443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56616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520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Payroll accuracy at cut-over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76732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2–3 parallel-run cycles vs. legacy before statutory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3703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703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" y="425196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4340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Change management /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5445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Field workers with no desktop; multilingual ESS + roadshow + training paths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4988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44988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12064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Key-person concentration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3218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Small team — illness or attrition in Core/Payroll squad delays P3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5257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46320" y="5257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234440"/>
            <a:ext cx="5394960" cy="50292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1307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80F2E6"/>
                </a:solidFill>
                <a:latin typeface="Calibri"/>
              </a:rPr>
              <a:t>EXTERNAL DEPENDENCIES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13075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FEDE9"/>
                </a:solidFill>
                <a:latin typeface="Consolas"/>
              </a:rPr>
              <a:t>OWNER · NEEDED BY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201168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1965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Social Insurance Authority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22128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Required for Payroll statutory filings (Form 2 / Form 6)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201168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LEGAL · PAYROLL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258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18504" y="269748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19088" y="278892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65392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Egyptian Tax Authority filing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29900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e-receipt &amp; withholding tax integration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27889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3035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19088" y="356616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65392" y="3520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Banking disbursement files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37673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Partner bank(s) file-format sign-off for salary transfer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356616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8130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Q1 2027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18504" y="425196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19088" y="434340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65392" y="4297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PDP Law 151/2020 DPIA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45445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Data Protection Impact Assessment approval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434340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LEGAL · CISO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4590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Q1 2027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9088" y="512064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5074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External pen-test vendor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5321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Pre-go-live security assessment + remediation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51206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CISO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5367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Feb 2027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Executive Roadmap · PRX-ROAD-001 v2.0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64592" cy="32918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06 · DECISION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We're asking the board to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endorse this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WE'RE ASKING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3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Approvals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4206240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Endorse 11-month delivery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389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Phase gates P0–P7, go-live 14 March 2027 fixed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864607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773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Ring-fence team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474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Core squad of 6 + domain squads protected through P8 hypercare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522975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4315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Approve external dependencies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05855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Legal/Finance to secure API access with SIA, ETA, and banks by Q4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HAPPENS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2043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Next 60 days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206240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P0 Mobilise  ·  Apr –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389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Charter, RACI, governance approved by steerco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864607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7731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P1 Discover kick-off  ·  15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04748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Functional spec + data model + NFRs in progress</a:t>
            </a:r>
          </a:p>
        </p:txBody>
      </p:sp>
      <p:sp>
        <p:nvSpPr>
          <p:cNvPr id="28" name="Oval 27"/>
          <p:cNvSpPr/>
          <p:nvPr/>
        </p:nvSpPr>
        <p:spPr>
          <a:xfrm>
            <a:off x="6766560" y="5522975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4315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Monthly steerco + weekly exec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705855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Standard template; first update 30 Apr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PRX-ROAD-001  ·  v2.0  ·  Owner: Project Director — Praxion HROS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