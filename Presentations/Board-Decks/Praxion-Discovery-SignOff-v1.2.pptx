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64592" cy="31089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1591221" y="617220"/>
            <a:ext cx="0" cy="502919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1155680" y="1120139"/>
            <a:ext cx="435541" cy="25146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10720138" y="1120139"/>
            <a:ext cx="435542" cy="25146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20138" y="617219"/>
            <a:ext cx="0" cy="50292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20138" y="365759"/>
            <a:ext cx="435542" cy="25146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155680" y="365759"/>
            <a:ext cx="435541" cy="25146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100815" y="81381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1155680" y="617220"/>
            <a:ext cx="435541" cy="25146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508925" y="534924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1155680" y="868680"/>
            <a:ext cx="0" cy="50292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077955" y="1293876"/>
            <a:ext cx="155448" cy="155448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10720138" y="617219"/>
            <a:ext cx="435542" cy="251461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656130" y="553211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1155680" y="365759"/>
            <a:ext cx="0" cy="502921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100815" y="310895"/>
            <a:ext cx="109728" cy="109728"/>
          </a:xfrm>
          <a:prstGeom prst="ellipse">
            <a:avLst/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858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Praxion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9202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80F2E6"/>
                </a:solidFill>
                <a:latin typeface="Calibri"/>
              </a:rPr>
              <a:t>DISCOVERY PHASE SIGN-OFF  ·  BOARD REVIEW  ·  APRIL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Discovery complete.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Ready to build.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DE9"/>
                </a:solidFill>
                <a:latin typeface="Calibri"/>
              </a:rPr>
              <a:t>6 weeks  ·  13 modules scoped  ·  22 BRDs  ·  55+ capabilities defined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STARTED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 Mar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6692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897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Endorse + mobilise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PRX-DISC-SO-001  ·  v1.2  ·  Internal —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01 ·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we did, what we found, what we're asking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3075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30752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9304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WHERE WE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39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Design Praxion HROS — 13-module HR platform for Egyptian mid-market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39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6 weeks, Mar 3 → Apr 21, 2026 · core team of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Mandate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Confirm scope, validate requirements, surface risks, recommend Phase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188720"/>
            <a:ext cx="373075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188720"/>
            <a:ext cx="3730752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289304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WHAT WE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874519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Scope is viable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148839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All 13 modules documented · 22 BRDs signed-off · 55+ Phase-1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0175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Priorities are 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291839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5 modules drive Phase 1 — Core HRIS, Payroll, Onboarding, ESS,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1605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Risks are known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434840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Team velocity, data migration, payroll cut-over · all with mitigations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1188720"/>
            <a:ext cx="373075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4" y="1188720"/>
            <a:ext cx="37307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1289304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WHAT WE'RE ASKING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1874519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Endorse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784" y="2148839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Accept BRDs, user stories, workflows and roadmap as the Phase-1 basis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30175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Green-light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3291839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Phase-1 kick-off 15 May 2026 · go-live 14 Mar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41605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Unlock dependencies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4434840"/>
            <a:ext cx="3182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Legal/Finance alignment on SIA, ETA, banking + DPIA by Q4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3" y="5760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5806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modules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52344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6936" y="5760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8183" y="5806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BRDs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65775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7" y="5760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55+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71615" y="5806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79208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5760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5806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stories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92640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57232" y="5760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5806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months to go-live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02 ·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Why Praxion HROS — and why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344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80F2E6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Egyptian mid-market HR runs on fragmented tools, Excel, paper and WhatsApp. Compliance is manual, payroll is fragile, employee experience is desktop-only. There is no integrated HR platform designed around local statutory, language and field-worker realities.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373075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730752" cy="914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280160" cy="320040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1437"/>
                </a:solidFill>
                <a:latin typeface="Calibri"/>
              </a:rPr>
              <a:t>Growth headroom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Clients growing from hundreds to thousands of employees · multi-entity · multi-site · field-heavy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697480"/>
            <a:ext cx="373075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2697480"/>
            <a:ext cx="37307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45152" y="3017520"/>
            <a:ext cx="1280160" cy="320040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017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5204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1437"/>
                </a:solidFill>
                <a:latin typeface="Calibri"/>
              </a:rPr>
              <a:t>Tightening regulation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977639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PDP Law 151/2020 · ETA e-receipts · SIA statutory filings · auditable by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2697480"/>
            <a:ext cx="373075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4464" y="2697480"/>
            <a:ext cx="3730752" cy="914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58784" y="3017520"/>
            <a:ext cx="1280160" cy="320040"/>
          </a:xfrm>
          <a:prstGeom prst="roundRect">
            <a:avLst>
              <a:gd name="adj" fmla="val 4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3017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35204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1437"/>
                </a:solidFill>
                <a:latin typeface="Calibri"/>
              </a:rPr>
              <a:t>Mobile, multilingual, inclusive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3977639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Field workers with no desktop · Arabic/English · accessible self-service from day 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49240"/>
            <a:ext cx="11247120" cy="960120"/>
          </a:xfrm>
          <a:prstGeom prst="roundRect">
            <a:avLst>
              <a:gd name="adj" fmla="val 10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OUR 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0B1437"/>
                </a:solidFill>
                <a:latin typeface="Calibri"/>
              </a:rPr>
              <a:t>A single HR operating system that is statutory-correct, mobile-first and built for how Egyptian organisations actually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03 · DISCOVERY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 ran the six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1600200"/>
            <a:ext cx="640080" cy="640080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onsolas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Charter, mandate, scope guardrails, stakeholder map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2715768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600200"/>
            <a:ext cx="640080" cy="6400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1600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3774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2743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onsolas"/>
              </a:rPr>
              <a:t>Week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15468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Interviews, shadowing, document + legacy review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5056632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38928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61888" y="1600200"/>
            <a:ext cx="640080" cy="640080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1600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3774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2743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onsolas"/>
              </a:rPr>
              <a:t>Week 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15468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Co-design sessions per module · pain points · process maps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7397496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9792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02752" y="16002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1600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23774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2743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onsolas"/>
              </a:rPr>
              <a:t>Week 4–5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315468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22 BRDs · 55+ user stories · acceptance criteria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9738359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20656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43616" y="160020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0656" y="1600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23774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7816" y="2743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2C55E"/>
                </a:solidFill>
                <a:latin typeface="Consolas"/>
              </a:rPr>
              <a:t>Week 6–7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9256" y="315468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Reviewer sign-off · brand + roadmap · board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DISCOVERY METRICS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846320"/>
            <a:ext cx="73152" cy="10972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9834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53212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Stakeholder interviews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0" y="4846320"/>
            <a:ext cx="73152" cy="10972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1800" y="49834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553212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Co-design workshops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4846320"/>
            <a:ext cx="73152" cy="10972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49834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553212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BRDs signed by reviewers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0" y="48463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49834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160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553212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Requirement decisions logged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01200" y="4846320"/>
            <a:ext cx="73152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9800" y="49834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553212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Artefact types produced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17220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All artefacts stored in /Praxion-HROS/ with dual-location mirrors under /Modules/M1–M13/.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04 · STAKEHOLDERS &amp;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Who we spoke to — and who'll deliver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40680" cy="3931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4068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930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STAKEHOLDERS CONSULTED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2893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</a:rPr>
              <a:t>32 PEOPLE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011679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Executive sponsors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48839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CEO, COO, CHRO · 4 people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HR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HR Director, HR Ops, Payroll, Benefits · 7 people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8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Line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2900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Regional &amp; functional managers from pilot entities · 9 people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93192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9476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Field &amp; frontline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6908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Site supervisors, contractor leads, multilingual reps · 6 people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57200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Finance · Legal ·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CFO, Legal Counsel, CIO/CISO · 6 people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188720"/>
            <a:ext cx="5440680" cy="3931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188720"/>
            <a:ext cx="544068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28930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80F2E6"/>
                </a:solidFill>
                <a:latin typeface="Calibri"/>
              </a:rPr>
              <a:t>CORE PROGRAMME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2893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0F2E6"/>
                </a:solidFill>
                <a:latin typeface="Consolas"/>
              </a:rPr>
              <a:t>6 FTE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1993391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87451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Project Director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14883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Sabry M. · accountable end-to-end · board interface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251917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4003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HRIS Lead / Architect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7462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Functional + data model ownership · M1, M3, M10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0" y="304495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292608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Payroll Lead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2004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Statutory, M6 · SIA / ETA / bank integrations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357073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45186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Talent &amp; Dev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2618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M2, M4, M5 · ATS, performance, learning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409651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97764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Product +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25196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M11 Mobile + cross-module design system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462229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450342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Delivery + QA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77774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Sprint cadence, release train, UAT coordination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30352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4223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80F2E6"/>
                </a:solidFill>
                <a:latin typeface="Calibri"/>
              </a:rPr>
              <a:t>GOVERNANCE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715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Steerco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710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EDE9"/>
                </a:solidFill>
                <a:latin typeface="Calibri"/>
              </a:rPr>
              <a:t>Monthly · CEO, CFO, CHRO, CIO · decisions + escalations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715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Working groups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9710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EDE9"/>
                </a:solidFill>
                <a:latin typeface="Calibri"/>
              </a:rPr>
              <a:t>Weekly per module · functional owners + leads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715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Review 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9710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EDE9"/>
                </a:solidFill>
                <a:latin typeface="Calibri"/>
              </a:rPr>
              <a:t>Quarterly · external HR + payroll reviewers +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05 · CURRENT-STATE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discovery revealed about the AS-IS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9144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FRAGMENTED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7+ disconnected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Excel HRIS, paper personnel files, local payroll tool, WhatsApp leave requests, shared inboxes for expenses, a separate attendance biometric, legacy ATS spreadsheets — no single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8872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9144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41732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1732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MANUAL PROCESSES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High effort · low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Monthly payroll takes ~6 days per entity. Onboarding spans 3+ teams with no tracking. Leave approvals routed by WhatsApp and email screenshot — hard to audit, easy to lose.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9144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COMPLIANCE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Audit-reactive, not audit-ready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SIA/ETA filings built ad-hoc each period. PDP Law 151/2020 DPIA has not been run. No central audit log for HR/payroll decisions. Contractor misclassification risk flagged by Legal.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1188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611880"/>
            <a:ext cx="91440" cy="2286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384048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FIELD WORKER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3434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~60% of people are excluded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8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Field, construction and retail staff have no desktop, limited connectivity, mixed literacy, and often operate in Arabic-only. Existing HR tools are desktop + English — they don't reach the majority of the workforce.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1247120" cy="457200"/>
          </a:xfrm>
          <a:prstGeom prst="roundRect">
            <a:avLst>
              <a:gd name="adj" fmla="val 1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0F2E6"/>
                </a:solidFill>
                <a:latin typeface="Calibri"/>
              </a:rPr>
              <a:t>"We are not short of effort — we are short of a system. Every month we rebuild the same payroll by hand."  — HR Director interview, Mar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06 · FUTURE-STATE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One Praxion HROS — four design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14300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80F2E6"/>
                </a:solidFill>
                <a:latin typeface="Calibri"/>
              </a:rPr>
              <a:t>THE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An integrated HR operating system where the system of record, workflows, payroll, talent and analytics share one data model — accessible to every employee on mobile, in their language, with compliance built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761488" cy="914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2F6BFF"/>
                </a:solidFill>
                <a:latin typeface="Calibri"/>
              </a:rPr>
              <a:t>SINGLE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One 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23957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Employee, org, contract, time, pay all live in one schema · every module reads and writes it · one audit trail.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606040"/>
            <a:ext cx="2761488" cy="914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83464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19D3C5"/>
                </a:solidFill>
                <a:latin typeface="Calibri"/>
              </a:rPr>
              <a:t>SELF-SERVICE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08960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Employee is the 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611880"/>
            <a:ext cx="23957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Requests, approvals, updates, docs, learning, goals — employees and managers act directly on mobile or web.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276148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F59E0B"/>
                </a:solidFill>
                <a:latin typeface="Calibri"/>
              </a:rPr>
              <a:t>AUTOMATION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08960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Workflows, not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11880"/>
            <a:ext cx="23957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JML, payroll run, onboarding journey, expenses — codified workflows with SLAs, escalations, and auditable outcomes.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2606040"/>
            <a:ext cx="2761488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83464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22C55E"/>
                </a:solidFill>
                <a:latin typeface="Calibri"/>
              </a:rPr>
              <a:t>COMPLIANCE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3108960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Statutory + privacy 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611880"/>
            <a:ext cx="23957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Egyptian payroll, SIA/ETA, PDP Law 151/2020, banking files, audit log — shipped in the platform, not bolted 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CHANGES FOR THE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Payroll 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6 days → 1 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Onboarding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623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Fragmented → single 10-day journey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Field adoption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623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~0% → Day-1 Arabic mobile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Audit-readiness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623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Reactive → real-time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07 · DISCOVERY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What six weeks of discovery produced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MODULES SCOPED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M1–M13 with functional 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73152" cy="10058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BRDs WRITTEN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Business Requirements, signed reviewers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23444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55+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Defined for Phase 1 NOW pillar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234440"/>
            <a:ext cx="73152" cy="10058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STORIES WRITTEN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All user stories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688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DISCOVERY ACTIVITIES  ·  MARCH → APRIL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59"/>
            <a:ext cx="11274552" cy="36576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2797" y="3931919"/>
            <a:ext cx="219456" cy="219456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971800"/>
            <a:ext cx="1610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W1-2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218688"/>
            <a:ext cx="1574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Kick-off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161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03 Mar '26</a:t>
            </a:r>
          </a:p>
        </p:txBody>
      </p:sp>
      <p:sp>
        <p:nvSpPr>
          <p:cNvPr id="33" name="Oval 32"/>
          <p:cNvSpPr/>
          <p:nvPr/>
        </p:nvSpPr>
        <p:spPr>
          <a:xfrm>
            <a:off x="2763447" y="3931919"/>
            <a:ext cx="219456" cy="219456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67850" y="2971800"/>
            <a:ext cx="1610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1E2A5E"/>
                </a:solidFill>
                <a:latin typeface="Calibri"/>
              </a:rPr>
              <a:t>W2-3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6138" y="3218688"/>
            <a:ext cx="1574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7850" y="4434840"/>
            <a:ext cx="161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10 Mar '26</a:t>
            </a:r>
          </a:p>
        </p:txBody>
      </p:sp>
      <p:sp>
        <p:nvSpPr>
          <p:cNvPr id="37" name="Oval 36"/>
          <p:cNvSpPr/>
          <p:nvPr/>
        </p:nvSpPr>
        <p:spPr>
          <a:xfrm>
            <a:off x="4319233" y="3877055"/>
            <a:ext cx="329184" cy="32918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78500" y="2971800"/>
            <a:ext cx="1610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2F6BFF"/>
                </a:solidFill>
                <a:latin typeface="Calibri"/>
              </a:rPr>
              <a:t>W3-4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6788" y="3218688"/>
            <a:ext cx="1574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Workshops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78500" y="4434840"/>
            <a:ext cx="161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17 Mar '26</a:t>
            </a:r>
          </a:p>
        </p:txBody>
      </p:sp>
      <p:sp>
        <p:nvSpPr>
          <p:cNvPr id="41" name="Oval 40"/>
          <p:cNvSpPr/>
          <p:nvPr/>
        </p:nvSpPr>
        <p:spPr>
          <a:xfrm>
            <a:off x="5929884" y="3877055"/>
            <a:ext cx="329184" cy="32918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89150" y="2971800"/>
            <a:ext cx="1610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19D3C5"/>
                </a:solidFill>
                <a:latin typeface="Calibri"/>
              </a:rPr>
              <a:t>W4-5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7438" y="3218688"/>
            <a:ext cx="1574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BRDs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9150" y="4434840"/>
            <a:ext cx="161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24 Mar '26</a:t>
            </a:r>
          </a:p>
        </p:txBody>
      </p:sp>
      <p:sp>
        <p:nvSpPr>
          <p:cNvPr id="45" name="Oval 44"/>
          <p:cNvSpPr/>
          <p:nvPr/>
        </p:nvSpPr>
        <p:spPr>
          <a:xfrm>
            <a:off x="7540534" y="3877055"/>
            <a:ext cx="329184" cy="32918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99801" y="2971800"/>
            <a:ext cx="1610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19D3C5"/>
                </a:solidFill>
                <a:latin typeface="Calibri"/>
              </a:rPr>
              <a:t>W5-6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8089" y="3218688"/>
            <a:ext cx="1574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User stories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9801" y="4434840"/>
            <a:ext cx="161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02 Apr '26</a:t>
            </a:r>
          </a:p>
        </p:txBody>
      </p:sp>
      <p:sp>
        <p:nvSpPr>
          <p:cNvPr id="49" name="Oval 48"/>
          <p:cNvSpPr/>
          <p:nvPr/>
        </p:nvSpPr>
        <p:spPr>
          <a:xfrm>
            <a:off x="9206048" y="3931919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10451" y="2971800"/>
            <a:ext cx="1610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F59E0B"/>
                </a:solidFill>
                <a:latin typeface="Calibri"/>
              </a:rPr>
              <a:t>W6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8739" y="3218688"/>
            <a:ext cx="1574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Artefacts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10451" y="4434840"/>
            <a:ext cx="161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10 Apr '26</a:t>
            </a:r>
          </a:p>
        </p:txBody>
      </p:sp>
      <p:sp>
        <p:nvSpPr>
          <p:cNvPr id="53" name="Oval 52"/>
          <p:cNvSpPr/>
          <p:nvPr/>
        </p:nvSpPr>
        <p:spPr>
          <a:xfrm>
            <a:off x="10761834" y="3877055"/>
            <a:ext cx="329184" cy="3291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1101" y="2971800"/>
            <a:ext cx="16106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22C55E"/>
                </a:solidFill>
                <a:latin typeface="Calibri"/>
              </a:rPr>
              <a:t>W7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9389" y="3218688"/>
            <a:ext cx="1574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Sign-off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21101" y="4434840"/>
            <a:ext cx="161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21 Apr '26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ARTEFACTS PRODUCED  ·  ALL IN /PRAXION-HROS/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37667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394959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BRDS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54480" y="5394959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22 BRD docs · M1–M13 (some with v2–v4)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06240" y="537667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0" y="5394959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USER STORIES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5394959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All M1 stories + Recruitment, Onboarding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55279" y="537667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79" y="5394959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ORG CHART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59" y="5394959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Stakeholder map · RACI seeds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97103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59893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WORKFLOWS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54480" y="5989320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Process maps · journey references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06240" y="597103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6240" y="59893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BRAND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0" y="5989320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Guidelines v2.0 · logos · presentation style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955279" y="597103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79" y="59893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ROADMAP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59" y="5989320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11 phase gates · go-live 14 Mar 2027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08 · SCOPE 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All 13 modules documented, grouped by function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393192"/>
            <a:ext cx="146304" cy="146304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200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7269480" y="393192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200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People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39319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3200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Money</a:t>
            </a:r>
          </a:p>
        </p:txBody>
      </p:sp>
      <p:sp>
        <p:nvSpPr>
          <p:cNvPr id="13" name="Oval 12"/>
          <p:cNvSpPr/>
          <p:nvPr/>
        </p:nvSpPr>
        <p:spPr>
          <a:xfrm>
            <a:off x="9555480" y="393192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59" y="3200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Intelligence</a:t>
            </a:r>
          </a:p>
        </p:txBody>
      </p:sp>
      <p:sp>
        <p:nvSpPr>
          <p:cNvPr id="15" name="Oval 14"/>
          <p:cNvSpPr/>
          <p:nvPr/>
        </p:nvSpPr>
        <p:spPr>
          <a:xfrm>
            <a:off x="10698480" y="39319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59" y="3200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23444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234440"/>
            <a:ext cx="91440" cy="9601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1417320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139903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Core HRIS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173736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Employee system of record · JML workflows</a:t>
            </a:r>
          </a:p>
        </p:txBody>
      </p:sp>
      <p:sp>
        <p:nvSpPr>
          <p:cNvPr id="23" name="Oval 22"/>
          <p:cNvSpPr/>
          <p:nvPr/>
        </p:nvSpPr>
        <p:spPr>
          <a:xfrm>
            <a:off x="3794759" y="1417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59" y="14173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23444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1234440"/>
            <a:ext cx="91440" cy="9601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1417320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417320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139903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System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173736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Identity · RBAC · audit log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1417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14173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23444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1234440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58200" y="1417320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417320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139903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Recruitment / 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73736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Requisitions → offer · talent pool</a:t>
            </a:r>
          </a:p>
        </p:txBody>
      </p:sp>
      <p:sp>
        <p:nvSpPr>
          <p:cNvPr id="39" name="Oval 38"/>
          <p:cNvSpPr/>
          <p:nvPr/>
        </p:nvSpPr>
        <p:spPr>
          <a:xfrm>
            <a:off x="11567160" y="1417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67160" y="14173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2313432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2313432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5800" y="2496312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49631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247802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Onboarding / 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2816352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Day-1 journeys · offboarding checklists</a:t>
            </a:r>
          </a:p>
        </p:txBody>
      </p:sp>
      <p:sp>
        <p:nvSpPr>
          <p:cNvPr id="47" name="Oval 46"/>
          <p:cNvSpPr/>
          <p:nvPr/>
        </p:nvSpPr>
        <p:spPr>
          <a:xfrm>
            <a:off x="3794759" y="2496312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59" y="249631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2313432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2313432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0" y="2496312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49631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247802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Performance / KPIs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2816352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Goals · check-ins · reviews</a:t>
            </a:r>
          </a:p>
        </p:txBody>
      </p:sp>
      <p:sp>
        <p:nvSpPr>
          <p:cNvPr id="55" name="Oval 54"/>
          <p:cNvSpPr/>
          <p:nvPr/>
        </p:nvSpPr>
        <p:spPr>
          <a:xfrm>
            <a:off x="7680960" y="2496312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249631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2313432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2313432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458200" y="2496312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249631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247802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Training / LMS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2816352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Catalogue · enrollments · completions</a:t>
            </a:r>
          </a:p>
        </p:txBody>
      </p:sp>
      <p:sp>
        <p:nvSpPr>
          <p:cNvPr id="63" name="Oval 62"/>
          <p:cNvSpPr/>
          <p:nvPr/>
        </p:nvSpPr>
        <p:spPr>
          <a:xfrm>
            <a:off x="11567160" y="2496312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567160" y="249631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3392424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3392424"/>
            <a:ext cx="91440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85800" y="3575304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575304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71600" y="3557016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Payroll &amp; Comp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71600" y="3895344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Egyptian statutory payroll · payslips</a:t>
            </a:r>
          </a:p>
        </p:txBody>
      </p:sp>
      <p:sp>
        <p:nvSpPr>
          <p:cNvPr id="71" name="Oval 70"/>
          <p:cNvSpPr/>
          <p:nvPr/>
        </p:nvSpPr>
        <p:spPr>
          <a:xfrm>
            <a:off x="3794759" y="357530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94759" y="35753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43400" y="3392424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43400" y="3392424"/>
            <a:ext cx="91440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572000" y="3575304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0" y="3575304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57800" y="3557016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Benefits &amp; Expenses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57800" y="3895344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Entitlements · claims · reimbursement</a:t>
            </a:r>
          </a:p>
        </p:txBody>
      </p:sp>
      <p:sp>
        <p:nvSpPr>
          <p:cNvPr id="79" name="Oval 78"/>
          <p:cNvSpPr/>
          <p:nvPr/>
        </p:nvSpPr>
        <p:spPr>
          <a:xfrm>
            <a:off x="7680960" y="357530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80960" y="35753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9600" y="3392424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229600" y="3392424"/>
            <a:ext cx="91440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458200" y="3575304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58200" y="3575304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3557016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Contractor Mgmt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0" y="3895344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Non-employee workforce · SOW · billing</a:t>
            </a:r>
          </a:p>
        </p:txBody>
      </p:sp>
      <p:sp>
        <p:nvSpPr>
          <p:cNvPr id="87" name="Oval 86"/>
          <p:cNvSpPr/>
          <p:nvPr/>
        </p:nvSpPr>
        <p:spPr>
          <a:xfrm>
            <a:off x="11567160" y="357530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567160" y="35753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" y="4471416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7200" y="4471416"/>
            <a:ext cx="9144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85800" y="4654296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4654296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46360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Analytics &amp; Reports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71600" y="4974336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Pre-built dashboards · export</a:t>
            </a:r>
          </a:p>
        </p:txBody>
      </p:sp>
      <p:sp>
        <p:nvSpPr>
          <p:cNvPr id="95" name="Oval 94"/>
          <p:cNvSpPr/>
          <p:nvPr/>
        </p:nvSpPr>
        <p:spPr>
          <a:xfrm>
            <a:off x="3794759" y="4654296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94759" y="46542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43400" y="4471416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43400" y="4471416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572000" y="4654296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0" y="4654296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57800" y="46360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Mobile App (ESS)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57800" y="4974336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Self-service on iOS + Android</a:t>
            </a:r>
          </a:p>
        </p:txBody>
      </p:sp>
      <p:sp>
        <p:nvSpPr>
          <p:cNvPr id="103" name="Oval 102"/>
          <p:cNvSpPr/>
          <p:nvPr/>
        </p:nvSpPr>
        <p:spPr>
          <a:xfrm>
            <a:off x="7680960" y="4654296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680960" y="46542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229600" y="4471416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229600" y="4471416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458200" y="4654296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58200" y="4654296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0" y="46360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Client Portal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4974336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Multi-tenant client onboarding (Phase 2)</a:t>
            </a:r>
          </a:p>
        </p:txBody>
      </p:sp>
      <p:sp>
        <p:nvSpPr>
          <p:cNvPr id="111" name="Oval 110"/>
          <p:cNvSpPr/>
          <p:nvPr/>
        </p:nvSpPr>
        <p:spPr>
          <a:xfrm>
            <a:off x="11567160" y="4654296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567160" y="46542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57200" y="5550408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57200" y="5550408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85800" y="5733288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5800" y="57332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71600" y="57150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Billing &amp; Invoicing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71600" y="605332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Revenue contracts · invoice generation</a:t>
            </a:r>
          </a:p>
        </p:txBody>
      </p:sp>
      <p:sp>
        <p:nvSpPr>
          <p:cNvPr id="119" name="Oval 118"/>
          <p:cNvSpPr/>
          <p:nvPr/>
        </p:nvSpPr>
        <p:spPr>
          <a:xfrm>
            <a:off x="3794759" y="573328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94759" y="573328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09 · PHASE 1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Phase 1 will deliver — by time horizon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075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Apr 2026 – Mar 2027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3055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Employee system of record + org chart + JML workflows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Monthly Egyptian payroll + statutory reports + payslips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7647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ATS: requisitions → offer · Onboarding journeys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59943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Performance / OKRs · Learning catalogue · Benefits &amp; expenses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2239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3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Pre-built HR dashboards · ESS web +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234440"/>
            <a:ext cx="3657600" cy="5486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3075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527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Apr 2027 – Dec 2027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213055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Client Portal GA · multi-tenant client onboarding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95351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834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Multi-country payroll (GCC) · variable pay · comp-review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377647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6576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Self-serve report builder · scheduled distribution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459943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44805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Continuous check-ins · calibration · competency frameworks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542239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5303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Offline mobile for timesheets / expenses · biometric unlock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1234440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3075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527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2028 and beyond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13055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AI-assisted org design · predictive attrition · skills graph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2953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2834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 screening &amp; ranking · video-interview analytics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77647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36576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Talent marketplace · succession planning · equity / LTI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459943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4805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Natural-language analytics · benchmarking datasets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542239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5303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Agentic HR chatbot · life-event journeys · voice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636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12 product pillars  ·  55+ capabilities in NOW  ·  Full backlog: /Modules/M1–M13/User-Stories/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10 · PHASE 1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11 months · eight gates · go-live 14 Mar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74552" cy="54864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835" y="3063239"/>
            <a:ext cx="384048" cy="384048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835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Mobilise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1437"/>
                </a:solidFill>
                <a:latin typeface="Consolas"/>
              </a:rPr>
              <a:t>15 Apr – 15 May '26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Charter, RACI, squads</a:t>
            </a:r>
          </a:p>
        </p:txBody>
      </p:sp>
      <p:sp>
        <p:nvSpPr>
          <p:cNvPr id="13" name="Oval 12"/>
          <p:cNvSpPr/>
          <p:nvPr/>
        </p:nvSpPr>
        <p:spPr>
          <a:xfrm>
            <a:off x="2379154" y="3063239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9154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6519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6519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F6BFF"/>
                </a:solidFill>
                <a:latin typeface="Consolas"/>
              </a:rPr>
              <a:t>15 May – 15 Jun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6519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Functional spec + NFRs</a:t>
            </a:r>
          </a:p>
        </p:txBody>
      </p:sp>
      <p:sp>
        <p:nvSpPr>
          <p:cNvPr id="18" name="Oval 17"/>
          <p:cNvSpPr/>
          <p:nvPr/>
        </p:nvSpPr>
        <p:spPr>
          <a:xfrm>
            <a:off x="3788473" y="3063239"/>
            <a:ext cx="384048" cy="384048"/>
          </a:xfrm>
          <a:prstGeom prst="ellipse">
            <a:avLst/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8473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5838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5838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5A8FFF"/>
                </a:solidFill>
                <a:latin typeface="Consolas"/>
              </a:rPr>
              <a:t>Jun – Aug '26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838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Data model · UX flows</a:t>
            </a:r>
          </a:p>
        </p:txBody>
      </p:sp>
      <p:sp>
        <p:nvSpPr>
          <p:cNvPr id="23" name="Oval 22"/>
          <p:cNvSpPr/>
          <p:nvPr/>
        </p:nvSpPr>
        <p:spPr>
          <a:xfrm>
            <a:off x="5197792" y="3063239"/>
            <a:ext cx="384048" cy="384048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7792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5157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5157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9D3C5"/>
                </a:solidFill>
                <a:latin typeface="Consolas"/>
              </a:rPr>
              <a:t>Aug '26 – Jan '27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5157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Core HRIS · Payroll · Admin</a:t>
            </a:r>
          </a:p>
        </p:txBody>
      </p:sp>
      <p:sp>
        <p:nvSpPr>
          <p:cNvPr id="28" name="Oval 27"/>
          <p:cNvSpPr/>
          <p:nvPr/>
        </p:nvSpPr>
        <p:spPr>
          <a:xfrm>
            <a:off x="6607111" y="3063239"/>
            <a:ext cx="384048" cy="384048"/>
          </a:xfrm>
          <a:prstGeom prst="ellipse">
            <a:avLst/>
          </a:prstGeom>
          <a:solidFill>
            <a:srgbClr val="80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7111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4476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Integrate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476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0F2E6"/>
                </a:solidFill>
                <a:latin typeface="Consolas"/>
              </a:rPr>
              <a:t>Oct '26 – Feb '27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6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SIA · ETA · Banking · SSO</a:t>
            </a:r>
          </a:p>
        </p:txBody>
      </p:sp>
      <p:sp>
        <p:nvSpPr>
          <p:cNvPr id="33" name="Oval 32"/>
          <p:cNvSpPr/>
          <p:nvPr/>
        </p:nvSpPr>
        <p:spPr>
          <a:xfrm>
            <a:off x="8016430" y="3063239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6430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3794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UAT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3794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59E0B"/>
                </a:solidFill>
                <a:latin typeface="Consolas"/>
              </a:rPr>
              <a:t>Jan – Feb '27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3794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Payroll parallel run · user testing</a:t>
            </a:r>
          </a:p>
        </p:txBody>
      </p:sp>
      <p:sp>
        <p:nvSpPr>
          <p:cNvPr id="38" name="Oval 37"/>
          <p:cNvSpPr/>
          <p:nvPr/>
        </p:nvSpPr>
        <p:spPr>
          <a:xfrm>
            <a:off x="9425749" y="3063239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25749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3113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Stabilise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3113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BBF24"/>
                </a:solidFill>
                <a:latin typeface="Consolas"/>
              </a:rPr>
              <a:t>Feb – Mar '27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3113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Performance · security · fixes</a:t>
            </a:r>
          </a:p>
        </p:txBody>
      </p:sp>
      <p:sp>
        <p:nvSpPr>
          <p:cNvPr id="43" name="Oval 42"/>
          <p:cNvSpPr/>
          <p:nvPr/>
        </p:nvSpPr>
        <p:spPr>
          <a:xfrm>
            <a:off x="10835068" y="3063239"/>
            <a:ext cx="384048" cy="38404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35068" y="30632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2432" y="1463040"/>
            <a:ext cx="1409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Go-live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2432" y="1764792"/>
            <a:ext cx="1409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2C55E"/>
                </a:solidFill>
                <a:latin typeface="Consolas"/>
              </a:rPr>
              <a:t>14 Mar 2027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2432" y="3703320"/>
            <a:ext cx="14093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Cut-over · hypercare · comms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027092" y="2651760"/>
            <a:ext cx="0" cy="457200"/>
          </a:xfrm>
          <a:prstGeom prst="line">
            <a:avLst/>
          </a:prstGeom>
          <a:ln w="279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45720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PARALLEL WORKSTREAMS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463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Functional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4892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Squad-led build across M1, M3, M6, M10, M11 + shared M2/M4/M5/M7 backlog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3400" y="48463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3400" y="4846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4892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Data model · migration rehearsals (3) · historical pay + PII · cut-over dry-runs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48463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4846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5480" y="4892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SIA API · ETA e-receipts · banking file formats · SSO (OIDC/SAML) · directory sync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5321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5321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3080" y="55778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RBAC · audit log · PDP Law DPIA · pen-test + remediation before UAT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43400" y="55321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55321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55778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Comms cadence · multilingual training · champions network · ESS mobile roll-out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11 · SUCCESS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we'll measure Phase 1 — KPIs and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61488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On time, on scope, 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Go-live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39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6BFF"/>
                </a:solidFill>
                <a:latin typeface="Calibri"/>
              </a:rPr>
              <a:t>14 Mar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7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No slip &gt; 2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Scope 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47872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6BFF"/>
                </a:solidFill>
                <a:latin typeface="Calibri"/>
              </a:rPr>
              <a:t>100% of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All 12 NOW pillars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4398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Defect escape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18304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6BFF"/>
                </a:solidFill>
                <a:latin typeface="Calibri"/>
              </a:rPr>
              <a:t>&lt; 2 P1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0235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After 30-day hypercare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1188720"/>
            <a:ext cx="2761488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ADOPTION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People actually use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10312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ESS mobile activation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D3C5"/>
                </a:solidFill>
                <a:latin typeface="Calibri"/>
              </a:rPr>
              <a:t>≥ 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761487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Within 90 days post-go-live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2735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Manager self-service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547872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D3C5"/>
                </a:solidFill>
                <a:latin typeface="Calibri"/>
              </a:rPr>
              <a:t>≥ 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931920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Of requests via system, not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44398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Training completion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718304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D3C5"/>
                </a:solidFill>
                <a:latin typeface="Calibri"/>
              </a:rPr>
              <a:t>≥ 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10235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For core workflows, pre-go-live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188720"/>
            <a:ext cx="2761488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7373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Numbers we stake our name 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10312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Payroll 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377439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≥ 99.9%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761487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vs. parallel-run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2735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Statutory filings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547872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0 late / month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931920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SIA + ETA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44398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Data-migration error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18304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&lt; 0.5%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10235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Across 50k+ records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98280" y="1188720"/>
            <a:ext cx="2761488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59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59" y="17373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Why we built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9" y="210312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Payroll cycle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59" y="2377439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Calibri"/>
              </a:rPr>
              <a:t>6 d → 1 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9" y="2761487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Per entity, per month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59" y="32735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Onboarding time-to-ready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9" y="3547872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Calibri"/>
              </a:rPr>
              <a:t>15 d → 7 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59" y="3931920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Offer-accept to day-1-ready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59" y="444398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HR cost-to-serve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59" y="4718304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Calibri"/>
              </a:rPr>
              <a:t>−20%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81159" y="510235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Vs. FY2025 baseline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Baselines captured during Discovery · targets confirmed with exec sponsors · dashboards ship with M9 (Analytics).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12 · WHAT DISCOVERY SURFACED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Programme risks &amp; external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07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80F2E6"/>
                </a:solidFill>
                <a:latin typeface="Calibri"/>
              </a:rPr>
              <a:t>PROGRAMME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FEDE9"/>
                </a:solidFill>
                <a:latin typeface="Consolas"/>
              </a:rPr>
              <a:t>LIKELIHOOD ·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54864" cy="59435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65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Scope aggression vs. team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128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6 people delivering 13 modules in 11 months — velocity assumption must 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148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167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48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67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" y="269748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78892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Data migration from legacy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9900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Excel + paper + WhatsApp → structured HRIS; 3 rehearsals scheduled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9443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9443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56616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Payroll accuracy at cut-over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7673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2–3 parallel-run cycles vs. legacy before statutory sign-off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3703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3721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703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721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" y="425196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4340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Change management /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5445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Field workers with no desktop; multilingual ESS + roadshow + training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4480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4988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4480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44988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12064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Key-person concentration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3218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Small team — illness or attrition in Core/Payroll squad delays P3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31920" y="5257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5276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46320" y="5257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5276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234440"/>
            <a:ext cx="5394960" cy="50292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1307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80F2E6"/>
                </a:solidFill>
                <a:latin typeface="Calibri"/>
              </a:rPr>
              <a:t>EXTERNAL DEPENDENCIES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13075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FEDE9"/>
                </a:solidFill>
                <a:latin typeface="Consolas"/>
              </a:rPr>
              <a:t>OWNER · NEEDED BY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201168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1965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Social Insurance Authority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22128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Required for Payroll statutory filings (Form 2 / Form 6)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20116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LEGAL · PAYROLL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258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 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18504" y="269748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19088" y="278892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65392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Egyptian Tax Authority filing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29900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e-receipt &amp; withholding tax integration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27889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30358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19088" y="356616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65392" y="3520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Banking disbursement files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37673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Partner bank(s) file-format sign-off for salary transfer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356616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8130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Q1 2027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18504" y="425196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19088" y="434340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65392" y="4297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PDP Law 151/2020 DPIA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45445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Data Protection Impact Assessment approval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434340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LEGAL · CISO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4590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Q1 2027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9088" y="512064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5074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External pen-test vendor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53218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Pre-go-live security assessment + remediation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51206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CISO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5367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Feb 2027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13 · CHANGE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 bring the organisation with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61488" cy="914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COMMS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Right message, right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23957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Exec cascade · all-hands moments at each gate · multilingual digest for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2761488" cy="914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46304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965960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Role-based, just-in-time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77440"/>
            <a:ext cx="23957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Core roles certified pre-go-live · ESS micro-lessons on mobile · in-context tips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276148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CHAMPIONS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Peer advocates on the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23957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1 champion per ~50 people · trained early · office hours + feedback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188720"/>
            <a:ext cx="2761488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59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146304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1965960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Listen, measure, adjust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2377440"/>
            <a:ext cx="23957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Pulse surveys per gate · adoption dashboard · retros into backlog every fortnight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ROLLOUT WAVES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4048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9144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886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1 · Sponsors + HR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886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onsolas"/>
              </a:rPr>
              <a:t>May – Aug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Exec briefings · HR Ops co-build · champions recruited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352544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352544"/>
            <a:ext cx="9144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39826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2 · Pilot 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398264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onsolas"/>
              </a:rPr>
              <a:t>Sep – Dec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39826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One entity end-to-end · parallel run · feedback loops tight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64608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864608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9103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3 · All managers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91032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onsolas"/>
              </a:rPr>
              <a:t>Jan – Feb 2027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91032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Manager self-service certified · approval cutover · comms burst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376672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376672"/>
            <a:ext cx="914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42239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4 · All employees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542239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2C55E"/>
                </a:solidFill>
                <a:latin typeface="Consolas"/>
              </a:rPr>
              <a:t>Mar – Jun 2027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4223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ESS mobile · Arabic-first · site roadshow · champion office hours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43600"/>
            <a:ext cx="11247120" cy="457200"/>
          </a:xfrm>
          <a:prstGeom prst="roundRect">
            <a:avLst>
              <a:gd name="adj" fmla="val 3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0F2E6"/>
                </a:solidFill>
                <a:latin typeface="Calibri"/>
              </a:rPr>
              <a:t>Mobile-first · Arabic + English · low-literacy friendly · offline-tolerant — no one gets left behind.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64592" cy="32918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1551626" y="640080"/>
            <a:ext cx="0" cy="457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1155680" y="1097280"/>
            <a:ext cx="395946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10759733" y="1097280"/>
            <a:ext cx="395947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59733" y="640080"/>
            <a:ext cx="0" cy="457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9733" y="411479"/>
            <a:ext cx="395947" cy="2286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155680" y="411479"/>
            <a:ext cx="395946" cy="2286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100815" y="81381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1155680" y="640080"/>
            <a:ext cx="395946" cy="2286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469330" y="557784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1155680" y="868680"/>
            <a:ext cx="0" cy="4572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077955" y="1248156"/>
            <a:ext cx="155448" cy="155448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10759733" y="640080"/>
            <a:ext cx="395947" cy="2286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695725" y="576071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1155680" y="411479"/>
            <a:ext cx="0" cy="457201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100815" y="356615"/>
            <a:ext cx="109728" cy="109728"/>
          </a:xfrm>
          <a:prstGeom prst="ellipse">
            <a:avLst/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822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14 · DECISION &amp;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We're asking the board to</a:t>
            </a:r>
          </a:p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sign off discovery.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1752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2918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WE'RE ASKING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2043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Approvals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4206240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Endorse discovery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89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13 BRDs · user stories · workflows · roadmap as the basis for Phase 1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4864607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773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Green-light Phase 1 mobilisation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4748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Kick-off 15 May 2026 · go-live target 14 March 2027 fixed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5522975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54315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Ring-fence team + external 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705855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Core squad of 6 · Legal / Finance alignment by Q4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01752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HAPPENS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52043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Next 60 days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4206240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P0 Mobilise  ·  15 Apr – 15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89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Charter, RACI, governance signed; squads formed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0" y="4864607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4773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P1 Discover kick-off  ·  15 May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04748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Functional spec + data model + NFRs begin</a:t>
            </a:r>
          </a:p>
        </p:txBody>
      </p:sp>
      <p:sp>
        <p:nvSpPr>
          <p:cNvPr id="43" name="Oval 42"/>
          <p:cNvSpPr/>
          <p:nvPr/>
        </p:nvSpPr>
        <p:spPr>
          <a:xfrm>
            <a:off x="6766560" y="5522975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54315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Steerco rhythm  ·  from 30 Apr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705855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Monthly steerco + weekly exec summary; first report 30 Apr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PRX-DISC-SO-001  ·  v1.2  ·  Owner: Project Director — Praxion HROS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Artefact index — where to find it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61488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BRDs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  · Core HRIS  (v2)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055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M2  · Recruitment / 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M3  · Onboarding /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3405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M4  · Performance /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3580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M5  · Training / 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M6  · Payroll &amp; Comp  (v3)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M7  · Benefits &amp; 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4106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M8  · Contractor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4281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M9  ·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M10 · System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M11 · Mobile App (ESS)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480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M12 · Client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4982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M13 · Billing &amp; Invoicing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1188720"/>
            <a:ext cx="2761488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USER STORIES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182880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 · 18 stories ·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13055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M2 · 12 stories · signed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43230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M3 · 10 stories · signed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273405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M4 · 8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03580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M5 · 7 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33756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M6 · 14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63931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M7 · 6 stories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94106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M8 · 5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24281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M9 · 6 stories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54456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M10 · 9 stories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84632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M11 · 11 stories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1480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M12 · 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44982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M13 · draft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1188720"/>
            <a:ext cx="2761488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PROCESS &amp;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82880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Org chart + RACI seed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13055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JML workflow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43230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Payroll cycle 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273405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Onboarding journey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03580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Leave + absence 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3756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Performance cycle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63931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Expenses &amp; approvals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94106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Offboarding checklist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24281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Audit / compliance 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54456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Integration register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84632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Data model v0.5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1480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NFR register v1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44982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Glossary + acronyms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9828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98280" y="1188720"/>
            <a:ext cx="2761488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59" y="12893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BRAND &amp; EXEC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182880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Brand Guidelines v2.0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213055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Logo package v2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243230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Presentation style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273405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Iconography + colours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303580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Typography tokens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333756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Voice + tone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63931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Executive roadmap v1.0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394106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Discovery sign-off (this)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4242816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Doc ID register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4544568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Version &amp; owner log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4846320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Risk + issue log v1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5148072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Steerco pack template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5449824"/>
            <a:ext cx="2350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Status report template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All artefacts live under /Praxion-HROS/ with dual-location mirrors under /Modules/M1–M13/{BRDs, User-Stories, Workflows}/.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