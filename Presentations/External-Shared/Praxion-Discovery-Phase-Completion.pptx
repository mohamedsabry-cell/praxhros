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Story Points</c:v>
                </c:pt>
              </c:strCache>
            </c:strRef>
          </c:tx>
          <c:spPr>
            <a:solidFill>
              <a:srgbClr val="2F6BFF"/>
            </a:solidFill>
          </c:spPr>
          <c:cat>
            <c:strRef>
              <c:f>Sheet1!$A$2:$A$14</c:f>
              <c:strCache>
                <c:ptCount val="13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  <c:pt idx="12">
                  <c:v>M13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95</c:v>
                </c:pt>
                <c:pt idx="1">
                  <c:v>88</c:v>
                </c:pt>
                <c:pt idx="2">
                  <c:v>80</c:v>
                </c:pt>
                <c:pt idx="3">
                  <c:v>84</c:v>
                </c:pt>
                <c:pt idx="4">
                  <c:v>95</c:v>
                </c:pt>
                <c:pt idx="5">
                  <c:v>120</c:v>
                </c:pt>
                <c:pt idx="6">
                  <c:v>81</c:v>
                </c:pt>
                <c:pt idx="7">
                  <c:v>75</c:v>
                </c:pt>
                <c:pt idx="8">
                  <c:v>102</c:v>
                </c:pt>
                <c:pt idx="9">
                  <c:v>128</c:v>
                </c:pt>
                <c:pt idx="10">
                  <c:v>70</c:v>
                </c:pt>
                <c:pt idx="11">
                  <c:v>78</c:v>
                </c:pt>
                <c:pt idx="12">
                  <c:v>120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0B14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A9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8EC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A9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dPt>
            <c:idx val="0"/>
            <c:spPr>
              <a:solidFill>
                <a:srgbClr val="2F6BFF"/>
              </a:solidFill>
            </c:spPr>
          </c:dPt>
          <c:dPt>
            <c:idx val="1"/>
            <c:spPr>
              <a:solidFill>
                <a:srgbClr val="19D3C5"/>
              </a:solidFill>
            </c:spPr>
          </c:dPt>
          <c:dPt>
            <c:idx val="2"/>
            <c:spPr>
              <a:solidFill>
                <a:srgbClr val="E8ECF3"/>
              </a:solidFill>
            </c:spPr>
          </c:dPt>
          <c:cat>
            <c:strRef>
              <c:f>Sheet1!$A$2:$A$4</c:f>
              <c:strCache>
                <c:ptCount val="3"/>
                <c:pt idx="0">
                  <c:v>P0 Must Have</c:v>
                </c:pt>
                <c:pt idx="1">
                  <c:v>P1 Should Have</c:v>
                </c:pt>
                <c:pt idx="2">
                  <c:v>P2 Nice to Have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</c:v>
                </c:pt>
                <c:pt idx="1">
                  <c:v>71</c:v>
                </c:pt>
                <c:pt idx="2">
                  <c:v>45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B1437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0B143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457200"/>
            <a:ext cx="4114800" cy="41148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0" y="914400"/>
            <a:ext cx="3200400" cy="3200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D3C5"/>
                </a:solidFill>
                <a:latin typeface="Calibri"/>
              </a:defRPr>
            </a:pPr>
            <a:r>
              <a:t>PRAXION HROS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Discovery Phase</a:t>
            </a:r>
          </a:p>
          <a:p>
            <a:pPr algn="l">
              <a:lnSpc>
                <a:spcPts val="52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A99"/>
                </a:solidFill>
                <a:latin typeface="Calibri"/>
              </a:defRPr>
            </a:pPr>
            <a:r>
              <a:t>Executive Briefing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73152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437"/>
                </a:solidFill>
                <a:latin typeface="Calibri"/>
              </a:defRPr>
            </a:pPr>
            <a:r>
              <a:t>Egybell  ·  Praxion HR Operating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7680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5486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1704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D3C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17043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B1437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680960" cy="384048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5486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276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D3C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2763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B1437"/>
                </a:solidFill>
                <a:latin typeface="Calibri"/>
              </a:defRPr>
            </a:pPr>
            <a:r>
              <a:t>Discovery Phase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7400"/>
            <a:ext cx="7680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057400"/>
            <a:ext cx="5486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084831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D3C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084831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B1437"/>
                </a:solidFill>
                <a:latin typeface="Calibri"/>
              </a:defRPr>
            </a:pPr>
            <a:r>
              <a:t>User Stories &amp; Backlog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14600"/>
            <a:ext cx="7680960" cy="384048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514600"/>
            <a:ext cx="5486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5420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D3C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54203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B1437"/>
                </a:solidFill>
                <a:latin typeface="Calibri"/>
              </a:defRPr>
            </a:pPr>
            <a:r>
              <a:t>Module Breakdown &amp; 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71800"/>
            <a:ext cx="7680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5486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29992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D3C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99923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B1437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429000"/>
            <a:ext cx="7680960" cy="384048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429000"/>
            <a:ext cx="5486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4564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D3C5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45643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B1437"/>
                </a:solidFill>
                <a:latin typeface="Calibri"/>
              </a:defRPr>
            </a:pPr>
            <a:r>
              <a:t>Security &amp; Access Framework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86200"/>
            <a:ext cx="7680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886200"/>
            <a:ext cx="5486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136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D3C5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391363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B1437"/>
                </a:solidFill>
                <a:latin typeface="Calibri"/>
              </a:defRPr>
            </a:pPr>
            <a:r>
              <a:t>Timeline &amp; Roadmap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343400"/>
            <a:ext cx="7680960" cy="384048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343400"/>
            <a:ext cx="5486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3708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D3C5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37083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B1437"/>
                </a:solidFill>
                <a:latin typeface="Calibri"/>
              </a:defRPr>
            </a:pPr>
            <a:r>
              <a:t>Deliverables &amp; Next Steps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A99"/>
                </a:solidFill>
                <a:latin typeface="Calibri"/>
              </a:defRPr>
            </a:pPr>
            <a:r>
              <a:t>Praxion HROS is a comprehensive, multi-tenant Human Resource Operating System built for Egybell to deliver enterprise-grade HR management as a SaaS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2377440" cy="11887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CF3"/>
                </a:solidFill>
                <a:latin typeface="Calibri"/>
              </a:defRPr>
            </a:pPr>
            <a:r>
              <a:t>Functional</a:t>
            </a:r>
            <a:br/>
            <a:r>
              <a:t>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91640"/>
            <a:ext cx="2377440" cy="1188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195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CF3"/>
                </a:solidFill>
                <a:latin typeface="Calibri"/>
              </a:defRPr>
            </a:pPr>
            <a:r>
              <a:t>User</a:t>
            </a:r>
            <a:br/>
            <a:r>
              <a:t>Stories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91640"/>
            <a:ext cx="2377440" cy="118872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1,216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CF3"/>
                </a:solidFill>
                <a:latin typeface="Calibri"/>
              </a:defRPr>
            </a:pPr>
            <a:r>
              <a:t>Story</a:t>
            </a:r>
            <a:br/>
            <a:r>
              <a:t>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7A99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1572768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1572768" cy="45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47872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NestJS</a:t>
            </a:r>
          </a:p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Microservices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3474720"/>
            <a:ext cx="1572768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67712" y="3474720"/>
            <a:ext cx="1572768" cy="45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67712" y="3547872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React</a:t>
            </a:r>
          </a:p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Next.js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86783" y="3474720"/>
            <a:ext cx="1572768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86783" y="3474720"/>
            <a:ext cx="1572768" cy="45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3" y="3547872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05855" y="3474720"/>
            <a:ext cx="1572768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05855" y="3474720"/>
            <a:ext cx="1572768" cy="45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5855" y="3547872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TypeScript</a:t>
            </a:r>
          </a:p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End-to-End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7" y="3474720"/>
            <a:ext cx="1572768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24927" y="3474720"/>
            <a:ext cx="1572768" cy="45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7" y="3547872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Redis &amp;</a:t>
            </a:r>
          </a:p>
          <a:p>
            <a:pPr algn="ctr">
              <a:lnSpc>
                <a:spcPts val="1300"/>
              </a:lnSpc>
              <a:defRPr sz="900" b="1">
                <a:solidFill>
                  <a:srgbClr val="0B1437"/>
                </a:solidFill>
                <a:latin typeface="Calibri"/>
              </a:defRPr>
            </a:pPr>
            <a:r>
              <a:t>RabbitMQ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DISCOVERY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A99"/>
                </a:solidFill>
                <a:latin typeface="Calibri"/>
              </a:defRPr>
            </a:pPr>
            <a:r>
              <a:t>Objectives &amp;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BFF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184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1437"/>
                </a:solidFill>
                <a:latin typeface="Calibri"/>
              </a:defRPr>
            </a:pPr>
            <a:r>
              <a:t>Define complete functional scope across all HR domains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488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671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1437"/>
                </a:solidFill>
                <a:latin typeface="Calibri"/>
              </a:defRPr>
            </a:pPr>
            <a:r>
              <a:t>Capture &amp; prioritise user stories with story point estimates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15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1437"/>
                </a:solidFill>
                <a:latin typeface="Calibri"/>
              </a:defRPr>
            </a:pPr>
            <a:r>
              <a:t>Design system architecture for scale &amp; multi-tenancy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4612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918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644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1437"/>
                </a:solidFill>
                <a:latin typeface="Calibri"/>
              </a:defRPr>
            </a:pPr>
            <a:r>
              <a:t>Establish security framework &amp; role-based 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9476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9476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8404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8130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1437"/>
                </a:solidFill>
                <a:latin typeface="Calibri"/>
              </a:defRPr>
            </a:pPr>
            <a:r>
              <a:t>Build detailed implementation roadmap with milestones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BFF"/>
                </a:solidFill>
                <a:latin typeface="Calibri"/>
              </a:defRPr>
            </a:pPr>
            <a:r>
              <a:t>KEY OUTCOMES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160020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60" y="160020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6184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1645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A99"/>
                </a:solidFill>
                <a:latin typeface="Calibri"/>
              </a:defRPr>
            </a:pPr>
            <a:r>
              <a:t>BRDs Completed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10312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37760" y="210312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21214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Calibri"/>
              </a:defRPr>
            </a:pPr>
            <a:r>
              <a:t>195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14883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A99"/>
                </a:solidFill>
                <a:latin typeface="Calibri"/>
              </a:defRPr>
            </a:pPr>
            <a:r>
              <a:t>User Stories Defined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260604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37760" y="260604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26243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2651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A99"/>
                </a:solidFill>
                <a:latin typeface="Calibri"/>
              </a:defRPr>
            </a:pPr>
            <a:r>
              <a:t>User Personas Mapped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10896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37760" y="310896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12724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154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A99"/>
                </a:solidFill>
                <a:latin typeface="Calibri"/>
              </a:defRPr>
            </a:pPr>
            <a:r>
              <a:t>Security Roles Defined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1188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37760" y="361188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3630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3657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A99"/>
                </a:solidFill>
                <a:latin typeface="Calibri"/>
              </a:defRPr>
            </a:pPr>
            <a:r>
              <a:t>Implementation Phases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411480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37760" y="411480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4133087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1437"/>
                </a:solidFill>
                <a:latin typeface="Calibri"/>
              </a:defRPr>
            </a:pPr>
            <a:r>
              <a:t>Mar 2027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A99"/>
                </a:solidFill>
                <a:latin typeface="Calibri"/>
              </a:defRPr>
            </a:pPr>
            <a:r>
              <a:t>Target Go-Live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USER STORIES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195 stories across 13 modules  •  1,216 total story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246888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246888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B1437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P0 — Must Have  (40.5%)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246888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234440"/>
            <a:ext cx="246888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B1437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P1 — Should Have  (36.4%)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246888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468880" cy="54864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B1437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P2 — Nice to Have  (23.1%)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4688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14 user personas identified, covering HR Admins, Managers, Employees, Recruiters, Finance, IT, and Executive roles.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57200" y="2834640"/>
          <a:ext cx="82296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MODULE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77724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914400"/>
                <a:gridCol w="914400"/>
                <a:gridCol w="914400"/>
                <a:gridCol w="914400"/>
              </a:tblGrid>
              <a:tr h="249935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Stories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M1  Core HRIS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M2  Recruitment &amp; ATS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M3  Onboarding &amp; Offboarding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M4  Performance &amp; KPIs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M5  Training &amp; 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M6  Payroll &amp; Compensation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M7  Benefits &amp; Expenses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M8  Contractor Management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M9  Analytics &amp;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M10  System Administration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M11  Mobile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M12  Client Portal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M13  Billing &amp; Invoicing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19D3C5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B7A9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994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9D3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19D3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1,216</a:t>
                      </a:r>
                    </a:p>
                  </a:txBody>
                  <a:tcPr>
                    <a:solidFill>
                      <a:srgbClr val="19D3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19D3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19D3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19D3C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PRIORITY &amp; PHASE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41148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BFF"/>
                </a:solidFill>
                <a:latin typeface="Calibri"/>
              </a:defRPr>
            </a:pPr>
            <a:r>
              <a:t>DELIVERY PHASES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508760"/>
            <a:ext cx="39319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508760"/>
            <a:ext cx="54864" cy="6400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5361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M1, M6, M10, M13  •  60 stories  •  463 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286000"/>
            <a:ext cx="39319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54864" cy="6400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31343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Phase 2: Talent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6060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M2, M3, M12  •  45 stories  •  246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063239"/>
            <a:ext cx="39319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063239"/>
            <a:ext cx="54864" cy="64008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090671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Phase 3: Performance &amp;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38327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M4, M5, M7, M8  •  60 stories  •  335 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3840479"/>
            <a:ext cx="39319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3840479"/>
            <a:ext cx="54864" cy="6400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867911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Phase 4: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16051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M9, M11  •  30 stories  •  172 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9D3C5"/>
                </a:solidFill>
                <a:latin typeface="Calibri"/>
              </a:defRPr>
            </a:pPr>
            <a:r>
              <a:t>Modern, Scalable, Multi-Tenant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965960" cy="3200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691640" cy="2743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React / Next.js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SSR + SPA Hybrid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Tailwind CSS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Responsive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234440"/>
            <a:ext cx="1965960" cy="32004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371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91640"/>
            <a:ext cx="1691640" cy="2743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8288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NestJS Microservices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15 Domain Services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GraphQL + REST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Event-Driven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234440"/>
            <a:ext cx="1965960" cy="32004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371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691640"/>
            <a:ext cx="1691640" cy="2743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8288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Row-Level Security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Redis Caching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TimescaleDB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80" y="1234440"/>
            <a:ext cx="1965960" cy="3200400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3716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691640"/>
            <a:ext cx="1691640" cy="2743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828800"/>
            <a:ext cx="1691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Docker + K8s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CI/CD Pipeline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Observability</a:t>
            </a:r>
          </a:p>
          <a:p>
            <a:pPr algn="l">
              <a:lnSpc>
                <a:spcPts val="18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Multi-Tenant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10 Architecture Decision Records  •  23 Containers  •  14 External Actors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SECURITY &amp; ACCESS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965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F6B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Security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051560"/>
            <a:ext cx="1965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0698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F6B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4630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Module Scopes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51560"/>
            <a:ext cx="1965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0698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F6B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630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Action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051560"/>
            <a:ext cx="1965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0698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F6B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4630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SoD Conflicts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BFF"/>
                </a:solidFill>
                <a:latin typeface="Calibri"/>
              </a:defRPr>
            </a:pPr>
            <a:r>
              <a:t>RBAC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7744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377440"/>
            <a:ext cx="54864" cy="4114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3957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0B1437"/>
                </a:solidFill>
                <a:latin typeface="Calibri"/>
              </a:defRPr>
            </a:pPr>
            <a:r>
              <a:t>•  Role-based access with module-level granularity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8036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880360"/>
            <a:ext cx="54864" cy="4114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8986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0B1437"/>
                </a:solidFill>
                <a:latin typeface="Calibri"/>
              </a:defRPr>
            </a:pPr>
            <a:r>
              <a:t>•  7 actions: Create, Read, Update, Delete, Approve, Export, Configure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8328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383280"/>
            <a:ext cx="54864" cy="4114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4015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0B1437"/>
                </a:solidFill>
                <a:latin typeface="Calibri"/>
              </a:defRPr>
            </a:pPr>
            <a:r>
              <a:t>•  Hierarchical role inheritance (Super Admin → User)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86200"/>
            <a:ext cx="3840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886200"/>
            <a:ext cx="54864" cy="4114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04487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0B1437"/>
                </a:solidFill>
                <a:latin typeface="Calibri"/>
              </a:defRPr>
            </a:pPr>
            <a:r>
              <a:t>•  Multi-tenant isolation with row-level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B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37744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237744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395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0B1437"/>
                </a:solidFill>
                <a:latin typeface="Calibri"/>
              </a:defRPr>
            </a:pPr>
            <a:r>
              <a:t>•  15-section Access Policy document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88036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37760" y="288036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2898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0B1437"/>
                </a:solidFill>
                <a:latin typeface="Calibri"/>
              </a:defRPr>
            </a:pPr>
            <a:r>
              <a:t>•  Segregation of Duties (8 conflict rules)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338328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60" y="338328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3401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0B1437"/>
                </a:solidFill>
                <a:latin typeface="Calibri"/>
              </a:defRPr>
            </a:pPr>
            <a:r>
              <a:t>•  Joiner-Mover-Leaver lifecycle management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3886200"/>
            <a:ext cx="34747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37760" y="3886200"/>
            <a:ext cx="54864" cy="4114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9044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0B1437"/>
                </a:solidFill>
                <a:latin typeface="Calibri"/>
              </a:defRPr>
            </a:pPr>
            <a:r>
              <a:t>•  Quarterly access review cadence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TIMELINE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March 2026 → March 2027  •  11 Implementation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8229600" cy="54864"/>
          </a:xfrm>
          <a:prstGeom prst="rect">
            <a:avLst/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3192" y="1444751"/>
            <a:ext cx="182880" cy="182880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96011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9D3C5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42999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Mobilise</a:t>
            </a:r>
          </a:p>
        </p:txBody>
      </p:sp>
      <p:sp>
        <p:nvSpPr>
          <p:cNvPr id="10" name="Oval 9"/>
          <p:cNvSpPr/>
          <p:nvPr/>
        </p:nvSpPr>
        <p:spPr>
          <a:xfrm>
            <a:off x="1216151" y="1444751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37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2F6BFF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9202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Foundations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2039112" y="1444751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96011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2F6BFF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1142999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Core HR</a:t>
            </a:r>
          </a:p>
        </p:txBody>
      </p:sp>
      <p:sp>
        <p:nvSpPr>
          <p:cNvPr id="16" name="Oval 15"/>
          <p:cNvSpPr/>
          <p:nvPr/>
        </p:nvSpPr>
        <p:spPr>
          <a:xfrm>
            <a:off x="2862072" y="1444751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737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2F6BFF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79" y="19202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Payroll Engine</a:t>
            </a:r>
          </a:p>
        </p:txBody>
      </p:sp>
      <p:sp>
        <p:nvSpPr>
          <p:cNvPr id="19" name="Oval 18"/>
          <p:cNvSpPr/>
          <p:nvPr/>
        </p:nvSpPr>
        <p:spPr>
          <a:xfrm>
            <a:off x="3685031" y="1444751"/>
            <a:ext cx="182880" cy="182880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39" y="96011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E2A5E"/>
                </a:solidFill>
                <a:latin typeface="Calibri"/>
              </a:defRPr>
            </a:pPr>
            <a:r>
              <a:t>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39" y="1142999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Recruitment &amp; ATS</a:t>
            </a:r>
          </a:p>
        </p:txBody>
      </p:sp>
      <p:sp>
        <p:nvSpPr>
          <p:cNvPr id="22" name="Oval 21"/>
          <p:cNvSpPr/>
          <p:nvPr/>
        </p:nvSpPr>
        <p:spPr>
          <a:xfrm>
            <a:off x="4507992" y="1444751"/>
            <a:ext cx="182880" cy="182880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737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E2A5E"/>
                </a:solidFill>
                <a:latin typeface="Calibri"/>
              </a:defRPr>
            </a:pPr>
            <a:r>
              <a:t>P5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19202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25" name="Oval 24"/>
          <p:cNvSpPr/>
          <p:nvPr/>
        </p:nvSpPr>
        <p:spPr>
          <a:xfrm>
            <a:off x="5330951" y="1444751"/>
            <a:ext cx="182880" cy="182880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59" y="96011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E2A5E"/>
                </a:solidFill>
                <a:latin typeface="Calibri"/>
              </a:defRPr>
            </a:pPr>
            <a:r>
              <a:t>P6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1142999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8" name="Oval 27"/>
          <p:cNvSpPr/>
          <p:nvPr/>
        </p:nvSpPr>
        <p:spPr>
          <a:xfrm>
            <a:off x="6153912" y="1444751"/>
            <a:ext cx="182880" cy="182880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1737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E2A5E"/>
                </a:solidFill>
                <a:latin typeface="Calibri"/>
              </a:defRPr>
            </a:pPr>
            <a:r>
              <a:t>P7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19202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Training &amp; Benefits</a:t>
            </a:r>
          </a:p>
        </p:txBody>
      </p:sp>
      <p:sp>
        <p:nvSpPr>
          <p:cNvPr id="31" name="Oval 30"/>
          <p:cNvSpPr/>
          <p:nvPr/>
        </p:nvSpPr>
        <p:spPr>
          <a:xfrm>
            <a:off x="6976872" y="1444751"/>
            <a:ext cx="182880" cy="18288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96011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7C5CFC"/>
                </a:solidFill>
                <a:latin typeface="Calibri"/>
              </a:defRPr>
            </a:pPr>
            <a:r>
              <a:t>P8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142999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Analytics &amp; Mobile</a:t>
            </a:r>
          </a:p>
        </p:txBody>
      </p:sp>
      <p:sp>
        <p:nvSpPr>
          <p:cNvPr id="34" name="Oval 33"/>
          <p:cNvSpPr/>
          <p:nvPr/>
        </p:nvSpPr>
        <p:spPr>
          <a:xfrm>
            <a:off x="7799831" y="1444751"/>
            <a:ext cx="182880" cy="18288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1737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7C5CFC"/>
                </a:solidFill>
                <a:latin typeface="Calibri"/>
              </a:defRPr>
            </a:pPr>
            <a:r>
              <a:t>P9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9202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Integration &amp; UAT</a:t>
            </a:r>
          </a:p>
        </p:txBody>
      </p:sp>
      <p:sp>
        <p:nvSpPr>
          <p:cNvPr id="37" name="Oval 36"/>
          <p:cNvSpPr/>
          <p:nvPr/>
        </p:nvSpPr>
        <p:spPr>
          <a:xfrm>
            <a:off x="8622792" y="1444751"/>
            <a:ext cx="182880" cy="1828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960119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6B35"/>
                </a:solidFill>
                <a:latin typeface="Calibri"/>
              </a:defRPr>
            </a:pPr>
            <a:r>
              <a:t>P10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142999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0B1437"/>
                </a:solidFill>
                <a:latin typeface="Calibri"/>
              </a:defRPr>
            </a:pPr>
            <a:r>
              <a:t>Scale &amp; Go-Live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57200" y="24688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Quarter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Phases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 Areas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Q1 2026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P0 – P1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Mobilise, Platform Foundations, DevOps Setup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Q2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P2 –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Core HR, Payroll Engine, 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Q3 2026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P4 – P6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Recruitment, Onboarding, Performance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Q4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P7 – P8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Training, Benefits, Analytics,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Q1 2027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F6BFF"/>
                          </a:solidFill>
                          <a:latin typeface="Calibri"/>
                        </a:defRPr>
                      </a:pPr>
                      <a:r>
                        <a:t>P9 – P10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Integration, UAT, Go-Live (14 March 2027)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DELIVERABLES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344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Business Requirements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F6BFF"/>
                </a:solidFill>
                <a:latin typeface="Calibri"/>
              </a:defRPr>
            </a:pPr>
            <a:r>
              <a:t>13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Detailed BRD per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65176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2344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2344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User Stories Backlog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F6BFF"/>
                </a:solidFill>
                <a:latin typeface="Calibri"/>
              </a:defRPr>
            </a:pPr>
            <a:r>
              <a:t>195 stories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Prioritised &amp; estimated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344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2344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F6BFF"/>
                </a:solidFill>
                <a:latin typeface="Calibri"/>
              </a:defRPr>
            </a:pPr>
            <a:r>
              <a:t>3-part spec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03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Executive + C4 + Technical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User Access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F6BFF"/>
                </a:solidFill>
                <a:latin typeface="Calibri"/>
              </a:defRPr>
            </a:pPr>
            <a:r>
              <a:t>18 roles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931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RBAC with SoD controls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2926080"/>
            <a:ext cx="265176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2926080"/>
            <a:ext cx="265176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User Access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F6BFF"/>
                </a:solidFill>
                <a:latin typeface="Calibri"/>
              </a:defRPr>
            </a:pPr>
            <a:r>
              <a:t>15 sections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3931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Governance framework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926080"/>
            <a:ext cx="2651760" cy="1554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2926080"/>
            <a:ext cx="265176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063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1437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F6BFF"/>
                </a:solidFill>
                <a:latin typeface="Calibri"/>
              </a:defRPr>
            </a:pPr>
            <a:r>
              <a:t>11 phases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931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Week-by-week plan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KEY RISKS &amp;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5486400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0B143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Scope Creep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Locked BRDs with formal change control; phased delivery de-risks scope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Payroll Complexity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Dedicated payroll engine phase (P3); Egyptian labour law compliance built into BRD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Integration Dependencies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API-first architecture; dedicated integration phase (P9) with mock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Resource Availability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Capacity planning in roadmap; cross-training to reduce key-person risk</a:t>
                      </a:r>
                    </a:p>
                  </a:txBody>
                  <a:tcPr>
                    <a:solidFill>
                      <a:srgbClr val="E8ECF3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Multi-Tenant Data Isolation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B1437"/>
                          </a:solidFill>
                          <a:latin typeface="Calibri"/>
                        </a:defRPr>
                      </a:pPr>
                      <a:r>
                        <a:t>Row-level security in PostgreSQL; validated with ADR-003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1437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A99"/>
                </a:solidFill>
                <a:latin typeface="Calibri"/>
              </a:defRPr>
            </a:pPr>
            <a:r>
              <a:t>Transitioning from Discovery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4864" cy="7315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P0: Team Mobilisation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276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Onboard development team, set up environments, finalise tech stack tooling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463039"/>
            <a:ext cx="1371600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63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Mar – Apr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48839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48839"/>
            <a:ext cx="54864" cy="7315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945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P1: Platform 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9631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Core infrastructure, CI/CD pipeline, authentication framework, base UI components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331720"/>
            <a:ext cx="1371600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Apr – Jun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Stakeholder Sign-Off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649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BRD approval from all department heads, architecture review board sign-off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200400"/>
            <a:ext cx="1371600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886200"/>
            <a:ext cx="54864" cy="7315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1437"/>
                </a:solidFill>
                <a:latin typeface="Calibri"/>
              </a:defRPr>
            </a:pPr>
            <a:r>
              <a:t>Sprint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33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A99"/>
                </a:solidFill>
                <a:latin typeface="Calibri"/>
              </a:defRPr>
            </a:pPr>
            <a:r>
              <a:t>Break Phase 1 modules (M1, M6, M10, M13) into 2-week sprint cycles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069080"/>
            <a:ext cx="1371600" cy="3657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069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Apr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731520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Praxion HROS  |  Discovery Phase Completion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2926080"/>
            <a:ext cx="3657600" cy="36576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-1371600"/>
            <a:ext cx="3657600" cy="3657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194560"/>
            <a:ext cx="1463040" cy="36576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9D3C5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300" b="0">
                <a:solidFill>
                  <a:srgbClr val="6B7A99"/>
                </a:solidFill>
                <a:latin typeface="Calibri"/>
              </a:defRPr>
            </a:pPr>
            <a:r>
              <a:t>Sabry Mohamed  •  Project Director</a:t>
            </a:r>
          </a:p>
          <a:p>
            <a:pPr algn="ctr">
              <a:lnSpc>
                <a:spcPts val="2200"/>
              </a:lnSpc>
              <a:defRPr sz="1300" b="0">
                <a:solidFill>
                  <a:srgbClr val="6B7A99"/>
                </a:solidFill>
                <a:latin typeface="Calibri"/>
              </a:defRPr>
            </a:pPr>
            <a:r>
              <a:t>Praxion HROS  •  Egybell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B1437"/>
                </a:solidFill>
                <a:latin typeface="Calibri"/>
              </a:defRPr>
            </a:pPr>
            <a:r>
              <a:t>mohamed.sabry@praxionhr.com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