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1"/>
  </p:normalViewPr>
  <p:slideViewPr>
    <p:cSldViewPr snapToGrid="0" snapToObjects="1">
      <p:cViewPr varScale="1">
        <p:scale>
          <a:sx n="114" d="100"/>
          <a:sy n="114" d="100"/>
        </p:scale>
        <p:origin x="49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64592" cy="310896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68580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FFFFF"/>
                </a:solidFill>
                <a:latin typeface="Calibri"/>
              </a:rPr>
              <a:t>Praxion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19202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80F2E6"/>
                </a:solidFill>
                <a:latin typeface="Calibri"/>
              </a:rPr>
              <a:t>DISCOVERY PHASE SIGN-OFF  ·  BOARD REVIEW  ·  APRIL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37744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Calibri"/>
              </a:rPr>
              <a:t>Discovery complete.</a:t>
            </a:r>
          </a:p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Calibri"/>
              </a:rPr>
              <a:t>Ready to build.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7200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FEDE9"/>
                </a:solidFill>
                <a:latin typeface="Calibri"/>
              </a:rPr>
              <a:t>6 weeks  ·  13 modules scoped  ·  22 BRDs  ·  55+ capabilities defined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0F2E6"/>
                </a:solidFill>
                <a:latin typeface="Calibri"/>
              </a:rPr>
              <a:t>STARTED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9788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03 Mar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66928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0F2E6"/>
                </a:solidFill>
                <a:latin typeface="Calibri"/>
              </a:rPr>
              <a:t>DURATION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89788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6 weeks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566928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0F2E6"/>
                </a:solidFill>
                <a:latin typeface="Calibri"/>
              </a:rPr>
              <a:t>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589788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Complete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566928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00">
                <a:solidFill>
                  <a:srgbClr val="80F2E6"/>
                </a:solidFill>
                <a:latin typeface="Calibri"/>
              </a:rPr>
              <a:t>ASK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897880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Endorse + mobilise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0F2E6"/>
                </a:solidFill>
                <a:latin typeface="Consolas"/>
              </a:rPr>
              <a:t>PRX-DISC-SO-001  ·  v1.2  ·  Internal — Restricted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37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0F2E6"/>
                </a:solidFill>
                <a:latin typeface="Consolas"/>
              </a:rPr>
              <a:t>1 / 16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88C947C-F3C1-D04C-A123-008BC89FA5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200" y="671688"/>
            <a:ext cx="3779214" cy="92380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1355302-F25A-B41B-6FFF-2D2358EA4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636" y="45720"/>
            <a:ext cx="15875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01 · 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What we did, what we found, what we're asking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730752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3730752" cy="4572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289304"/>
            <a:ext cx="3182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alibri"/>
              </a:rPr>
              <a:t>WHERE WE STARTED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3182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39"/>
            <a:ext cx="318211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Design Praxion HROS — 13-module HR platform for Egyptian mid-market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3182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91839"/>
            <a:ext cx="318211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6 weeks, Mar 3 → Apr 21, 2026 · core team of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60520"/>
            <a:ext cx="3182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Mandate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318211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Confirm scope, validate requirements, surface risks, recommend Phase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1188720"/>
            <a:ext cx="3730752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70832" y="1188720"/>
            <a:ext cx="3730752" cy="45720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45152" y="1289304"/>
            <a:ext cx="3182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alibri"/>
              </a:rPr>
              <a:t>WHAT WE FOUND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1874519"/>
            <a:ext cx="3182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Scope is viable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2148839"/>
            <a:ext cx="318211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All 13 modules documented · 22 BRDs signed-off · 55+ Phase-1 capabilities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3017520"/>
            <a:ext cx="3182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Priorities are clear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3291839"/>
            <a:ext cx="318211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5 modules drive Phase 1 — Core HRIS, Payroll, Onboarding, ESS, 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4160520"/>
            <a:ext cx="3182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Risks are known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4434840"/>
            <a:ext cx="318211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Team velocity, data migration, payroll cut-over · all with mitigations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84464" y="1188720"/>
            <a:ext cx="3730752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84464" y="1188720"/>
            <a:ext cx="373075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58784" y="1289304"/>
            <a:ext cx="3182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alibri"/>
              </a:rPr>
              <a:t>WHAT WE'RE ASKING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58784" y="1874519"/>
            <a:ext cx="3182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Endorse outputs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58784" y="2148839"/>
            <a:ext cx="318211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Accept BRDs, user stories, workflows and roadmap as the Phase-1 basis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58784" y="3017520"/>
            <a:ext cx="3182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Green-light build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58784" y="3291839"/>
            <a:ext cx="318211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Phase-1 kick-off 15 May 2026 · go-live 14 Mar 2027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58784" y="4160520"/>
            <a:ext cx="3182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Unlock dependencies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58784" y="4434840"/>
            <a:ext cx="318211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Legal/Finance alignment on SIA, ETA, banking + DPIA by Q4 2026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" y="5669280"/>
            <a:ext cx="2194560" cy="640080"/>
          </a:xfrm>
          <a:prstGeom prst="roundRect">
            <a:avLst>
              <a:gd name="adj" fmla="val 12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3503" y="57607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80F2E6"/>
                </a:solidFill>
                <a:latin typeface="Calibri"/>
              </a:rPr>
              <a:t>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44752" y="580644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spc="100">
                <a:solidFill>
                  <a:srgbClr val="FFFFFF"/>
                </a:solidFill>
                <a:latin typeface="Calibri"/>
              </a:rPr>
              <a:t>modules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52344" y="5669280"/>
            <a:ext cx="2194560" cy="640080"/>
          </a:xfrm>
          <a:prstGeom prst="roundRect">
            <a:avLst>
              <a:gd name="adj" fmla="val 12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916936" y="57607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80F2E6"/>
                </a:solidFill>
                <a:latin typeface="Calibri"/>
              </a:rPr>
              <a:t>22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58183" y="580644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spc="100">
                <a:solidFill>
                  <a:srgbClr val="FFFFFF"/>
                </a:solidFill>
                <a:latin typeface="Calibri"/>
              </a:rPr>
              <a:t>BRDs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65775" y="5669280"/>
            <a:ext cx="2194560" cy="640080"/>
          </a:xfrm>
          <a:prstGeom prst="roundRect">
            <a:avLst>
              <a:gd name="adj" fmla="val 12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230367" y="57607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80F2E6"/>
                </a:solidFill>
                <a:latin typeface="Calibri"/>
              </a:rPr>
              <a:t>55+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71615" y="580644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spc="100">
                <a:solidFill>
                  <a:srgbClr val="FFFFFF"/>
                </a:solidFill>
                <a:latin typeface="Calibri"/>
              </a:rPr>
              <a:t>capabilities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79208" y="5669280"/>
            <a:ext cx="2194560" cy="640080"/>
          </a:xfrm>
          <a:prstGeom prst="roundRect">
            <a:avLst>
              <a:gd name="adj" fmla="val 12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43800" y="57607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80F2E6"/>
                </a:solidFill>
                <a:latin typeface="Calibri"/>
              </a:rPr>
              <a:t>100%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5048" y="580644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spc="100">
                <a:solidFill>
                  <a:srgbClr val="FFFFFF"/>
                </a:solidFill>
                <a:latin typeface="Calibri"/>
              </a:rPr>
              <a:t>stories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92640" y="5669280"/>
            <a:ext cx="2194560" cy="640080"/>
          </a:xfrm>
          <a:prstGeom prst="roundRect">
            <a:avLst>
              <a:gd name="adj" fmla="val 12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857232" y="57607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80F2E6"/>
                </a:solidFill>
                <a:latin typeface="Calibri"/>
              </a:rP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98480" y="5806440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 spc="100">
                <a:solidFill>
                  <a:srgbClr val="FFFFFF"/>
                </a:solidFill>
                <a:latin typeface="Calibri"/>
              </a:rPr>
              <a:t>months to go-live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· Discovery Phase Sign-Off · PRX-DISC-SO-001 v1.2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02 ·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Why Praxion HROS — and why now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1234440"/>
          </a:xfrm>
          <a:prstGeom prst="roundRect">
            <a:avLst>
              <a:gd name="adj" fmla="val 5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80F2E6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Egyptian mid-market HR runs on fragmented tools, Excel, paper and WhatsApp. Compliance is manual, payroll is fragile, employee experience is desktop-only. There is no integrated HR platform designed around local statutory, language and field-worker realities.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97480"/>
            <a:ext cx="3730752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697480"/>
            <a:ext cx="3730752" cy="9144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3017520"/>
            <a:ext cx="1280160" cy="320040"/>
          </a:xfrm>
          <a:prstGeom prst="roundRect">
            <a:avLst>
              <a:gd name="adj" fmla="val 4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00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20440"/>
            <a:ext cx="3182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1437"/>
                </a:solidFill>
                <a:latin typeface="Calibri"/>
              </a:rPr>
              <a:t>Growth headroom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39"/>
            <a:ext cx="318211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Clients growing from hundreds to thousands of employees · multi-entity · multi-site · field-heavy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2697480"/>
            <a:ext cx="3730752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70832" y="2697480"/>
            <a:ext cx="373075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645152" y="3017520"/>
            <a:ext cx="1280160" cy="320040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45152" y="301752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00">
                <a:solidFill>
                  <a:srgbClr val="FFFFFF"/>
                </a:solidFill>
                <a:latin typeface="Calibri"/>
              </a:rPr>
              <a:t>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3520440"/>
            <a:ext cx="3182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1437"/>
                </a:solidFill>
                <a:latin typeface="Calibri"/>
              </a:rPr>
              <a:t>Tightening regulation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3977639"/>
            <a:ext cx="318211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PDP Law 151/2020 · ETA e-receipts · SIA statutory filings · auditable by design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84464" y="2697480"/>
            <a:ext cx="3730752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84464" y="2697480"/>
            <a:ext cx="3730752" cy="9144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558784" y="3017520"/>
            <a:ext cx="1280160" cy="320040"/>
          </a:xfrm>
          <a:prstGeom prst="roundRect">
            <a:avLst>
              <a:gd name="adj" fmla="val 45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58784" y="301752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00">
                <a:solidFill>
                  <a:srgbClr val="FFFFFF"/>
                </a:solidFill>
                <a:latin typeface="Calibri"/>
              </a:rPr>
              <a:t>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58784" y="3520440"/>
            <a:ext cx="3182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1437"/>
                </a:solidFill>
                <a:latin typeface="Calibri"/>
              </a:rPr>
              <a:t>Mobile, multilingual, inclusive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58784" y="3977639"/>
            <a:ext cx="318211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Field workers with no desktop · Arabic/English · accessible self-service from day one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349240"/>
            <a:ext cx="11247120" cy="960120"/>
          </a:xfrm>
          <a:prstGeom prst="roundRect">
            <a:avLst>
              <a:gd name="adj" fmla="val 10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54864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2F6BFF"/>
                </a:solidFill>
                <a:latin typeface="Calibri"/>
              </a:rPr>
              <a:t>OUR MISSION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1">
                <a:solidFill>
                  <a:srgbClr val="0B1437"/>
                </a:solidFill>
                <a:latin typeface="Calibri"/>
              </a:rPr>
              <a:t>A single HR operating system that is statutory-correct, mobile-first and built for how Egyptian organisations actually work.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· Discovery Phase Sign-Off · PRX-DISC-SO-001 v1.2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03 · DISCOVERY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How we ran the six weeks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22860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80160" y="1600200"/>
            <a:ext cx="640080" cy="640080"/>
          </a:xfrm>
          <a:prstGeom prst="ellipse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77439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 spc="200">
                <a:solidFill>
                  <a:srgbClr val="0B1437"/>
                </a:solidFill>
                <a:latin typeface="Calibri"/>
              </a:rPr>
              <a:t>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B1437"/>
                </a:solidFill>
                <a:latin typeface="Consolas"/>
              </a:rP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54680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Charter, mandate, scope guardrails, stakeholder map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2715768" y="2852928"/>
            <a:ext cx="109728" cy="146304"/>
          </a:xfrm>
          <a:prstGeom prst="triangle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798064" y="1325880"/>
            <a:ext cx="22860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621024" y="1600200"/>
            <a:ext cx="640080" cy="64008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98064" y="160020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5224" y="2377439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 spc="200">
                <a:solidFill>
                  <a:srgbClr val="0B1437"/>
                </a:solidFill>
                <a:latin typeface="Calibri"/>
              </a:rPr>
              <a:t>LEARN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35224" y="27432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F6BFF"/>
                </a:solidFill>
                <a:latin typeface="Consolas"/>
              </a:rPr>
              <a:t>Week 2–3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26664" y="3154680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Interviews, shadowing, document + legacy review</a:t>
            </a:r>
          </a:p>
        </p:txBody>
      </p:sp>
      <p:sp>
        <p:nvSpPr>
          <p:cNvPr id="20" name="Isosceles Triangle 19"/>
          <p:cNvSpPr/>
          <p:nvPr/>
        </p:nvSpPr>
        <p:spPr>
          <a:xfrm rot="5400000">
            <a:off x="5056632" y="2852928"/>
            <a:ext cx="109728" cy="146304"/>
          </a:xfrm>
          <a:prstGeom prst="triangle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138928" y="1325880"/>
            <a:ext cx="22860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61888" y="1600200"/>
            <a:ext cx="640080" cy="640080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38928" y="160020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6088" y="2377439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 spc="200">
                <a:solidFill>
                  <a:srgbClr val="0B1437"/>
                </a:solidFill>
                <a:latin typeface="Calibri"/>
              </a:rPr>
              <a:t>WORKSHOP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27432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9D3C5"/>
                </a:solidFill>
                <a:latin typeface="Consolas"/>
              </a:rPr>
              <a:t>Week 3–4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8" y="3154680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Co-design sessions per module · pain points · process maps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7397496" y="2852928"/>
            <a:ext cx="109728" cy="146304"/>
          </a:xfrm>
          <a:prstGeom prst="triangle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479792" y="1325880"/>
            <a:ext cx="22860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302752" y="160020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79792" y="160020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6952" y="2377439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 spc="200">
                <a:solidFill>
                  <a:srgbClr val="0B1437"/>
                </a:solidFill>
                <a:latin typeface="Calibri"/>
              </a:rPr>
              <a:t>DOCUMENT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6952" y="27432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59E0B"/>
                </a:solidFill>
                <a:latin typeface="Consolas"/>
              </a:rPr>
              <a:t>Week 4–5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08392" y="3154680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22 BRDs · 55+ user stories · acceptance criteria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9738359" y="2852928"/>
            <a:ext cx="109728" cy="146304"/>
          </a:xfrm>
          <a:prstGeom prst="triangle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820656" y="1325880"/>
            <a:ext cx="22860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643616" y="1600200"/>
            <a:ext cx="640080" cy="6400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20656" y="160020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2377439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 spc="200">
                <a:solidFill>
                  <a:srgbClr val="0B1437"/>
                </a:solidFill>
                <a:latin typeface="Calibri"/>
              </a:rPr>
              <a:t>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57816" y="27432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2C55E"/>
                </a:solidFill>
                <a:latin typeface="Consolas"/>
              </a:rPr>
              <a:t>Week 6–7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49256" y="3154680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Reviewer sign-off · brand + roadmap · board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57200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DISCOVERY METRICS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846320"/>
            <a:ext cx="214884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57200" y="4846320"/>
            <a:ext cx="73152" cy="109728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5800" y="498348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B1437"/>
                </a:solidFill>
                <a:latin typeface="Calibri"/>
              </a:rPr>
              <a:t>32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53212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Stakeholder interviews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0" y="4846320"/>
            <a:ext cx="214884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743200" y="4846320"/>
            <a:ext cx="73152" cy="109728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971800" y="498348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B1437"/>
                </a:solidFill>
                <a:latin typeface="Calibri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71800" y="553212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Co-design workshops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0" y="4846320"/>
            <a:ext cx="214884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029200" y="4846320"/>
            <a:ext cx="73152" cy="109728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257800" y="498348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B1437"/>
                </a:solidFill>
                <a:latin typeface="Calibri"/>
              </a:rPr>
              <a:t>22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57800" y="553212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BRDs signed by reviewers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0" y="4846320"/>
            <a:ext cx="214884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315200" y="4846320"/>
            <a:ext cx="73152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543800" y="498348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B1437"/>
                </a:solidFill>
                <a:latin typeface="Calibri"/>
              </a:rPr>
              <a:t>160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43800" y="553212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Requirement decisions logged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601200" y="4846320"/>
            <a:ext cx="214884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601200" y="4846320"/>
            <a:ext cx="73152" cy="1097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829800" y="498348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B1437"/>
                </a:solidFill>
                <a:latin typeface="Calibri"/>
              </a:rPr>
              <a:t>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29800" y="553212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Artefact types produced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6172200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A99"/>
                </a:solidFill>
                <a:latin typeface="Calibri"/>
              </a:rPr>
              <a:t>All artefacts stored in /Praxion-HROS/ with dual-location mirrors under /Modules/M1–M13/.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· Discovery Phase Sign-Off · PRX-DISC-SO-001 v1.2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04 · STAKEHOLDERS &amp;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Who we spoke to — and who'll deliver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440680" cy="3931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40680" cy="4572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289304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alibri"/>
              </a:rPr>
              <a:t>STAKEHOLDERS CONSULTED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28930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onsolas"/>
              </a:rPr>
              <a:t>32 PEOPLE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011679"/>
            <a:ext cx="146304" cy="146304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1874519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Executive sponsors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148839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CEO, COO, CHRO · 4 people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146304" cy="146304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2514600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HR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788920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HR Director, HR Ops, Payroll, Benefits · 7 people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291840"/>
            <a:ext cx="146304" cy="146304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154680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Line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429000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Regional &amp; functional managers from pilot entities · 9 people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3931920"/>
            <a:ext cx="146304" cy="146304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3794760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Field &amp; frontline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069080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Site supervisors, contractor leads, multilingual reps · 6 people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572000"/>
            <a:ext cx="146304" cy="146304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4434840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Finance · Legal ·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709160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CFO, Legal Counsel, CIO/CISO · 6 people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1188720"/>
            <a:ext cx="5440680" cy="3931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1188720"/>
            <a:ext cx="5440680" cy="4572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1289304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80F2E6"/>
                </a:solidFill>
                <a:latin typeface="Calibri"/>
              </a:rPr>
              <a:t>CORE PROGRAMME TEAM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128930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80F2E6"/>
                </a:solidFill>
                <a:latin typeface="Consolas"/>
              </a:rPr>
              <a:t>6 FTE</a:t>
            </a:r>
          </a:p>
        </p:txBody>
      </p:sp>
      <p:sp>
        <p:nvSpPr>
          <p:cNvPr id="30" name="Oval 29"/>
          <p:cNvSpPr/>
          <p:nvPr/>
        </p:nvSpPr>
        <p:spPr>
          <a:xfrm>
            <a:off x="6583680" y="1993391"/>
            <a:ext cx="146304" cy="146304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0" y="1874519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Project Director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148839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Sabry M. · accountable end-to-end · board interface</a:t>
            </a:r>
          </a:p>
        </p:txBody>
      </p:sp>
      <p:sp>
        <p:nvSpPr>
          <p:cNvPr id="33" name="Oval 32"/>
          <p:cNvSpPr/>
          <p:nvPr/>
        </p:nvSpPr>
        <p:spPr>
          <a:xfrm>
            <a:off x="6583680" y="2519172"/>
            <a:ext cx="146304" cy="146304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0" y="2400300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HRIS Lead / Architect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2674620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Functional + data model ownership · M1, M3, M10</a:t>
            </a:r>
          </a:p>
        </p:txBody>
      </p:sp>
      <p:sp>
        <p:nvSpPr>
          <p:cNvPr id="36" name="Oval 35"/>
          <p:cNvSpPr/>
          <p:nvPr/>
        </p:nvSpPr>
        <p:spPr>
          <a:xfrm>
            <a:off x="6583680" y="3044952"/>
            <a:ext cx="146304" cy="146304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58000" y="2926080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Payroll Lead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3200400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Statutory, M6 · SIA / ETA / bank integrations</a:t>
            </a:r>
          </a:p>
        </p:txBody>
      </p:sp>
      <p:sp>
        <p:nvSpPr>
          <p:cNvPr id="39" name="Oval 38"/>
          <p:cNvSpPr/>
          <p:nvPr/>
        </p:nvSpPr>
        <p:spPr>
          <a:xfrm>
            <a:off x="6583680" y="3570732"/>
            <a:ext cx="146304" cy="146304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0" y="3451860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Talent &amp; Dev Lead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3726180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M2, M4, M5 · ATS, performance, learning</a:t>
            </a:r>
          </a:p>
        </p:txBody>
      </p:sp>
      <p:sp>
        <p:nvSpPr>
          <p:cNvPr id="42" name="Oval 41"/>
          <p:cNvSpPr/>
          <p:nvPr/>
        </p:nvSpPr>
        <p:spPr>
          <a:xfrm>
            <a:off x="6583680" y="4096512"/>
            <a:ext cx="146304" cy="146304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858000" y="3977640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Product + UX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4251960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M11 Mobile + cross-module design system</a:t>
            </a:r>
          </a:p>
        </p:txBody>
      </p:sp>
      <p:sp>
        <p:nvSpPr>
          <p:cNvPr id="45" name="Oval 44"/>
          <p:cNvSpPr/>
          <p:nvPr/>
        </p:nvSpPr>
        <p:spPr>
          <a:xfrm>
            <a:off x="6583680" y="4622292"/>
            <a:ext cx="146304" cy="146304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58000" y="4503420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Delivery + QA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4777740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Sprint cadence, release train, UAT coordination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303520"/>
            <a:ext cx="11247120" cy="1005840"/>
          </a:xfrm>
          <a:prstGeom prst="roundRect">
            <a:avLst>
              <a:gd name="adj" fmla="val 5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1520" y="542239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80F2E6"/>
                </a:solidFill>
                <a:latin typeface="Calibri"/>
              </a:rPr>
              <a:t>GOVERNANCE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57150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Steerco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971031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FEDE9"/>
                </a:solidFill>
                <a:latin typeface="Calibri"/>
              </a:rPr>
              <a:t>Monthly · CEO, CFO, CHRO, CIO · decisions + escalations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26280" y="57150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Working groups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26280" y="5971031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FEDE9"/>
                </a:solidFill>
                <a:latin typeface="Calibri"/>
              </a:rPr>
              <a:t>Weekly per module · functional owners + leads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57150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Review board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5971031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FEDE9"/>
                </a:solidFill>
                <a:latin typeface="Calibri"/>
              </a:rPr>
              <a:t>Quarterly · external HR + payroll reviewers + legal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· Discovery Phase Sign-Off · PRX-DISC-SO-001 v1.2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05 · CURRENT-STATE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What discovery revealed about the AS-IS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623560" cy="2286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91440" cy="2286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2011680" cy="347472"/>
          </a:xfrm>
          <a:prstGeom prst="roundRect">
            <a:avLst>
              <a:gd name="adj" fmla="val 4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80">
                <a:solidFill>
                  <a:srgbClr val="FFFFFF"/>
                </a:solidFill>
                <a:latin typeface="Calibri"/>
              </a:rPr>
              <a:t>FRAGMENTED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1437"/>
                </a:solidFill>
                <a:latin typeface="Calibri"/>
              </a:rPr>
              <a:t>7+ disconnected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31720"/>
            <a:ext cx="50749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Excel HRIS, paper personnel files, local payroll tool, WhatsApp leave requests, shared inboxes for expenses, a separate attendance biometric, legacy ATS spreadsheets — no single source of truth.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188720"/>
            <a:ext cx="5623560" cy="2286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188720"/>
            <a:ext cx="9144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37960" y="1417320"/>
            <a:ext cx="2011680" cy="347472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141732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80">
                <a:solidFill>
                  <a:srgbClr val="FFFFFF"/>
                </a:solidFill>
                <a:latin typeface="Calibri"/>
              </a:rPr>
              <a:t>MANUAL PROCESSES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920240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1437"/>
                </a:solidFill>
                <a:latin typeface="Calibri"/>
              </a:rPr>
              <a:t>High effort · low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331720"/>
            <a:ext cx="50749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Monthly payroll takes ~6 days per entity. Onboarding spans 3+ teams with no tracking. Leave approvals routed by WhatsApp and email screenshot — hard to audit, easy to lose.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611880"/>
            <a:ext cx="5623560" cy="2286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611880"/>
            <a:ext cx="9144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31520" y="3840480"/>
            <a:ext cx="2011680" cy="347472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384048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80">
                <a:solidFill>
                  <a:srgbClr val="FFFFFF"/>
                </a:solidFill>
                <a:latin typeface="Calibri"/>
              </a:rPr>
              <a:t>COMPLIANCE EXPOSURE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343400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1437"/>
                </a:solidFill>
                <a:latin typeface="Calibri"/>
              </a:rPr>
              <a:t>Audit-reactive, not audit-ready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54880"/>
            <a:ext cx="50749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SIA/ETA filings built ad-hoc each period. PDP Law 151/2020 DPIA has not been run. No central audit log for HR/payroll decisions. Contractor misclassification risk flagged by Legal.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611880"/>
            <a:ext cx="5623560" cy="2286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63640" y="3611880"/>
            <a:ext cx="91440" cy="2286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537960" y="3840480"/>
            <a:ext cx="2011680" cy="347472"/>
          </a:xfrm>
          <a:prstGeom prst="roundRect">
            <a:avLst>
              <a:gd name="adj" fmla="val 4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384048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80">
                <a:solidFill>
                  <a:srgbClr val="FFFFFF"/>
                </a:solidFill>
                <a:latin typeface="Calibri"/>
              </a:rPr>
              <a:t>FIELD WORKER GAP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343400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1437"/>
                </a:solidFill>
                <a:latin typeface="Calibri"/>
              </a:rPr>
              <a:t>~60% of people are excluded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754880"/>
            <a:ext cx="50749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Field, construction and retail staff have no desktop, limited connectivity, mixed literacy, and often operate in Arabic-only. Existing HR tools are desktop + English — they don't reach the majority of the workforce.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943600"/>
            <a:ext cx="11247120" cy="457200"/>
          </a:xfrm>
          <a:prstGeom prst="roundRect">
            <a:avLst>
              <a:gd name="adj" fmla="val 15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598932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80F2E6"/>
                </a:solidFill>
                <a:latin typeface="Calibri"/>
              </a:rPr>
              <a:t>"We are not short of effort — we are short of a system. Every month we rebuild the same payroll by hand."  — HR Director interview, Mar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· Discovery Phase Sign-Off · PRX-DISC-SO-001 v1.2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06 · FUTURE-STATE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One Praxion HROS — four design principles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1143000"/>
          </a:xfrm>
          <a:prstGeom prst="roundRect">
            <a:avLst>
              <a:gd name="adj" fmla="val 5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80F2E6"/>
                </a:solidFill>
                <a:latin typeface="Calibri"/>
              </a:rPr>
              <a:t>THE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An integrated HR operating system where the system of record, workflows, payroll, talent and analytics share one data model — accessible to every employee on mobile, in their language, with compliance built 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06040"/>
            <a:ext cx="2761488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606040"/>
            <a:ext cx="2761488" cy="9144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80">
                <a:solidFill>
                  <a:srgbClr val="2F6BFF"/>
                </a:solidFill>
                <a:latin typeface="Calibri"/>
              </a:rPr>
              <a:t>SINGLE SOURCE OF TRUTH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23957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437"/>
                </a:solidFill>
                <a:latin typeface="Calibri"/>
              </a:rPr>
              <a:t>One data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11880"/>
            <a:ext cx="239572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Employee, org, contract, time, pay all live in one schema · every module reads and writes it · one audit trail.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606040"/>
            <a:ext cx="2761488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37560" y="2606040"/>
            <a:ext cx="2761488" cy="9144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20440" y="2834640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80">
                <a:solidFill>
                  <a:srgbClr val="19D3C5"/>
                </a:solidFill>
                <a:latin typeface="Calibri"/>
              </a:rPr>
              <a:t>SELF-SERVICE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108960"/>
            <a:ext cx="23957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437"/>
                </a:solidFill>
                <a:latin typeface="Calibri"/>
              </a:rPr>
              <a:t>Employee is the actor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611880"/>
            <a:ext cx="239572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Requests, approvals, updates, docs, learning, goals — employees and managers act directly on mobile or web.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606040"/>
            <a:ext cx="2761488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2606040"/>
            <a:ext cx="276148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2834640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80">
                <a:solidFill>
                  <a:srgbClr val="F59E0B"/>
                </a:solidFill>
                <a:latin typeface="Calibri"/>
              </a:rPr>
              <a:t>AUTOMATION BY DEFAULT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108960"/>
            <a:ext cx="23957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437"/>
                </a:solidFill>
                <a:latin typeface="Calibri"/>
              </a:rPr>
              <a:t>Workflows, not tickets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611880"/>
            <a:ext cx="239572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JML, payroll run, onboarding journey, expenses — codified workflows with SLAs, escalations, and auditable outcomes.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2606040"/>
            <a:ext cx="2761488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98280" y="2606040"/>
            <a:ext cx="2761488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81159" y="2834640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80">
                <a:solidFill>
                  <a:srgbClr val="22C55E"/>
                </a:solidFill>
                <a:latin typeface="Calibri"/>
              </a:rPr>
              <a:t>COMPLIANCE BY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59" y="3108960"/>
            <a:ext cx="23957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437"/>
                </a:solidFill>
                <a:latin typeface="Calibri"/>
              </a:rPr>
              <a:t>Statutory + privacy native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59" y="3611880"/>
            <a:ext cx="239572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Egyptian payroll, SIA/ETA, PDP Law 151/2020, banking files, audit log — shipped in the platform, not bolted 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846320"/>
            <a:ext cx="11247120" cy="1463040"/>
          </a:xfrm>
          <a:prstGeom prst="roundRect">
            <a:avLst>
              <a:gd name="adj" fmla="val 6000"/>
            </a:avLst>
          </a:prstGeom>
          <a:solidFill>
            <a:srgbClr val="E8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4983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2F6BFF"/>
                </a:solidFill>
                <a:latin typeface="Calibri"/>
              </a:rPr>
              <a:t>WHAT CHANGES FOR THE BUSINESS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303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75569"/>
                </a:solidFill>
                <a:latin typeface="Calibri"/>
              </a:rPr>
              <a:t>Payroll cycle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62356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437"/>
                </a:solidFill>
                <a:latin typeface="Calibri"/>
              </a:rPr>
              <a:t>6 days → 1 day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5303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75569"/>
                </a:solidFill>
                <a:latin typeface="Calibri"/>
              </a:rPr>
              <a:t>Onboarding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562356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437"/>
                </a:solidFill>
                <a:latin typeface="Calibri"/>
              </a:rPr>
              <a:t>Fragmented → single 10-day journey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303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75569"/>
                </a:solidFill>
                <a:latin typeface="Calibri"/>
              </a:rPr>
              <a:t>Field adoption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562356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437"/>
                </a:solidFill>
                <a:latin typeface="Calibri"/>
              </a:rPr>
              <a:t>~0% → Day-1 Arabic mobile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5303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75569"/>
                </a:solidFill>
                <a:latin typeface="Calibri"/>
              </a:rPr>
              <a:t>Audit-readiness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562356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1437"/>
                </a:solidFill>
                <a:latin typeface="Calibri"/>
              </a:rPr>
              <a:t>Reactive → real-time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· Discovery Phase Sign-Off · PRX-DISC-SO-001 v1.2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07 · DISCOVERY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B1437"/>
                </a:solidFill>
                <a:latin typeface="Calibri"/>
              </a:rPr>
              <a:t>What six weeks of discovery produced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26060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73152" cy="100584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344168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B1437"/>
                </a:solidFill>
                <a:latin typeface="Calibr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2F6BFF"/>
                </a:solidFill>
                <a:latin typeface="Calibri"/>
              </a:rPr>
              <a:t>MODULES SCOPED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29968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M1–M13 with functional maps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234440"/>
            <a:ext cx="26060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46120" y="1234440"/>
            <a:ext cx="73152" cy="100584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29000" y="1344168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B1437"/>
                </a:solidFill>
                <a:latin typeface="Calibri"/>
              </a:rPr>
              <a:t>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1828800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2F6BFF"/>
                </a:solidFill>
                <a:latin typeface="Calibri"/>
              </a:rPr>
              <a:t>BRDs WRITTEN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029968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Business Requirements, signed reviewers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1234440"/>
            <a:ext cx="26060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35040" y="1234440"/>
            <a:ext cx="73152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1344168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B1437"/>
                </a:solidFill>
                <a:latin typeface="Calibri"/>
              </a:rPr>
              <a:t>55+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828800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2F6BFF"/>
                </a:solidFill>
                <a:latin typeface="Calibri"/>
              </a:rPr>
              <a:t>CAPABILITIES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029968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Defined for Phase 1 NOW pillar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1234440"/>
            <a:ext cx="26060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23960" y="1234440"/>
            <a:ext cx="73152" cy="100584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06840" y="1344168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B1437"/>
                </a:solidFill>
                <a:latin typeface="Calibri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1828800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2F6BFF"/>
                </a:solidFill>
                <a:latin typeface="Calibri"/>
              </a:rPr>
              <a:t>STORIES WRITTEN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029968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All user stories validated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46888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DISCOVERY ACTIVITIES  ·  MARCH → APRIL 2026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023359"/>
            <a:ext cx="11274552" cy="36576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152797" y="3931919"/>
            <a:ext cx="219456" cy="219456"/>
          </a:xfrm>
          <a:prstGeom prst="ellipse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2971800"/>
            <a:ext cx="161065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150">
                <a:solidFill>
                  <a:srgbClr val="0B1437"/>
                </a:solidFill>
                <a:latin typeface="Calibri"/>
              </a:rPr>
              <a:t>W1-2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3218688"/>
            <a:ext cx="157407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Kick-off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434840"/>
            <a:ext cx="16106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03 Mar '26</a:t>
            </a:r>
          </a:p>
        </p:txBody>
      </p:sp>
      <p:sp>
        <p:nvSpPr>
          <p:cNvPr id="33" name="Oval 32"/>
          <p:cNvSpPr/>
          <p:nvPr/>
        </p:nvSpPr>
        <p:spPr>
          <a:xfrm>
            <a:off x="2763447" y="3931919"/>
            <a:ext cx="219456" cy="219456"/>
          </a:xfrm>
          <a:prstGeom prst="ellipse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067850" y="2971800"/>
            <a:ext cx="161065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150">
                <a:solidFill>
                  <a:srgbClr val="1E2A5E"/>
                </a:solidFill>
                <a:latin typeface="Calibri"/>
              </a:rPr>
              <a:t>W2-3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86138" y="3218688"/>
            <a:ext cx="157407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Research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67850" y="4434840"/>
            <a:ext cx="16106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10 Mar '26</a:t>
            </a:r>
          </a:p>
        </p:txBody>
      </p:sp>
      <p:sp>
        <p:nvSpPr>
          <p:cNvPr id="37" name="Oval 36"/>
          <p:cNvSpPr/>
          <p:nvPr/>
        </p:nvSpPr>
        <p:spPr>
          <a:xfrm>
            <a:off x="4319233" y="3877055"/>
            <a:ext cx="329184" cy="329184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78500" y="2971800"/>
            <a:ext cx="161065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150">
                <a:solidFill>
                  <a:srgbClr val="2F6BFF"/>
                </a:solidFill>
                <a:latin typeface="Calibri"/>
              </a:rPr>
              <a:t>W3-4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96788" y="3218688"/>
            <a:ext cx="157407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Workshops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78500" y="4434840"/>
            <a:ext cx="16106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17 Mar '26</a:t>
            </a:r>
          </a:p>
        </p:txBody>
      </p:sp>
      <p:sp>
        <p:nvSpPr>
          <p:cNvPr id="41" name="Oval 40"/>
          <p:cNvSpPr/>
          <p:nvPr/>
        </p:nvSpPr>
        <p:spPr>
          <a:xfrm>
            <a:off x="5929884" y="3877055"/>
            <a:ext cx="329184" cy="329184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89150" y="2971800"/>
            <a:ext cx="161065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150">
                <a:solidFill>
                  <a:srgbClr val="19D3C5"/>
                </a:solidFill>
                <a:latin typeface="Calibri"/>
              </a:rPr>
              <a:t>W4-5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7438" y="3218688"/>
            <a:ext cx="157407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BRDs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89150" y="4434840"/>
            <a:ext cx="16106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24 Mar '26</a:t>
            </a:r>
          </a:p>
        </p:txBody>
      </p:sp>
      <p:sp>
        <p:nvSpPr>
          <p:cNvPr id="45" name="Oval 44"/>
          <p:cNvSpPr/>
          <p:nvPr/>
        </p:nvSpPr>
        <p:spPr>
          <a:xfrm>
            <a:off x="7540534" y="3877055"/>
            <a:ext cx="329184" cy="329184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99801" y="2971800"/>
            <a:ext cx="161065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150">
                <a:solidFill>
                  <a:srgbClr val="19D3C5"/>
                </a:solidFill>
                <a:latin typeface="Calibri"/>
              </a:rPr>
              <a:t>W5-6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18089" y="3218688"/>
            <a:ext cx="157407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User stories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99801" y="4434840"/>
            <a:ext cx="16106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02 Apr '26</a:t>
            </a:r>
          </a:p>
        </p:txBody>
      </p:sp>
      <p:sp>
        <p:nvSpPr>
          <p:cNvPr id="49" name="Oval 48"/>
          <p:cNvSpPr/>
          <p:nvPr/>
        </p:nvSpPr>
        <p:spPr>
          <a:xfrm>
            <a:off x="9206048" y="3931919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510451" y="2971800"/>
            <a:ext cx="161065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150">
                <a:solidFill>
                  <a:srgbClr val="F59E0B"/>
                </a:solidFill>
                <a:latin typeface="Calibri"/>
              </a:rPr>
              <a:t>W6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28739" y="3218688"/>
            <a:ext cx="157407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Artefacts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10451" y="4434840"/>
            <a:ext cx="16106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10 Apr '26</a:t>
            </a:r>
          </a:p>
        </p:txBody>
      </p:sp>
      <p:sp>
        <p:nvSpPr>
          <p:cNvPr id="53" name="Oval 52"/>
          <p:cNvSpPr/>
          <p:nvPr/>
        </p:nvSpPr>
        <p:spPr>
          <a:xfrm>
            <a:off x="10761834" y="3877055"/>
            <a:ext cx="329184" cy="32918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121101" y="2971800"/>
            <a:ext cx="161065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150">
                <a:solidFill>
                  <a:srgbClr val="22C55E"/>
                </a:solidFill>
                <a:latin typeface="Calibri"/>
              </a:rPr>
              <a:t>W7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39389" y="3218688"/>
            <a:ext cx="157407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Sign-off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21101" y="4434840"/>
            <a:ext cx="16106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21 Apr '26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2F6BFF"/>
                </a:solidFill>
                <a:latin typeface="Calibri"/>
              </a:rPr>
              <a:t>ARTEFACTS PRODUCED  ·  ALL IN /PRAXION-HROS/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" y="5376672"/>
            <a:ext cx="960120" cy="256032"/>
          </a:xfrm>
          <a:prstGeom prst="roundRect">
            <a:avLst>
              <a:gd name="adj" fmla="val 40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57200" y="5394959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120">
                <a:solidFill>
                  <a:srgbClr val="80F2E6"/>
                </a:solidFill>
                <a:latin typeface="Calibri"/>
              </a:rPr>
              <a:t>BRDS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54480" y="5394959"/>
            <a:ext cx="2606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22 BRD docs · M1–M13 (some with v2–v4)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206240" y="5376672"/>
            <a:ext cx="960120" cy="256032"/>
          </a:xfrm>
          <a:prstGeom prst="roundRect">
            <a:avLst>
              <a:gd name="adj" fmla="val 40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206240" y="5394959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120">
                <a:solidFill>
                  <a:srgbClr val="80F2E6"/>
                </a:solidFill>
                <a:latin typeface="Calibri"/>
              </a:rPr>
              <a:t>USER STORIES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03520" y="5394959"/>
            <a:ext cx="2606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All M1 stories + Recruitment, Onboarding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955279" y="5376672"/>
            <a:ext cx="960120" cy="256032"/>
          </a:xfrm>
          <a:prstGeom prst="roundRect">
            <a:avLst>
              <a:gd name="adj" fmla="val 40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955279" y="5394959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120">
                <a:solidFill>
                  <a:srgbClr val="80F2E6"/>
                </a:solidFill>
                <a:latin typeface="Calibri"/>
              </a:rPr>
              <a:t>ORG CHART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59" y="5394959"/>
            <a:ext cx="2606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Stakeholder map · RACI seeds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" y="5971032"/>
            <a:ext cx="960120" cy="256032"/>
          </a:xfrm>
          <a:prstGeom prst="roundRect">
            <a:avLst>
              <a:gd name="adj" fmla="val 40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57200" y="5989320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120">
                <a:solidFill>
                  <a:srgbClr val="80F2E6"/>
                </a:solidFill>
                <a:latin typeface="Calibri"/>
              </a:rPr>
              <a:t>WORKFLOWS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54480" y="5989320"/>
            <a:ext cx="2606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Process maps · journey references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206240" y="5971032"/>
            <a:ext cx="960120" cy="256032"/>
          </a:xfrm>
          <a:prstGeom prst="roundRect">
            <a:avLst>
              <a:gd name="adj" fmla="val 40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206240" y="5989320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120">
                <a:solidFill>
                  <a:srgbClr val="80F2E6"/>
                </a:solidFill>
                <a:latin typeface="Calibri"/>
              </a:rPr>
              <a:t>BRAND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03520" y="5989320"/>
            <a:ext cx="2606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Guidelines v2.0 · logos · presentation style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955279" y="5971032"/>
            <a:ext cx="960120" cy="256032"/>
          </a:xfrm>
          <a:prstGeom prst="roundRect">
            <a:avLst>
              <a:gd name="adj" fmla="val 40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955279" y="5989320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120">
                <a:solidFill>
                  <a:srgbClr val="80F2E6"/>
                </a:solidFill>
                <a:latin typeface="Calibri"/>
              </a:rPr>
              <a:t>ROADMAP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52559" y="5989320"/>
            <a:ext cx="2606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11 phase gates · go-live 14 Mar 2027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· Discovery Phase Sign-Off · PRX-DISC-SO-001 v1.2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08 · SCOPE CONFIRMED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All 13 modules documented, grouped by function</a:t>
            </a:r>
          </a:p>
        </p:txBody>
      </p:sp>
      <p:sp>
        <p:nvSpPr>
          <p:cNvPr id="7" name="Oval 6"/>
          <p:cNvSpPr/>
          <p:nvPr/>
        </p:nvSpPr>
        <p:spPr>
          <a:xfrm>
            <a:off x="6126480" y="393192"/>
            <a:ext cx="146304" cy="146304"/>
          </a:xfrm>
          <a:prstGeom prst="ellipse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320040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Foundation</a:t>
            </a:r>
          </a:p>
        </p:txBody>
      </p:sp>
      <p:sp>
        <p:nvSpPr>
          <p:cNvPr id="9" name="Oval 8"/>
          <p:cNvSpPr/>
          <p:nvPr/>
        </p:nvSpPr>
        <p:spPr>
          <a:xfrm>
            <a:off x="7269480" y="393192"/>
            <a:ext cx="146304" cy="146304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52360" y="320040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People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0" y="393192"/>
            <a:ext cx="146304" cy="146304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59" y="320040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Money</a:t>
            </a:r>
          </a:p>
        </p:txBody>
      </p:sp>
      <p:sp>
        <p:nvSpPr>
          <p:cNvPr id="13" name="Oval 12"/>
          <p:cNvSpPr/>
          <p:nvPr/>
        </p:nvSpPr>
        <p:spPr>
          <a:xfrm>
            <a:off x="9555480" y="393192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38359" y="320040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Intelligence</a:t>
            </a:r>
          </a:p>
        </p:txBody>
      </p:sp>
      <p:sp>
        <p:nvSpPr>
          <p:cNvPr id="15" name="Oval 14"/>
          <p:cNvSpPr/>
          <p:nvPr/>
        </p:nvSpPr>
        <p:spPr>
          <a:xfrm>
            <a:off x="10698480" y="393192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881359" y="320040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75569"/>
                </a:solidFill>
                <a:latin typeface="Calibri"/>
              </a:rPr>
              <a:t>Access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234440"/>
            <a:ext cx="374903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1234440"/>
            <a:ext cx="91440" cy="9601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85800" y="1417320"/>
            <a:ext cx="594360" cy="320040"/>
          </a:xfrm>
          <a:prstGeom prst="roundRect">
            <a:avLst>
              <a:gd name="adj" fmla="val 35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1399032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Core HRIS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1737360"/>
            <a:ext cx="26517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Employee system of record · JML workflows</a:t>
            </a:r>
          </a:p>
        </p:txBody>
      </p:sp>
      <p:sp>
        <p:nvSpPr>
          <p:cNvPr id="23" name="Oval 22"/>
          <p:cNvSpPr/>
          <p:nvPr/>
        </p:nvSpPr>
        <p:spPr>
          <a:xfrm>
            <a:off x="3794759" y="1417320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94759" y="141732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1234440"/>
            <a:ext cx="374903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43400" y="1234440"/>
            <a:ext cx="91440" cy="9601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572000" y="1417320"/>
            <a:ext cx="594360" cy="320040"/>
          </a:xfrm>
          <a:prstGeom prst="roundRect">
            <a:avLst>
              <a:gd name="adj" fmla="val 35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0" y="1417320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1399032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System Admin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7800" y="1737360"/>
            <a:ext cx="26517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Identity · RBAC · audit log</a:t>
            </a:r>
          </a:p>
        </p:txBody>
      </p:sp>
      <p:sp>
        <p:nvSpPr>
          <p:cNvPr id="31" name="Oval 30"/>
          <p:cNvSpPr/>
          <p:nvPr/>
        </p:nvSpPr>
        <p:spPr>
          <a:xfrm>
            <a:off x="7680960" y="1417320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80960" y="141732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1234440"/>
            <a:ext cx="374903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229600" y="1234440"/>
            <a:ext cx="91440" cy="9601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458200" y="1417320"/>
            <a:ext cx="594360" cy="320040"/>
          </a:xfrm>
          <a:prstGeom prst="roundRect">
            <a:avLst>
              <a:gd name="adj" fmla="val 3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58200" y="1417320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1399032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Recruitment / ATS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1737360"/>
            <a:ext cx="26517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Requisitions → offer · talent pool</a:t>
            </a:r>
          </a:p>
        </p:txBody>
      </p:sp>
      <p:sp>
        <p:nvSpPr>
          <p:cNvPr id="39" name="Oval 38"/>
          <p:cNvSpPr/>
          <p:nvPr/>
        </p:nvSpPr>
        <p:spPr>
          <a:xfrm>
            <a:off x="11567160" y="1417320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567160" y="141732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2313432"/>
            <a:ext cx="374903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7200" y="2313432"/>
            <a:ext cx="91440" cy="9601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85800" y="2496312"/>
            <a:ext cx="594360" cy="320040"/>
          </a:xfrm>
          <a:prstGeom prst="roundRect">
            <a:avLst>
              <a:gd name="adj" fmla="val 3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5800" y="2496312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2478024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Onboarding / Off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2816352"/>
            <a:ext cx="26517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Day-1 journeys · offboarding checklists</a:t>
            </a:r>
          </a:p>
        </p:txBody>
      </p:sp>
      <p:sp>
        <p:nvSpPr>
          <p:cNvPr id="47" name="Oval 46"/>
          <p:cNvSpPr/>
          <p:nvPr/>
        </p:nvSpPr>
        <p:spPr>
          <a:xfrm>
            <a:off x="3794759" y="2496312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794759" y="249631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43400" y="2313432"/>
            <a:ext cx="374903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343400" y="2313432"/>
            <a:ext cx="91440" cy="9601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4572000" y="2496312"/>
            <a:ext cx="594360" cy="320040"/>
          </a:xfrm>
          <a:prstGeom prst="roundRect">
            <a:avLst>
              <a:gd name="adj" fmla="val 3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572000" y="2496312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57800" y="2478024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Performance / KPIs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57800" y="2816352"/>
            <a:ext cx="26517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Goals · check-ins · reviews</a:t>
            </a:r>
          </a:p>
        </p:txBody>
      </p:sp>
      <p:sp>
        <p:nvSpPr>
          <p:cNvPr id="55" name="Oval 54"/>
          <p:cNvSpPr/>
          <p:nvPr/>
        </p:nvSpPr>
        <p:spPr>
          <a:xfrm>
            <a:off x="7680960" y="2496312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680960" y="249631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29600" y="2313432"/>
            <a:ext cx="374903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229600" y="2313432"/>
            <a:ext cx="91440" cy="9601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8458200" y="2496312"/>
            <a:ext cx="594360" cy="320040"/>
          </a:xfrm>
          <a:prstGeom prst="roundRect">
            <a:avLst>
              <a:gd name="adj" fmla="val 3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458200" y="2496312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0" y="2478024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Training / LMS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0" y="2816352"/>
            <a:ext cx="26517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Catalogue · enrollments · completions</a:t>
            </a:r>
          </a:p>
        </p:txBody>
      </p:sp>
      <p:sp>
        <p:nvSpPr>
          <p:cNvPr id="63" name="Oval 62"/>
          <p:cNvSpPr/>
          <p:nvPr/>
        </p:nvSpPr>
        <p:spPr>
          <a:xfrm>
            <a:off x="11567160" y="2496312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1567160" y="249631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7200" y="3392424"/>
            <a:ext cx="374903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457200" y="3392424"/>
            <a:ext cx="91440" cy="9601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685800" y="3575304"/>
            <a:ext cx="594360" cy="320040"/>
          </a:xfrm>
          <a:prstGeom prst="roundRect">
            <a:avLst>
              <a:gd name="adj" fmla="val 35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85800" y="3575304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71600" y="3557016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Payroll &amp; Comp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371600" y="3895344"/>
            <a:ext cx="26517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Egyptian statutory payroll · payslips</a:t>
            </a:r>
          </a:p>
        </p:txBody>
      </p:sp>
      <p:sp>
        <p:nvSpPr>
          <p:cNvPr id="71" name="Oval 70"/>
          <p:cNvSpPr/>
          <p:nvPr/>
        </p:nvSpPr>
        <p:spPr>
          <a:xfrm>
            <a:off x="3794759" y="3575304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794759" y="357530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343400" y="3392424"/>
            <a:ext cx="374903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4343400" y="3392424"/>
            <a:ext cx="91440" cy="9601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4572000" y="3575304"/>
            <a:ext cx="594360" cy="320040"/>
          </a:xfrm>
          <a:prstGeom prst="roundRect">
            <a:avLst>
              <a:gd name="adj" fmla="val 35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572000" y="3575304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57800" y="3557016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Benefits &amp; Expenses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57800" y="3895344"/>
            <a:ext cx="26517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Entitlements · claims · reimbursement</a:t>
            </a:r>
          </a:p>
        </p:txBody>
      </p:sp>
      <p:sp>
        <p:nvSpPr>
          <p:cNvPr id="79" name="Oval 78"/>
          <p:cNvSpPr/>
          <p:nvPr/>
        </p:nvSpPr>
        <p:spPr>
          <a:xfrm>
            <a:off x="7680960" y="3575304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680960" y="357530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229600" y="3392424"/>
            <a:ext cx="374903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229600" y="3392424"/>
            <a:ext cx="91440" cy="9601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8458200" y="3575304"/>
            <a:ext cx="594360" cy="320040"/>
          </a:xfrm>
          <a:prstGeom prst="roundRect">
            <a:avLst>
              <a:gd name="adj" fmla="val 35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458200" y="3575304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44000" y="3557016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Contractor Mgmt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44000" y="3895344"/>
            <a:ext cx="26517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Non-employee workforce · SOW · billing</a:t>
            </a:r>
          </a:p>
        </p:txBody>
      </p:sp>
      <p:sp>
        <p:nvSpPr>
          <p:cNvPr id="87" name="Oval 86"/>
          <p:cNvSpPr/>
          <p:nvPr/>
        </p:nvSpPr>
        <p:spPr>
          <a:xfrm>
            <a:off x="11567160" y="3575304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1567160" y="357530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57200" y="4471416"/>
            <a:ext cx="374903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457200" y="4471416"/>
            <a:ext cx="91440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685800" y="4654296"/>
            <a:ext cx="594360" cy="320040"/>
          </a:xfrm>
          <a:prstGeom prst="roundRect">
            <a:avLst>
              <a:gd name="adj" fmla="val 3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85800" y="4654296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371600" y="4636008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Analytics &amp; Reports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371600" y="4974336"/>
            <a:ext cx="26517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Pre-built dashboards · export</a:t>
            </a:r>
          </a:p>
        </p:txBody>
      </p:sp>
      <p:sp>
        <p:nvSpPr>
          <p:cNvPr id="95" name="Oval 94"/>
          <p:cNvSpPr/>
          <p:nvPr/>
        </p:nvSpPr>
        <p:spPr>
          <a:xfrm>
            <a:off x="3794759" y="4654296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3794759" y="465429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343400" y="4471416"/>
            <a:ext cx="374903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4343400" y="4471416"/>
            <a:ext cx="9144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4572000" y="4654296"/>
            <a:ext cx="594360" cy="320040"/>
          </a:xfrm>
          <a:prstGeom prst="roundRect">
            <a:avLst>
              <a:gd name="adj" fmla="val 3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572000" y="4654296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M11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257800" y="4636008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Mobile App (ESS)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257800" y="4974336"/>
            <a:ext cx="26517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Self-service on iOS + Android</a:t>
            </a:r>
          </a:p>
        </p:txBody>
      </p:sp>
      <p:sp>
        <p:nvSpPr>
          <p:cNvPr id="103" name="Oval 102"/>
          <p:cNvSpPr/>
          <p:nvPr/>
        </p:nvSpPr>
        <p:spPr>
          <a:xfrm>
            <a:off x="7680960" y="4654296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680960" y="465429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229600" y="4471416"/>
            <a:ext cx="374903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8229600" y="4471416"/>
            <a:ext cx="9144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8458200" y="4654296"/>
            <a:ext cx="594360" cy="320040"/>
          </a:xfrm>
          <a:prstGeom prst="roundRect">
            <a:avLst>
              <a:gd name="adj" fmla="val 3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8458200" y="4654296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M12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44000" y="4636008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Client Portal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144000" y="4974336"/>
            <a:ext cx="26517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Multi-tenant client onboarding (Phase 2)</a:t>
            </a:r>
          </a:p>
        </p:txBody>
      </p:sp>
      <p:sp>
        <p:nvSpPr>
          <p:cNvPr id="111" name="Oval 110"/>
          <p:cNvSpPr/>
          <p:nvPr/>
        </p:nvSpPr>
        <p:spPr>
          <a:xfrm>
            <a:off x="11567160" y="4654296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1567160" y="465429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457200" y="5550408"/>
            <a:ext cx="374903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457200" y="5550408"/>
            <a:ext cx="9144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ounded Rectangle 114"/>
          <p:cNvSpPr/>
          <p:nvPr/>
        </p:nvSpPr>
        <p:spPr>
          <a:xfrm>
            <a:off x="685800" y="5733288"/>
            <a:ext cx="594360" cy="320040"/>
          </a:xfrm>
          <a:prstGeom prst="roundRect">
            <a:avLst>
              <a:gd name="adj" fmla="val 3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685800" y="5733288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M13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371600" y="571500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1437"/>
                </a:solidFill>
                <a:latin typeface="Calibri"/>
              </a:rPr>
              <a:t>Billing &amp; Invoicing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371600" y="6053328"/>
            <a:ext cx="26517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Revenue contracts · invoice generation</a:t>
            </a:r>
          </a:p>
        </p:txBody>
      </p:sp>
      <p:sp>
        <p:nvSpPr>
          <p:cNvPr id="119" name="Oval 118"/>
          <p:cNvSpPr/>
          <p:nvPr/>
        </p:nvSpPr>
        <p:spPr>
          <a:xfrm>
            <a:off x="3794759" y="5733288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794759" y="573328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· Discovery Phase Sign-Off · PRX-DISC-SO-001 v1.2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09 · PHASE 1 COMMITMENTS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What Phase 1 will deliver — by time horizon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365760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3657600" cy="54864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307592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527048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Apr 2026 – Mar 2027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130552"/>
            <a:ext cx="128016" cy="128016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01168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Employee system of record + org chart + JML workflows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953512"/>
            <a:ext cx="128016" cy="128016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83464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Monthly Egyptian payroll + statutory reports + payslips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776472"/>
            <a:ext cx="128016" cy="128016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65760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ATS: requisitions → offer · Onboarding journeys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599432"/>
            <a:ext cx="128016" cy="128016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48056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Performance / OKRs · Learning catalogue · Benefits &amp; expenses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422392"/>
            <a:ext cx="128016" cy="128016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530352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Pre-built HR dashboards · ESS web + mobile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1234440"/>
            <a:ext cx="365760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97680" y="1234440"/>
            <a:ext cx="3657600" cy="54864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1307592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1527048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Apr 2027 – Dec 2027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0" y="2130552"/>
            <a:ext cx="128016" cy="128016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00600" y="201168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Client Portal GA · multi-tenant client onboarding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0" y="2953512"/>
            <a:ext cx="128016" cy="128016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00600" y="283464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Multi-country payroll (GCC) · variable pay · comp-review</a:t>
            </a:r>
          </a:p>
        </p:txBody>
      </p:sp>
      <p:sp>
        <p:nvSpPr>
          <p:cNvPr id="29" name="Oval 28"/>
          <p:cNvSpPr/>
          <p:nvPr/>
        </p:nvSpPr>
        <p:spPr>
          <a:xfrm>
            <a:off x="4572000" y="3776472"/>
            <a:ext cx="128016" cy="128016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00600" y="365760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Self-serve report builder · scheduled distribution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0" y="4599432"/>
            <a:ext cx="128016" cy="128016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00600" y="448056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Continuous check-ins · calibration · competency frameworks</a:t>
            </a:r>
          </a:p>
        </p:txBody>
      </p:sp>
      <p:sp>
        <p:nvSpPr>
          <p:cNvPr id="33" name="Oval 32"/>
          <p:cNvSpPr/>
          <p:nvPr/>
        </p:nvSpPr>
        <p:spPr>
          <a:xfrm>
            <a:off x="4572000" y="5422392"/>
            <a:ext cx="128016" cy="128016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00600" y="530352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Offline mobile for timesheets / expenses · biometric unlock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1234440"/>
            <a:ext cx="365760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38160" y="1234440"/>
            <a:ext cx="365760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12480" y="1307592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FFFFFF"/>
                </a:solidFill>
                <a:latin typeface="Calibri"/>
              </a:rPr>
              <a:t>LATER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1527048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2028 and beyond</a:t>
            </a:r>
          </a:p>
        </p:txBody>
      </p:sp>
      <p:sp>
        <p:nvSpPr>
          <p:cNvPr id="39" name="Oval 38"/>
          <p:cNvSpPr/>
          <p:nvPr/>
        </p:nvSpPr>
        <p:spPr>
          <a:xfrm>
            <a:off x="8412480" y="2130552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41080" y="201168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AI-assisted org design · predictive attrition · skills graph</a:t>
            </a:r>
          </a:p>
        </p:txBody>
      </p:sp>
      <p:sp>
        <p:nvSpPr>
          <p:cNvPr id="41" name="Oval 40"/>
          <p:cNvSpPr/>
          <p:nvPr/>
        </p:nvSpPr>
        <p:spPr>
          <a:xfrm>
            <a:off x="8412480" y="2953512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41080" y="283464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AI screening &amp; ranking · video-interview analytics</a:t>
            </a:r>
          </a:p>
        </p:txBody>
      </p:sp>
      <p:sp>
        <p:nvSpPr>
          <p:cNvPr id="43" name="Oval 42"/>
          <p:cNvSpPr/>
          <p:nvPr/>
        </p:nvSpPr>
        <p:spPr>
          <a:xfrm>
            <a:off x="8412480" y="3776472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41080" y="365760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Talent marketplace · succession planning · equity / LTI</a:t>
            </a:r>
          </a:p>
        </p:txBody>
      </p:sp>
      <p:sp>
        <p:nvSpPr>
          <p:cNvPr id="45" name="Oval 44"/>
          <p:cNvSpPr/>
          <p:nvPr/>
        </p:nvSpPr>
        <p:spPr>
          <a:xfrm>
            <a:off x="8412480" y="4599432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641080" y="448056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Natural-language analytics · benchmarking datasets</a:t>
            </a:r>
          </a:p>
        </p:txBody>
      </p:sp>
      <p:sp>
        <p:nvSpPr>
          <p:cNvPr id="47" name="Oval 46"/>
          <p:cNvSpPr/>
          <p:nvPr/>
        </p:nvSpPr>
        <p:spPr>
          <a:xfrm>
            <a:off x="8412480" y="5422392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641080" y="530352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Agentic HR chatbot · life-event journeys · voice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263640"/>
            <a:ext cx="11247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12 product pillars  ·  55+ capabilities in NOW  ·  Full backlog: /Modules/M1–M13/User-Stories/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· Discovery Phase Sign-Off · PRX-DISC-SO-001 v1.2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10 · PHASE 1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11 months · eight gates · go-live 14 Mar 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00400"/>
            <a:ext cx="11274552" cy="54864"/>
          </a:xfrm>
          <a:prstGeom prst="rect">
            <a:avLst/>
          </a:prstGeom>
          <a:solidFill>
            <a:srgbClr val="D5D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9835" y="3063239"/>
            <a:ext cx="384048" cy="384048"/>
          </a:xfrm>
          <a:prstGeom prst="ellipse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835" y="306323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" y="1463040"/>
            <a:ext cx="14093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Mobilise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" y="1764792"/>
            <a:ext cx="1409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0B1437"/>
                </a:solidFill>
                <a:latin typeface="Consolas"/>
              </a:rPr>
              <a:t>15 Apr – 15 May '26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" y="3703320"/>
            <a:ext cx="14093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Charter, RACI, squads</a:t>
            </a:r>
          </a:p>
        </p:txBody>
      </p:sp>
      <p:sp>
        <p:nvSpPr>
          <p:cNvPr id="13" name="Oval 12"/>
          <p:cNvSpPr/>
          <p:nvPr/>
        </p:nvSpPr>
        <p:spPr>
          <a:xfrm>
            <a:off x="2379154" y="3063239"/>
            <a:ext cx="384048" cy="384048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79154" y="306323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66519" y="1463040"/>
            <a:ext cx="14093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Discover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66519" y="1764792"/>
            <a:ext cx="1409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2F6BFF"/>
                </a:solidFill>
                <a:latin typeface="Consolas"/>
              </a:rPr>
              <a:t>15 May – 15 Jun '26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6519" y="3703320"/>
            <a:ext cx="14093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Functional spec + NFRs</a:t>
            </a:r>
          </a:p>
        </p:txBody>
      </p:sp>
      <p:sp>
        <p:nvSpPr>
          <p:cNvPr id="18" name="Oval 17"/>
          <p:cNvSpPr/>
          <p:nvPr/>
        </p:nvSpPr>
        <p:spPr>
          <a:xfrm>
            <a:off x="3788473" y="3063239"/>
            <a:ext cx="384048" cy="384048"/>
          </a:xfrm>
          <a:prstGeom prst="ellipse">
            <a:avLst/>
          </a:prstGeom>
          <a:solidFill>
            <a:srgbClr val="5A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88473" y="306323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5838" y="1463040"/>
            <a:ext cx="14093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5838" y="1764792"/>
            <a:ext cx="1409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5A8FFF"/>
                </a:solidFill>
                <a:latin typeface="Consolas"/>
              </a:rPr>
              <a:t>Jun – Aug '26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5838" y="3703320"/>
            <a:ext cx="14093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Data model · UX flows</a:t>
            </a:r>
          </a:p>
        </p:txBody>
      </p:sp>
      <p:sp>
        <p:nvSpPr>
          <p:cNvPr id="23" name="Oval 22"/>
          <p:cNvSpPr/>
          <p:nvPr/>
        </p:nvSpPr>
        <p:spPr>
          <a:xfrm>
            <a:off x="5197792" y="3063239"/>
            <a:ext cx="384048" cy="384048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97792" y="306323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5157" y="1463040"/>
            <a:ext cx="14093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5157" y="1764792"/>
            <a:ext cx="1409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19D3C5"/>
                </a:solidFill>
                <a:latin typeface="Consolas"/>
              </a:rPr>
              <a:t>Aug '26 – Jan '27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5157" y="3703320"/>
            <a:ext cx="14093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Core HRIS · Payroll · Admin</a:t>
            </a:r>
          </a:p>
        </p:txBody>
      </p:sp>
      <p:sp>
        <p:nvSpPr>
          <p:cNvPr id="28" name="Oval 27"/>
          <p:cNvSpPr/>
          <p:nvPr/>
        </p:nvSpPr>
        <p:spPr>
          <a:xfrm>
            <a:off x="6607111" y="3063239"/>
            <a:ext cx="384048" cy="384048"/>
          </a:xfrm>
          <a:prstGeom prst="ellipse">
            <a:avLst/>
          </a:prstGeom>
          <a:solidFill>
            <a:srgbClr val="80F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07111" y="306323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4476" y="1463040"/>
            <a:ext cx="14093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Integrate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4476" y="1764792"/>
            <a:ext cx="1409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80F2E6"/>
                </a:solidFill>
                <a:latin typeface="Consolas"/>
              </a:rPr>
              <a:t>Oct '26 – Feb '27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4476" y="3703320"/>
            <a:ext cx="14093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SIA · ETA · Banking · SSO</a:t>
            </a:r>
          </a:p>
        </p:txBody>
      </p:sp>
      <p:sp>
        <p:nvSpPr>
          <p:cNvPr id="33" name="Oval 32"/>
          <p:cNvSpPr/>
          <p:nvPr/>
        </p:nvSpPr>
        <p:spPr>
          <a:xfrm>
            <a:off x="8016430" y="3063239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16430" y="306323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03794" y="1463040"/>
            <a:ext cx="14093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UAT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03794" y="1764792"/>
            <a:ext cx="1409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59E0B"/>
                </a:solidFill>
                <a:latin typeface="Consolas"/>
              </a:rPr>
              <a:t>Jan – Feb '27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03794" y="3703320"/>
            <a:ext cx="14093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Payroll parallel run · user testing</a:t>
            </a:r>
          </a:p>
        </p:txBody>
      </p:sp>
      <p:sp>
        <p:nvSpPr>
          <p:cNvPr id="38" name="Oval 37"/>
          <p:cNvSpPr/>
          <p:nvPr/>
        </p:nvSpPr>
        <p:spPr>
          <a:xfrm>
            <a:off x="9425749" y="3063239"/>
            <a:ext cx="384048" cy="38404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25749" y="306323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3113" y="1463040"/>
            <a:ext cx="14093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Stabilise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3113" y="1764792"/>
            <a:ext cx="1409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BBF24"/>
                </a:solidFill>
                <a:latin typeface="Consolas"/>
              </a:rPr>
              <a:t>Feb – Mar '27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3113" y="3703320"/>
            <a:ext cx="14093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Performance · security · fixes</a:t>
            </a:r>
          </a:p>
        </p:txBody>
      </p:sp>
      <p:sp>
        <p:nvSpPr>
          <p:cNvPr id="43" name="Oval 42"/>
          <p:cNvSpPr/>
          <p:nvPr/>
        </p:nvSpPr>
        <p:spPr>
          <a:xfrm>
            <a:off x="10835068" y="3063239"/>
            <a:ext cx="384048" cy="38404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835068" y="306323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22432" y="1463040"/>
            <a:ext cx="14093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Go-live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22432" y="1764792"/>
            <a:ext cx="1409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22C55E"/>
                </a:solidFill>
                <a:latin typeface="Consolas"/>
              </a:rPr>
              <a:t>14 Mar 2027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22432" y="3703320"/>
            <a:ext cx="14093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Cut-over · hypercare · comms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1027092" y="2651760"/>
            <a:ext cx="0" cy="457200"/>
          </a:xfrm>
          <a:prstGeom prst="line">
            <a:avLst/>
          </a:prstGeom>
          <a:ln w="2794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57200" y="45720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PARALLEL WORKSTREAMS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4846320"/>
            <a:ext cx="1188720" cy="320040"/>
          </a:xfrm>
          <a:prstGeom prst="roundRect">
            <a:avLst>
              <a:gd name="adj" fmla="val 45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7200" y="48463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Functional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83080" y="489204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Squad-led build across M1, M3, M6, M10, M11 + shared M2/M4/M5/M7 backlog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43400" y="4846320"/>
            <a:ext cx="1188720" cy="320040"/>
          </a:xfrm>
          <a:prstGeom prst="roundRect">
            <a:avLst>
              <a:gd name="adj" fmla="val 4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343400" y="48463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0" y="489204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Data model · migration rehearsals (3) · historical pay + PII · cut-over dry-runs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29600" y="4846320"/>
            <a:ext cx="1188720" cy="320040"/>
          </a:xfrm>
          <a:prstGeom prst="roundRect">
            <a:avLst>
              <a:gd name="adj" fmla="val 45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229600" y="48463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Integrations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55480" y="489204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SIA API · ETA e-receipts · banking file formats · SSO (OIDC/SAML) · directory sync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5532120"/>
            <a:ext cx="1188720" cy="320040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57200" y="55321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83080" y="557784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RBAC · audit log · PDP Law DPIA · pen-test + remediation before UAT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343400" y="5532120"/>
            <a:ext cx="1188720" cy="320040"/>
          </a:xfrm>
          <a:prstGeom prst="roundRect">
            <a:avLst>
              <a:gd name="adj" fmla="val 4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343400" y="55321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Change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69280" y="557784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Comms cadence · multilingual training · champions network · ESS mobile roll-out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· Discovery Phase Sign-Off · PRX-DISC-SO-001 v1.2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11 · SUCCESS CRITERIA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How we'll measure Phase 1 — KPIs and thresholds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761488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2761488" cy="4572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289304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50">
                <a:solidFill>
                  <a:srgbClr val="FFFFFF"/>
                </a:solidFill>
                <a:latin typeface="Calibri"/>
              </a:rPr>
              <a:t>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On time, on scope, on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Go-live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77439"/>
            <a:ext cx="23957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6BFF"/>
                </a:solidFill>
                <a:latin typeface="Calibri"/>
              </a:rPr>
              <a:t>14 Mar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61487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99"/>
                </a:solidFill>
                <a:latin typeface="Calibri"/>
              </a:rPr>
              <a:t>No slip &gt; 2 weeks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73552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Scope completion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47872"/>
            <a:ext cx="23957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6BFF"/>
                </a:solidFill>
                <a:latin typeface="Calibri"/>
              </a:rPr>
              <a:t>100% of 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31920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99"/>
                </a:solidFill>
                <a:latin typeface="Calibri"/>
              </a:rPr>
              <a:t>All 12 NOW pillars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43984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Defect escape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18304"/>
            <a:ext cx="23957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6BFF"/>
                </a:solidFill>
                <a:latin typeface="Calibri"/>
              </a:rPr>
              <a:t>&lt; 2 P1 /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02352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99"/>
                </a:solidFill>
                <a:latin typeface="Calibri"/>
              </a:rPr>
              <a:t>After 30-day hypercare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1188720"/>
            <a:ext cx="2761488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337560" y="1188720"/>
            <a:ext cx="2761488" cy="45720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20440" y="1289304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50">
                <a:solidFill>
                  <a:srgbClr val="FFFFFF"/>
                </a:solidFill>
                <a:latin typeface="Calibri"/>
              </a:rPr>
              <a:t>ADOPTION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People actually use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2103120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ESS mobile activation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3957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D3C5"/>
                </a:solidFill>
                <a:latin typeface="Calibri"/>
              </a:rPr>
              <a:t>≥ 85%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2761487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99"/>
                </a:solidFill>
                <a:latin typeface="Calibri"/>
              </a:rPr>
              <a:t>Within 90 days post-go-live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273552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Manager self-service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3547872"/>
            <a:ext cx="23957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D3C5"/>
                </a:solidFill>
                <a:latin typeface="Calibri"/>
              </a:rPr>
              <a:t>≥ 75%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931920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99"/>
                </a:solidFill>
                <a:latin typeface="Calibri"/>
              </a:rPr>
              <a:t>Of requests via system, not email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4443984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Training completion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718304"/>
            <a:ext cx="23957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D3C5"/>
                </a:solidFill>
                <a:latin typeface="Calibri"/>
              </a:rPr>
              <a:t>≥ 95%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5102352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99"/>
                </a:solidFill>
                <a:latin typeface="Calibri"/>
              </a:rPr>
              <a:t>For core workflows, pre-go-live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1188720"/>
            <a:ext cx="2761488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17920" y="1188720"/>
            <a:ext cx="2761488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1289304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5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1737360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Numbers we stake our name 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103120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Payroll accuracy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2377439"/>
            <a:ext cx="23957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9E0B"/>
                </a:solidFill>
                <a:latin typeface="Calibri"/>
              </a:rPr>
              <a:t>≥ 99.9%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2761487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99"/>
                </a:solidFill>
                <a:latin typeface="Calibri"/>
              </a:rPr>
              <a:t>vs. parallel-run baseline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273552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Statutory filings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547872"/>
            <a:ext cx="23957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9E0B"/>
                </a:solidFill>
                <a:latin typeface="Calibri"/>
              </a:rPr>
              <a:t>0 late / month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3931920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99"/>
                </a:solidFill>
                <a:latin typeface="Calibri"/>
              </a:rPr>
              <a:t>SIA + ETA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443984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Data-migration error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718304"/>
            <a:ext cx="23957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9E0B"/>
                </a:solidFill>
                <a:latin typeface="Calibri"/>
              </a:rPr>
              <a:t>&lt; 0.5%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102352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99"/>
                </a:solidFill>
                <a:latin typeface="Calibri"/>
              </a:rPr>
              <a:t>Across 50k+ records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98280" y="1188720"/>
            <a:ext cx="2761488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098280" y="1188720"/>
            <a:ext cx="2761488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281159" y="1289304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50">
                <a:solidFill>
                  <a:srgbClr val="FFFFFF"/>
                </a:solidFill>
                <a:latin typeface="Calibri"/>
              </a:rPr>
              <a:t>BUSINESS VALUE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1159" y="1737360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Why we built 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59" y="2103120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Payroll cycle time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81159" y="2377439"/>
            <a:ext cx="23957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2C55E"/>
                </a:solidFill>
                <a:latin typeface="Calibri"/>
              </a:rPr>
              <a:t>6 d → 1 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59" y="2761487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99"/>
                </a:solidFill>
                <a:latin typeface="Calibri"/>
              </a:rPr>
              <a:t>Per entity, per month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81159" y="3273552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Onboarding time-to-ready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1159" y="3547872"/>
            <a:ext cx="23957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2C55E"/>
                </a:solidFill>
                <a:latin typeface="Calibri"/>
              </a:rPr>
              <a:t>15 d → 7 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81159" y="3931920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99"/>
                </a:solidFill>
                <a:latin typeface="Calibri"/>
              </a:rPr>
              <a:t>Offer-accept to day-1-ready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81159" y="4443984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HR cost-to-serve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81159" y="4718304"/>
            <a:ext cx="23957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2C55E"/>
                </a:solidFill>
                <a:latin typeface="Calibri"/>
              </a:rPr>
              <a:t>−20%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81159" y="5102352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99"/>
                </a:solidFill>
                <a:latin typeface="Calibri"/>
              </a:rPr>
              <a:t>Vs. FY2025 baseline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585216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A99"/>
                </a:solidFill>
                <a:latin typeface="Calibri"/>
              </a:rPr>
              <a:t>Baselines captured during Discovery · targets confirmed with exec sponsors · dashboards ship with M9 (Analytics).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· Discovery Phase Sign-Off · PRX-DISC-SO-001 v1.2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12 · WHAT DISCOVERY SURFACED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Programme risks &amp; external dependencies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539496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394960" cy="5029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30759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80F2E6"/>
                </a:solidFill>
                <a:latin typeface="Calibri"/>
              </a:rPr>
              <a:t>PROGRAMME 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13075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CFEDE9"/>
                </a:solidFill>
                <a:latin typeface="Consolas"/>
              </a:rPr>
              <a:t>LIKELIHOOD · IMPACT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011680"/>
            <a:ext cx="54864" cy="59435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19659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Scope aggression vs. team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21284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6 people delivering 13 modules in 11 months — velocity assumption must hold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214884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31920" y="21671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214884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6320" y="216712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" y="2697480"/>
            <a:ext cx="5376672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2788920"/>
            <a:ext cx="54864" cy="59435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27432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Data migration from legacy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299008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Excel + paper + WhatsApp → structured HRIS; 3 rehearsals scheduled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31920" y="292608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31920" y="294436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292608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0" y="294436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566160"/>
            <a:ext cx="54864" cy="59435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" y="35204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Payroll accuracy at cut-over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376732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2–3 parallel-run cycles vs. legacy before statutory sign-off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31920" y="370332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31920" y="372160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6320" y="370332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46320" y="372160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" y="4251960"/>
            <a:ext cx="5376672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66928" y="4343400"/>
            <a:ext cx="54864" cy="59435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3232" y="42976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Change management / adoption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454456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Field workers with no desktop; multilingual ESS + roadshow + training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931920" y="448056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931920" y="449884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46320" y="448056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46320" y="449884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5120640"/>
            <a:ext cx="54864" cy="594359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13232" y="5074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Key-person concentration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532180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Small team — illness or attrition in Core/Payroll squad delays P3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931920" y="525780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931920" y="5276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846320" y="525780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846320" y="5276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60" y="1234440"/>
            <a:ext cx="539496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309360" y="1234440"/>
            <a:ext cx="5394960" cy="502920"/>
          </a:xfrm>
          <a:prstGeom prst="rect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37960" y="130759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80F2E6"/>
                </a:solidFill>
                <a:latin typeface="Calibri"/>
              </a:rPr>
              <a:t>EXTERNAL DEPENDENCIES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0" y="13075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CFEDE9"/>
                </a:solidFill>
                <a:latin typeface="Consolas"/>
              </a:rPr>
              <a:t>OWNER · NEEDED BY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19088" y="2011680"/>
            <a:ext cx="54864" cy="594359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65392" y="196596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Social Insurance Authority API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65392" y="221284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Required for Payroll statutory filings (Form 2 / Form 6)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201168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150">
                <a:solidFill>
                  <a:srgbClr val="6B7A99"/>
                </a:solidFill>
                <a:latin typeface="Consolas"/>
              </a:rPr>
              <a:t>LEGAL · PAYROLL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225856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alibri"/>
              </a:rPr>
              <a:t>Q4 2026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18504" y="2697480"/>
            <a:ext cx="5376672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419088" y="2788920"/>
            <a:ext cx="54864" cy="594359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565392" y="27432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Egyptian Tax Authority filing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65392" y="299008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e-receipt &amp; withholding tax integration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01200" y="278892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150">
                <a:solidFill>
                  <a:srgbClr val="6B7A99"/>
                </a:solidFill>
                <a:latin typeface="Consolas"/>
              </a:rPr>
              <a:t>FINANCE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01200" y="303580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alibri"/>
              </a:rPr>
              <a:t>Q4 2026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19088" y="3566160"/>
            <a:ext cx="54864" cy="594359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565392" y="352044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Banking disbursement files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65392" y="376732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Partner bank(s) file-format sign-off for salary transfer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01200" y="356616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150">
                <a:solidFill>
                  <a:srgbClr val="6B7A99"/>
                </a:solidFill>
                <a:latin typeface="Consolas"/>
              </a:rPr>
              <a:t>FINANCE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01200" y="38130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alibri"/>
              </a:rPr>
              <a:t>Q1 2027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18504" y="4251960"/>
            <a:ext cx="5376672" cy="777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419088" y="4343400"/>
            <a:ext cx="54864" cy="594359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565392" y="42976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PDP Law 151/2020 DPIA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65392" y="454456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Data Protection Impact Assessment approval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01200" y="434340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150">
                <a:solidFill>
                  <a:srgbClr val="6B7A99"/>
                </a:solidFill>
                <a:latin typeface="Consolas"/>
              </a:rPr>
              <a:t>LEGAL · CISO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01200" y="459028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alibri"/>
              </a:rPr>
              <a:t>Q1 2027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19088" y="5120640"/>
            <a:ext cx="54864" cy="594359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565392" y="50749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External pen-test vendor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65392" y="532180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Pre-go-live security assessment + remediation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01200" y="512064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150">
                <a:solidFill>
                  <a:srgbClr val="6B7A99"/>
                </a:solidFill>
                <a:latin typeface="Consolas"/>
              </a:rPr>
              <a:t>CISO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01200" y="536752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alibri"/>
              </a:rPr>
              <a:t>Feb 2027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· Discovery Phase Sign-Off · PRX-DISC-SO-001 v1.2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13 · CHANGE &amp; ADOPTION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How we bring the organisation with 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761488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2761488" cy="9144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1463040"/>
            <a:ext cx="1371600" cy="329184"/>
          </a:xfrm>
          <a:prstGeom prst="roundRect">
            <a:avLst>
              <a:gd name="adj" fmla="val 45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80">
                <a:solidFill>
                  <a:srgbClr val="FFFFFF"/>
                </a:solidFill>
                <a:latin typeface="Calibri"/>
              </a:rPr>
              <a:t>COMMS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23957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B1437"/>
                </a:solidFill>
                <a:latin typeface="Calibri"/>
              </a:rPr>
              <a:t>Right message, right 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77440"/>
            <a:ext cx="239572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Exec cascade · all-hands moments at each gate · multilingual digest for field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188720"/>
            <a:ext cx="2761488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7560" y="1188720"/>
            <a:ext cx="2761488" cy="9144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520440" y="1463040"/>
            <a:ext cx="1371600" cy="329184"/>
          </a:xfrm>
          <a:prstGeom prst="roundRect">
            <a:avLst>
              <a:gd name="adj" fmla="val 45000"/>
            </a:avLst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0440" y="1463040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80">
                <a:solidFill>
                  <a:srgbClr val="FFFFFF"/>
                </a:solidFill>
                <a:latin typeface="Calibri"/>
              </a:rPr>
              <a:t>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1965960"/>
            <a:ext cx="23957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B1437"/>
                </a:solidFill>
                <a:latin typeface="Calibri"/>
              </a:rPr>
              <a:t>Role-based, just-in-time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377440"/>
            <a:ext cx="239572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Core roles certified pre-go-live · ESS micro-lessons on mobile · in-context tips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188720"/>
            <a:ext cx="2761488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1188720"/>
            <a:ext cx="276148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00800" y="1463040"/>
            <a:ext cx="1371600" cy="329184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1463040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80">
                <a:solidFill>
                  <a:srgbClr val="FFFFFF"/>
                </a:solidFill>
                <a:latin typeface="Calibri"/>
              </a:rPr>
              <a:t>CHAMPIONS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965960"/>
            <a:ext cx="23957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B1437"/>
                </a:solidFill>
                <a:latin typeface="Calibri"/>
              </a:rPr>
              <a:t>Peer advocates on the ground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377440"/>
            <a:ext cx="239572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1 champion per ~50 people · trained early · office hours + feedback loop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1188720"/>
            <a:ext cx="2761488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98280" y="1188720"/>
            <a:ext cx="2761488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281159" y="1463040"/>
            <a:ext cx="1371600" cy="329184"/>
          </a:xfrm>
          <a:prstGeom prst="roundRect">
            <a:avLst>
              <a:gd name="adj" fmla="val 4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81159" y="1463040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80">
                <a:solidFill>
                  <a:srgbClr val="FFFFFF"/>
                </a:solidFill>
                <a:latin typeface="Calibri"/>
              </a:rPr>
              <a:t>FEEDBACK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59" y="1965960"/>
            <a:ext cx="23957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B1437"/>
                </a:solidFill>
                <a:latin typeface="Calibri"/>
              </a:rPr>
              <a:t>Listen, measure, adjust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59" y="2377440"/>
            <a:ext cx="239572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Pulse surveys per gate · adoption dashboard · retros into backlog every fortnight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5661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ROLLOUT WAVES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40480"/>
            <a:ext cx="11247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3840480"/>
            <a:ext cx="91440" cy="4572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388620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Wave 1 · Sponsors + HR ops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388620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F6BFF"/>
                </a:solidFill>
                <a:latin typeface="Consolas"/>
              </a:rPr>
              <a:t>May – Aug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88620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Exec briefings · HR Ops co-build · champions recruited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352544"/>
            <a:ext cx="11247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7200" y="4352544"/>
            <a:ext cx="91440" cy="45720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5800" y="4398264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Wave 2 · Pilot entity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4398264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9D3C5"/>
                </a:solidFill>
                <a:latin typeface="Consolas"/>
              </a:rPr>
              <a:t>Sep – Dec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398264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One entity end-to-end · parallel run · feedback loops tight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864608"/>
            <a:ext cx="11247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57200" y="4864608"/>
            <a:ext cx="91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5800" y="4910328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Wave 3 · All managers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0" y="4910328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59E0B"/>
                </a:solidFill>
                <a:latin typeface="Consolas"/>
              </a:rPr>
              <a:t>Jan – Feb 2027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491032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Manager self-service certified · approval cutover · comms burst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376672"/>
            <a:ext cx="11247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57200" y="5376672"/>
            <a:ext cx="9144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85800" y="542239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1437"/>
                </a:solidFill>
                <a:latin typeface="Calibri"/>
              </a:rPr>
              <a:t>Wave 4 · All employees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46320" y="5422392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2C55E"/>
                </a:solidFill>
                <a:latin typeface="Consolas"/>
              </a:rPr>
              <a:t>Mar – Jun 2027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5422392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ESS mobile · Arabic-first · site roadshow · champion office hours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943600"/>
            <a:ext cx="11247120" cy="457200"/>
          </a:xfrm>
          <a:prstGeom prst="roundRect">
            <a:avLst>
              <a:gd name="adj" fmla="val 30000"/>
            </a:avLst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31520" y="598932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80F2E6"/>
                </a:solidFill>
                <a:latin typeface="Calibri"/>
              </a:rPr>
              <a:t>Mobile-first · Arabic + English · low-literacy friendly · offline-tolerant — no one gets left behind.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· Discovery Phase Sign-Off · PRX-DISC-SO-001 v1.2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1E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64592" cy="329184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1551626" y="640080"/>
            <a:ext cx="0" cy="4572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1155680" y="1097280"/>
            <a:ext cx="395946" cy="2286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10759733" y="1097280"/>
            <a:ext cx="395947" cy="2286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59733" y="640080"/>
            <a:ext cx="0" cy="4572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759733" y="411479"/>
            <a:ext cx="395947" cy="228601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155680" y="411479"/>
            <a:ext cx="395946" cy="228601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1100815" y="813815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V="1">
            <a:off x="11155680" y="640080"/>
            <a:ext cx="395946" cy="228600"/>
          </a:xfrm>
          <a:prstGeom prst="line">
            <a:avLst/>
          </a:prstGeom>
          <a:ln w="7620">
            <a:solidFill>
              <a:srgbClr val="809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1469330" y="557784"/>
            <a:ext cx="164592" cy="16459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11155680" y="868680"/>
            <a:ext cx="0" cy="457200"/>
          </a:xfrm>
          <a:prstGeom prst="line">
            <a:avLst/>
          </a:prstGeom>
          <a:ln w="7620">
            <a:solidFill>
              <a:srgbClr val="809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1077955" y="1248156"/>
            <a:ext cx="155448" cy="155448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10759733" y="640080"/>
            <a:ext cx="395947" cy="228600"/>
          </a:xfrm>
          <a:prstGeom prst="line">
            <a:avLst/>
          </a:prstGeom>
          <a:ln w="7620">
            <a:solidFill>
              <a:srgbClr val="809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0695725" y="576071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 flipV="1">
            <a:off x="11155680" y="411479"/>
            <a:ext cx="0" cy="457201"/>
          </a:xfrm>
          <a:prstGeom prst="line">
            <a:avLst/>
          </a:prstGeom>
          <a:ln w="7620">
            <a:solidFill>
              <a:srgbClr val="8092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1100815" y="356615"/>
            <a:ext cx="109728" cy="109728"/>
          </a:xfrm>
          <a:prstGeom prst="ellipse">
            <a:avLst/>
          </a:prstGeom>
          <a:solidFill>
            <a:srgbClr val="5A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822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80F2E6"/>
                </a:solidFill>
                <a:latin typeface="Calibri"/>
              </a:rPr>
              <a:t>14 · DECISION &amp; NEXT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109728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We're asking the board to</a:t>
            </a:r>
          </a:p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sign off discovery.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017520"/>
            <a:ext cx="521208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3291839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2F6BFF"/>
                </a:solidFill>
                <a:latin typeface="Calibri"/>
              </a:rPr>
              <a:t>WHAT WE'RE ASKING FOR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520439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B1437"/>
                </a:solidFill>
                <a:latin typeface="Calibri"/>
              </a:rPr>
              <a:t>Approvals</a:t>
            </a:r>
          </a:p>
        </p:txBody>
      </p:sp>
      <p:sp>
        <p:nvSpPr>
          <p:cNvPr id="25" name="Oval 24"/>
          <p:cNvSpPr/>
          <p:nvPr/>
        </p:nvSpPr>
        <p:spPr>
          <a:xfrm>
            <a:off x="1097280" y="4206240"/>
            <a:ext cx="182880" cy="18288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17320" y="41148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Endorse discovery outputs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38912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13 BRDs · user stories · workflows · roadmap as the basis for Phase 1</a:t>
            </a:r>
          </a:p>
        </p:txBody>
      </p:sp>
      <p:sp>
        <p:nvSpPr>
          <p:cNvPr id="28" name="Oval 27"/>
          <p:cNvSpPr/>
          <p:nvPr/>
        </p:nvSpPr>
        <p:spPr>
          <a:xfrm>
            <a:off x="1097280" y="4864607"/>
            <a:ext cx="182880" cy="18288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417320" y="477316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Green-light Phase 1 mobilisation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047488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Kick-off 15 May 2026 · go-live target 14 March 2027 fixed</a:t>
            </a:r>
          </a:p>
        </p:txBody>
      </p:sp>
      <p:sp>
        <p:nvSpPr>
          <p:cNvPr id="31" name="Oval 30"/>
          <p:cNvSpPr/>
          <p:nvPr/>
        </p:nvSpPr>
        <p:spPr>
          <a:xfrm>
            <a:off x="1097280" y="5522975"/>
            <a:ext cx="182880" cy="18288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417320" y="543153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Ring-fence team + external asks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705855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Core squad of 6 · Legal / Finance alignment by Q4 2026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017520"/>
            <a:ext cx="521208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66560" y="3291839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2F6BFF"/>
                </a:solidFill>
                <a:latin typeface="Calibri"/>
              </a:rPr>
              <a:t>WHAT HAPPENS NEXT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3520439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B1437"/>
                </a:solidFill>
                <a:latin typeface="Calibri"/>
              </a:rPr>
              <a:t>Next 60 days</a:t>
            </a:r>
          </a:p>
        </p:txBody>
      </p:sp>
      <p:sp>
        <p:nvSpPr>
          <p:cNvPr id="37" name="Oval 36"/>
          <p:cNvSpPr/>
          <p:nvPr/>
        </p:nvSpPr>
        <p:spPr>
          <a:xfrm>
            <a:off x="6766560" y="4206240"/>
            <a:ext cx="182880" cy="18288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086600" y="41148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P0 Mobilise  ·  15 Apr – 15 May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38912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Charter, RACI, governance signed; squads formed</a:t>
            </a:r>
          </a:p>
        </p:txBody>
      </p:sp>
      <p:sp>
        <p:nvSpPr>
          <p:cNvPr id="40" name="Oval 39"/>
          <p:cNvSpPr/>
          <p:nvPr/>
        </p:nvSpPr>
        <p:spPr>
          <a:xfrm>
            <a:off x="6766560" y="4864607"/>
            <a:ext cx="182880" cy="18288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086600" y="477316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P1 Discover kick-off  ·  15 May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5047488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Functional spec + data model + NFRs begin</a:t>
            </a:r>
          </a:p>
        </p:txBody>
      </p:sp>
      <p:sp>
        <p:nvSpPr>
          <p:cNvPr id="43" name="Oval 42"/>
          <p:cNvSpPr/>
          <p:nvPr/>
        </p:nvSpPr>
        <p:spPr>
          <a:xfrm>
            <a:off x="6766560" y="5522975"/>
            <a:ext cx="182880" cy="18288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86600" y="543153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1437"/>
                </a:solidFill>
                <a:latin typeface="Calibri"/>
              </a:rPr>
              <a:t>Steerco rhythm  ·  from 30 Apr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5705855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Monthly steerco + weekly exec summary; first report 30 Apr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0F2E6"/>
                </a:solidFill>
                <a:latin typeface="Consolas"/>
              </a:rPr>
              <a:t>PRX-DISC-SO-001  ·  v1.2  ·  Owner: Project Director — Praxion HROS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0F2E6"/>
                </a:solidFill>
                <a:latin typeface="Consolas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12700">
            <a:solidFill>
              <a:srgbClr val="E8EC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2860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40">
                <a:solidFill>
                  <a:srgbClr val="2F6BFF"/>
                </a:solidFill>
                <a:latin typeface="Calibri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1437"/>
                </a:solidFill>
                <a:latin typeface="Calibri"/>
              </a:rPr>
              <a:t>Artefact index — where to find it 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761488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2761488" cy="4572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289304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50">
                <a:solidFill>
                  <a:srgbClr val="FFFFFF"/>
                </a:solidFill>
                <a:latin typeface="Calibri"/>
              </a:rPr>
              <a:t>BRDs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M1  · Core HRIS  (v2)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30552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M2  · Recruitment / 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32304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M3  · Onboarding / 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34056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M4  · Performance / KPIs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35808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M5  · Training / LMS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37560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M6  · Payroll &amp; Comp  (v3)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39312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M7  · Benefits &amp; Expenses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41064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M8  · Contractor Mgmt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42816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M9  ·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44568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M10 · System 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846320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M11 · Mobile App (ESS)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148072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M12 · Client Portal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449824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M13 · Billing &amp; Invoicing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1188720"/>
            <a:ext cx="2761488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337560" y="1188720"/>
            <a:ext cx="2761488" cy="45720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20440" y="1289304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50">
                <a:solidFill>
                  <a:srgbClr val="FFFFFF"/>
                </a:solidFill>
                <a:latin typeface="Calibri"/>
              </a:rPr>
              <a:t>USER STORIES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1828800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M1 · 18 stories · signed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2130552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M2 · 12 stories · signed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2432304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M3 · 10 stories · signed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2734056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M4 · 8 stories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3035808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M5 · 7 stories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3337560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M6 · 14 stories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639312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M7 · 6 stories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3941064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M8 · 5 stories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4242816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M9 · 6 stories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4544568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M10 · 9 stories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846320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M11 · 11 stories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148072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M12 · draft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5449824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M13 · draft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1188720"/>
            <a:ext cx="2761488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217920" y="1188720"/>
            <a:ext cx="2761488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0" y="1289304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50">
                <a:solidFill>
                  <a:srgbClr val="FFFFFF"/>
                </a:solidFill>
                <a:latin typeface="Calibri"/>
              </a:rPr>
              <a:t>PROCESS &amp;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1828800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Org chart + RACI seed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130552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JML workflow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2432304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Payroll cycle map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2734056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Onboarding journey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3035808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Leave + absence flow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337560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Performance cycle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3639312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Expenses &amp; approvals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3941064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Offboarding checklist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4242816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Audit / compliance map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544568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Integration register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4846320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Data model v0.5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148072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NFR register v1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46520" y="5449824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Glossary + acronyms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098280" y="1188720"/>
            <a:ext cx="2761488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9098280" y="1188720"/>
            <a:ext cx="2761488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281159" y="1289304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50">
                <a:solidFill>
                  <a:srgbClr val="FFFFFF"/>
                </a:solidFill>
                <a:latin typeface="Calibri"/>
              </a:rPr>
              <a:t>BRAND &amp; EXEC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0" y="1828800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Brand Guidelines v2.0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6880" y="2130552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Logo package v2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26880" y="2432304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Presentation style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26880" y="2734056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Iconography + colours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26880" y="3035808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Typography tokens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26880" y="3337560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Voice + tone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26880" y="3639312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Executive roadmap v1.0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26880" y="3941064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Discovery sign-off (this)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26880" y="4242816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Doc ID register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26880" y="4544568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Version &amp; owner log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26880" y="4846320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Risk + issue log v1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26880" y="5148072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Steerco pack template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26880" y="5449824"/>
            <a:ext cx="2350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• Status report template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A99"/>
                </a:solidFill>
                <a:latin typeface="Calibri"/>
              </a:rPr>
              <a:t>All artefacts live under /Praxion-HROS/ with dual-location mirrors under /Modules/M1–M13/{BRDs, User-Stories, Workflows}/.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PRAXION HROS · Discovery Phase Sign-Off · PRX-DISC-SO-001 v1.2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7A99"/>
                </a:solidFill>
                <a:latin typeface="Consolas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2918</Words>
  <Application>Microsoft Macintosh PowerPoint</Application>
  <PresentationFormat>Widescreen</PresentationFormat>
  <Paragraphs>578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Mohamed Sabry</cp:lastModifiedBy>
  <cp:revision>2</cp:revision>
  <dcterms:created xsi:type="dcterms:W3CDTF">2013-01-27T09:14:16Z</dcterms:created>
  <dcterms:modified xsi:type="dcterms:W3CDTF">2026-04-20T19:45:02Z</dcterms:modified>
  <cp:category/>
</cp:coreProperties>
</file>